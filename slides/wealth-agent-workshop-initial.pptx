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a28b099f2147ab" /><Relationship Type="http://schemas.openxmlformats.org/officeDocument/2006/relationships/extended-properties" Target="/docProps/app.xml" Id="R2c015f210cde4acf" /><Relationship Type="http://schemas.openxmlformats.org/officeDocument/2006/relationships/officeDocument" Target="/ppt/presentation.xml" Id="R2e7f67351b724c12" /></Relationships>
</file>

<file path=ppt/presentation.xml><?xml version="1.0" encoding="utf-8"?>
<p:presentation xmlns:p="http://schemas.openxmlformats.org/presentationml/2006/main">
  <p:sldMasterIdLst>
    <p:sldMasterId xmlns:r="http://schemas.openxmlformats.org/officeDocument/2006/relationships" id="2147483648" r:id="R99ab61e567c840cd"/>
  </p:sldMasterIdLst>
  <p:notesMasterIdLst>
    <p:notesMasterId xmlns:r="http://schemas.openxmlformats.org/officeDocument/2006/relationships" r:id="Ra76f1965bc424173"/>
  </p:notesMasterIdLst>
  <p:sldIdLst>
    <p:sldId xmlns:r="http://schemas.openxmlformats.org/officeDocument/2006/relationships" id="256" r:id="R78abb427a6ad4db6"/>
    <p:sldId xmlns:r="http://schemas.openxmlformats.org/officeDocument/2006/relationships" id="257" r:id="Rd0018d0a7ef34608"/>
    <p:sldId xmlns:r="http://schemas.openxmlformats.org/officeDocument/2006/relationships" id="258" r:id="Raea6c0a5a2774864"/>
    <p:sldId xmlns:r="http://schemas.openxmlformats.org/officeDocument/2006/relationships" id="259" r:id="Re30b5fbe302e41ae"/>
    <p:sldId xmlns:r="http://schemas.openxmlformats.org/officeDocument/2006/relationships" id="260" r:id="R244d6e8046a64302"/>
    <p:sldId xmlns:r="http://schemas.openxmlformats.org/officeDocument/2006/relationships" id="261" r:id="R1ddbe7bfbad84db2"/>
    <p:sldId xmlns:r="http://schemas.openxmlformats.org/officeDocument/2006/relationships" id="262" r:id="R48077d3fb4824d24"/>
    <p:sldId xmlns:r="http://schemas.openxmlformats.org/officeDocument/2006/relationships" id="263" r:id="Rcab084cb47284e32"/>
    <p:sldId xmlns:r="http://schemas.openxmlformats.org/officeDocument/2006/relationships" id="264" r:id="R3dc393fc05494ae8"/>
    <p:sldId xmlns:r="http://schemas.openxmlformats.org/officeDocument/2006/relationships" id="265" r:id="Rdfe01415a8044aea"/>
    <p:sldId xmlns:r="http://schemas.openxmlformats.org/officeDocument/2006/relationships" id="266" r:id="R04d334b36ed546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3e8763a8b4473e" /><Relationship Type="http://schemas.openxmlformats.org/officeDocument/2006/relationships/slideMaster" Target="/ppt/slideMasters/slideMaster1.xml" Id="R99ab61e567c840cd" /><Relationship Type="http://schemas.openxmlformats.org/officeDocument/2006/relationships/notesMaster" Target="/ppt/notesMasters/notesMaster1.xml" Id="Ra76f1965bc424173" /><Relationship Type="http://schemas.openxmlformats.org/officeDocument/2006/relationships/presProps" Target="/ppt/presProps.xml" Id="R786a04bbd98e4465" /><Relationship Type="http://schemas.openxmlformats.org/officeDocument/2006/relationships/tableStyles" Target="/ppt/tableStyles.xml" Id="R56cbbbaa26e7420e" /><Relationship Type="http://schemas.openxmlformats.org/officeDocument/2006/relationships/slide" Target="/ppt/slides/slide1.xml" Id="R78abb427a6ad4db6" /><Relationship Type="http://schemas.openxmlformats.org/officeDocument/2006/relationships/slide" Target="/ppt/slides/slide2.xml" Id="Rd0018d0a7ef34608" /><Relationship Type="http://schemas.openxmlformats.org/officeDocument/2006/relationships/slide" Target="/ppt/slides/slide3.xml" Id="Raea6c0a5a2774864" /><Relationship Type="http://schemas.openxmlformats.org/officeDocument/2006/relationships/slide" Target="/ppt/slides/slide4.xml" Id="Re30b5fbe302e41ae" /><Relationship Type="http://schemas.openxmlformats.org/officeDocument/2006/relationships/slide" Target="/ppt/slides/slide5.xml" Id="R244d6e8046a64302" /><Relationship Type="http://schemas.openxmlformats.org/officeDocument/2006/relationships/slide" Target="/ppt/slides/slide6.xml" Id="R1ddbe7bfbad84db2" /><Relationship Type="http://schemas.openxmlformats.org/officeDocument/2006/relationships/slide" Target="/ppt/slides/slide7.xml" Id="R48077d3fb4824d24" /><Relationship Type="http://schemas.openxmlformats.org/officeDocument/2006/relationships/slide" Target="/ppt/slides/slide8.xml" Id="Rcab084cb47284e32" /><Relationship Type="http://schemas.openxmlformats.org/officeDocument/2006/relationships/slide" Target="/ppt/slides/slide9.xml" Id="R3dc393fc05494ae8" /><Relationship Type="http://schemas.openxmlformats.org/officeDocument/2006/relationships/slide" Target="/ppt/slides/slide10.xml" Id="Rdfe01415a8044aea" /><Relationship Type="http://schemas.openxmlformats.org/officeDocument/2006/relationships/slide" Target="/ppt/slides/slide11.xml" Id="R04d334b36ed546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ec3082eea4f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Calibri Light"/>
        <a:ea typeface="Calibri Light"/>
        <a:cs typeface="Calibri Light"/>
      </a:majorFont>
      <a:minorFont>
        <a:latin typeface="Calibri"/>
        <a:ea typeface="Calibri"/>
        <a:cs typeface="Calibri"/>
      </a:minorFont>
    </a:fontScheme>
    <a:fmtScheme name="Trust but Verif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3989387c714f4e" /><Relationship Type="http://schemas.openxmlformats.org/officeDocument/2006/relationships/notesMaster" Target="/ppt/notesMasters/notesMaster1.xml" Id="Rd8e050ad158c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3678c607574a89" /><Relationship Type="http://schemas.openxmlformats.org/officeDocument/2006/relationships/notesMaster" Target="/ppt/notesMasters/notesMaster1.xml" Id="R3e5e377abeab49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a96b5f87954bba" /><Relationship Type="http://schemas.openxmlformats.org/officeDocument/2006/relationships/notesMaster" Target="/ppt/notesMasters/notesMaster1.xml" Id="Ra705a0d3b76946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478240036a4a0d" /><Relationship Type="http://schemas.openxmlformats.org/officeDocument/2006/relationships/notesMaster" Target="/ppt/notesMasters/notesMaster1.xml" Id="R68844ab5a5a745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feeed4dc2b47cc" /><Relationship Type="http://schemas.openxmlformats.org/officeDocument/2006/relationships/notesMaster" Target="/ppt/notesMasters/notesMaster1.xml" Id="Ra61e94ceb92542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8668a4ba44860" /><Relationship Type="http://schemas.openxmlformats.org/officeDocument/2006/relationships/notesMaster" Target="/ppt/notesMasters/notesMaster1.xml" Id="R5e9aaef98dd544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15ae0a4a704850" /><Relationship Type="http://schemas.openxmlformats.org/officeDocument/2006/relationships/notesMaster" Target="/ppt/notesMasters/notesMaster1.xml" Id="Raf2db059199c46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58e3bf3b842ae" /><Relationship Type="http://schemas.openxmlformats.org/officeDocument/2006/relationships/notesMaster" Target="/ppt/notesMasters/notesMaster1.xml" Id="Rc1ebd86edc0f43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90a5be6c754e72" /><Relationship Type="http://schemas.openxmlformats.org/officeDocument/2006/relationships/notesMaster" Target="/ppt/notesMasters/notesMaster1.xml" Id="Raa42e75690d64a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009370b09a4bff" /><Relationship Type="http://schemas.openxmlformats.org/officeDocument/2006/relationships/notesMaster" Target="/ppt/notesMasters/notesMaster1.xml" Id="R2c6c8fa2093646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2f3a417ead4e44" /><Relationship Type="http://schemas.openxmlformats.org/officeDocument/2006/relationships/notesMaster" Target="/ppt/notesMasters/notesMaster1.xml" Id="Rb3997251396644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Open with the customer context: the audience is a platform or AI engineering team in a regulated company. They already know what a tool-calling agent is; no LangChain experience is required.</a:t>
            </a:r>
          </a:p>
          <a:p xmlns:a="http://schemas.openxmlformats.org/drawingml/2006/main">
            <a:r>
              <a:t/>
            </a:r>
          </a:p>
          <a:p xmlns:a="http://schemas.openxmlformats.org/drawingml/2006/main">
            <a:r>
              <a:t>Position the session as the bridge from “the agent works” to “we can defend the agent’s output.”</a:t>
            </a:r>
          </a:p>
          <a:p xmlns:a="http://schemas.openxmlformats.org/drawingml/2006/main">
            <a:r>
              <a:t/>
            </a:r>
          </a:p>
          <a:p xmlns:a="http://schemas.openxmlformats.org/drawingml/2006/main">
            <a:r>
              <a:t>[Sources]</a:t>
            </a:r>
          </a:p>
          <a:p xmlns:a="http://schemas.openxmlformats.org/drawingml/2006/main">
            <a:r>
              <a:t>- /Users/anatarajan9/dev/wealth-deep-agent/WORKSHOP_BRIEF.md</a:t>
            </a:r>
          </a:p>
          <a:p xmlns:a="http://schemas.openxmlformats.org/drawingml/2006/main">
            <a:r>
              <a:t>- /Users/anatarajan9/Downloads/Customer Engineer Take-Home Assignment 9c65946e550e8367ade181b89945582f.md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including the opening question.</a:t>
            </a:r>
          </a:p>
          <a:p xmlns:a="http://schemas.openxmlformats.org/drawingml/2006/main">
            <a:r>
              <a:t/>
            </a:r>
          </a:p>
          <a:p xmlns:a="http://schemas.openxmlformats.org/drawingml/2006/main">
            <a:r>
              <a:t>Ask the panel to play the customer team: “Compliance signs off Monday. What would you need before you say yes?” Take answers before revealing the three questions.</a:t>
            </a:r>
          </a:p>
          <a:p xmlns:a="http://schemas.openxmlformats.org/drawingml/2006/main">
            <a:r>
              <a:t/>
            </a:r>
          </a:p>
          <a:p xmlns:a="http://schemas.openxmlformats.org/drawingml/2006/main">
            <a:r>
              <a:t>Learning objectives to state aloud: locate a failure in a trace; design claims to be mechanically checkable; choose deterministic vs LLM evaluators; measure a judge before trusting it; turn a score into a gate.</a:t>
            </a:r>
          </a:p>
          <a:p xmlns:a="http://schemas.openxmlformats.org/drawingml/2006/main">
            <a:r>
              <a:t/>
            </a:r>
          </a:p>
          <a:p xmlns:a="http://schemas.openxmlformats.org/drawingml/2006/main">
            <a:r>
              <a:t>[Sources]</a:t>
            </a:r>
          </a:p>
          <a:p xmlns:a="http://schemas.openxmlformats.org/drawingml/2006/main">
            <a:r>
              <a:t>- /Users/anatarajan9/dev/wealth-deep-agent/WORKSHOP_BRIEF.md</a:t>
            </a:r>
          </a:p>
          <a:p xmlns:a="http://schemas.openxmlformats.org/drawingml/2006/main">
            <a:r>
              <a:t>- /Users/anatarajan9/dev/wealth-deep-agent/README.md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Explain the taxonomy in customer language. LangChain supplies reusable agent abstractions. LangGraph is the lower-level runtime. Deep Agents is the batteries-included harness for complex work. LangSmith closes the build–observe–evaluate loop.</a:t>
            </a:r>
          </a:p>
          <a:p xmlns:a="http://schemas.openxmlformats.org/drawingml/2006/main">
            <a:r>
              <a:t/>
            </a:r>
          </a:p>
          <a:p xmlns:a="http://schemas.openxmlformats.org/drawingml/2006/main">
            <a:r>
              <a:t>Senior-engineer judgment: do not start with the most capable layer. Start with the simplest architecture that satisfies the task, then add autonomy only where uncertainty requires it.</a:t>
            </a:r>
          </a:p>
          <a:p xmlns:a="http://schemas.openxmlformats.org/drawingml/2006/main">
            <a:r>
              <a:t/>
            </a:r>
          </a:p>
          <a:p xmlns:a="http://schemas.openxmlformats.org/drawingml/2006/main">
            <a:r>
              <a:t>[Sources]</a:t>
            </a:r>
          </a:p>
          <a:p xmlns:a="http://schemas.openxmlformats.org/drawingml/2006/main">
            <a:r>
              <a:t>- https://docs.langchain.com/oss/python/concepts/products</a:t>
            </a:r>
          </a:p>
          <a:p xmlns:a="http://schemas.openxmlformats.org/drawingml/2006/main">
            <a:r>
              <a:t>- https://docs.langchain.com/oss/python/deepagents/overview</a:t>
            </a:r>
          </a:p>
          <a:p xmlns:a="http://schemas.openxmlformats.org/drawingml/2006/main">
            <a:r>
              <a:t>- https://docs.langchain.com/oss/python/langgraph/overview</a:t>
            </a:r>
          </a:p>
          <a:p xmlns:a="http://schemas.openxmlformats.org/drawingml/2006/main">
            <a:r>
              <a:t>- /Users/anatarajan9/dev/wealth-deep-agent/src/wealth_agent/agents/supervisor.py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then open src/wealth_agent/agents/ in the editor.</a:t>
            </a:r>
          </a:p>
          <a:p xmlns:a="http://schemas.openxmlformats.org/drawingml/2006/main">
            <a:r>
              <a:t/>
            </a:r>
          </a:p>
          <a:p xmlns:a="http://schemas.openxmlformats.org/drawingml/2006/main">
            <a:r>
              <a:t>Walk left to right. The portfolio, spend, and market tasks are open-ended and context-heavy, so they get the deep-agent harness. The allocation strategist and verifier are bounded and have one correct output shape, so they use plain create_agent loops.</a:t>
            </a:r>
          </a:p>
          <a:p xmlns:a="http://schemas.openxmlformats.org/drawingml/2006/main">
            <a:r>
              <a:t/>
            </a:r>
          </a:p>
          <a:p xmlns:a="http://schemas.openxmlformats.org/drawingml/2006/main">
            <a:r>
              <a:t>The allocation strategist is intentionally shown as shallow: its arithmetic comes from deterministic tools; the model contributes judgment about which drift matters and returns a validated RecommendationSet.</a:t>
            </a:r>
          </a:p>
          <a:p xmlns:a="http://schemas.openxmlformats.org/drawingml/2006/main">
            <a:r>
              <a:t/>
            </a:r>
          </a:p>
          <a:p xmlns:a="http://schemas.openxmlformats.org/drawingml/2006/main">
            <a:r>
              <a:t>[Sources]</a:t>
            </a:r>
          </a:p>
          <a:p xmlns:a="http://schemas.openxmlformats.org/drawingml/2006/main">
            <a:r>
              <a:t>- /Users/anatarajan9/dev/wealth-deep-agent/src/wealth_agent/agents/supervisor.py</a:t>
            </a:r>
          </a:p>
          <a:p xmlns:a="http://schemas.openxmlformats.org/drawingml/2006/main">
            <a:r>
              <a:t>- /Users/anatarajan9/dev/wealth-deep-agent/src/wealth_agent/agents/registry.py</a:t>
            </a:r>
          </a:p>
          <a:p xmlns:a="http://schemas.openxmlformats.org/drawingml/2006/main">
            <a:r>
              <a:t>- /Users/anatarajan9/dev/wealth-deep-agent/src/wealth_agent/agents/allocation_strategist.py</a:t>
            </a:r>
          </a:p>
          <a:p xmlns:a="http://schemas.openxmlformats.org/drawingml/2006/main">
            <a:r>
              <a:t>- /Users/anatarajan9/dev/wealth-deep-agent/src/wealth_agent/agents/verifier.py</a:t>
            </a:r>
          </a:p>
          <a:p xmlns:a="http://schemas.openxmlformats.org/drawingml/2006/main">
            <a:r>
              <a:t>- https://docs.langchain.com/oss/python/deepagents/overview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This slide is the architecture thesis. Any figure that reaches the memo comes from a function, not from the model. The model decides which evidence matters and how to explain it.</a:t>
            </a:r>
          </a:p>
          <a:p xmlns:a="http://schemas.openxmlformats.org/drawingml/2006/main">
            <a:r>
              <a:t/>
            </a:r>
          </a:p>
          <a:p xmlns:a="http://schemas.openxmlformats.org/drawingml/2006/main">
            <a:r>
              <a:t>Point out that deterministic does not mean “no AI.” It means the invariant has one answer, so ordinary software is the correct enforcement mechanism.</a:t>
            </a:r>
          </a:p>
          <a:p xmlns:a="http://schemas.openxmlformats.org/drawingml/2006/main">
            <a:r>
              <a:t/>
            </a:r>
          </a:p>
          <a:p xmlns:a="http://schemas.openxmlformats.org/drawingml/2006/main">
            <a:r>
              <a:t>[Sources]</a:t>
            </a:r>
          </a:p>
          <a:p xmlns:a="http://schemas.openxmlformats.org/drawingml/2006/main">
            <a:r>
              <a:t>- /Users/anatarajan9/dev/wealth-deep-agent/AGENTS.md</a:t>
            </a:r>
          </a:p>
          <a:p xmlns:a="http://schemas.openxmlformats.org/drawingml/2006/main">
            <a:r>
              <a:t>- /Users/anatarajan9/dev/wealth-deep-agent/src/wealth_agent/agents/allocation_strategist.py</a:t>
            </a:r>
          </a:p>
          <a:p xmlns:a="http://schemas.openxmlformats.org/drawingml/2006/main">
            <a:r>
              <a:t>- /Users/anatarajan9/dev/wealth-deep-agent/src/wealth_agent/tools/allocation.py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 mostly live demo.</a:t>
            </a:r>
          </a:p>
          <a:p xmlns:a="http://schemas.openxmlformats.org/drawingml/2006/main">
            <a:r>
              <a:t/>
            </a:r>
          </a:p>
          <a:p xmlns:a="http://schemas.openxmlformats.org/drawingml/2006/main">
            <a:r>
              <a:t>Commands:</a:t>
            </a:r>
          </a:p>
          <a:p xmlns:a="http://schemas.openxmlformats.org/drawingml/2006/main">
            <a:r>
              <a:t>1. uv run wealth report --artifact naive</a:t>
            </a:r>
          </a:p>
          <a:p xmlns:a="http://schemas.openxmlformats.org/drawingml/2006/main">
            <a:r>
              <a:t>2. uv run wealth report --artifact recommended</a:t>
            </a:r>
          </a:p>
          <a:p xmlns:a="http://schemas.openxmlformats.org/drawingml/2006/main">
            <a:r>
              <a:t>3. uv run wealth compare</a:t>
            </a:r>
          </a:p>
          <a:p xmlns:a="http://schemas.openxmlformats.org/drawingml/2006/main">
            <a:r>
              <a:t/>
            </a:r>
          </a:p>
          <a:p xmlns:a="http://schemas.openxmlformats.org/drawingml/2006/main">
            <a:r>
              <a:t>If the current checkout lacks frozen memo artifacts, use the checked-in HTML workshop page as the visual backup and state clearly that the deck is an initial version. Before the interview, refresh artifacts/runs/ and rehearse the click-through.</a:t>
            </a:r>
          </a:p>
          <a:p xmlns:a="http://schemas.openxmlformats.org/drawingml/2006/main">
            <a:r>
              <a:t/>
            </a:r>
          </a:p>
          <a:p xmlns:a="http://schemas.openxmlformats.org/drawingml/2006/main">
            <a:r>
              <a:t>Do not begin by explaining the framework. Begin with the decision the customer must make.</a:t>
            </a:r>
          </a:p>
          <a:p xmlns:a="http://schemas.openxmlformats.org/drawingml/2006/main">
            <a:r>
              <a:t/>
            </a:r>
          </a:p>
          <a:p xmlns:a="http://schemas.openxmlformats.org/drawingml/2006/main">
            <a:r>
              <a:t>[Sources]</a:t>
            </a:r>
          </a:p>
          <a:p xmlns:a="http://schemas.openxmlformats.org/drawingml/2006/main">
            <a:r>
              <a:t>- /Users/anatarajan9/dev/wealth-deep-agent/FACILITATOR.md</a:t>
            </a:r>
          </a:p>
          <a:p xmlns:a="http://schemas.openxmlformats.org/drawingml/2006/main">
            <a:r>
              <a:t>- /Users/anatarajan9/dev/wealth-deep-agent/src/wealth_agent/cli/demo.py</a:t>
            </a:r>
          </a:p>
          <a:p xmlns:a="http://schemas.openxmlformats.org/drawingml/2006/main">
            <a:r>
              <a:t>- /Users/anatarajan9/dev/wealth-deep-agent/slides/trust-but-verify.html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This is the strongest failure story in the workshop.</a:t>
            </a:r>
          </a:p>
          <a:p xmlns:a="http://schemas.openxmlformats.org/drawingml/2006/main">
            <a:r>
              <a:t/>
            </a:r>
          </a:p>
          <a:p xmlns:a="http://schemas.openxmlformats.org/drawingml/2006/main">
            <a:r>
              <a:t>Pause after presenting the unsupported cash balance and ask the audience to diagnose it. Then reveal: declarative subagents compile their own middleware stacks. The recorder was installed only on the supervisor, so subagent tool calls never reached the ledger. Nothing crashed.</a:t>
            </a:r>
          </a:p>
          <a:p xmlns:a="http://schemas.openxmlformats.org/drawingml/2006/main">
            <a:r>
              <a:t/>
            </a:r>
          </a:p>
          <a:p xmlns:a="http://schemas.openxmlformats.org/drawingml/2006/main">
            <a:r>
              <a:t>Open src/wealth_agent/agents/common.py and the regression test. Emphasize the general lesson rather than the one-line patch.</a:t>
            </a:r>
          </a:p>
          <a:p xmlns:a="http://schemas.openxmlformats.org/drawingml/2006/main">
            <a:r>
              <a:t/>
            </a:r>
          </a:p>
          <a:p xmlns:a="http://schemas.openxmlformats.org/drawingml/2006/main">
            <a:r>
              <a:t>[Sources]</a:t>
            </a:r>
          </a:p>
          <a:p xmlns:a="http://schemas.openxmlformats.org/drawingml/2006/main">
            <a:r>
              <a:t>- /Users/anatarajan9/dev/wealth-deep-agent/README.md</a:t>
            </a:r>
          </a:p>
          <a:p xmlns:a="http://schemas.openxmlformats.org/drawingml/2006/main">
            <a:r>
              <a:t>- /Users/anatarajan9/dev/wealth-deep-agent/FACILITATOR.md</a:t>
            </a:r>
          </a:p>
          <a:p xmlns:a="http://schemas.openxmlformats.org/drawingml/2006/main">
            <a:r>
              <a:t>- /Users/anatarajan9/dev/wealth-deep-agent/src/wealth_agent/agents/common.py</a:t>
            </a:r>
          </a:p>
          <a:p xmlns:a="http://schemas.openxmlformats.org/drawingml/2006/main">
            <a:r>
              <a:t>- /Users/anatarajan9/dev/wealth-deep-agent/tests/test_ledger_middleware.py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Start with the deterministic checker because it is free, repeatable, and catches 18 of 20 labeled defects. Then explain the two misses: a real 34.71% attributed to the wrong denominator, and an invented 12% that passes because 11.88% rounds to it.</a:t>
            </a:r>
          </a:p>
          <a:p xmlns:a="http://schemas.openxmlformats.org/drawingml/2006/main">
            <a:r>
              <a:t/>
            </a:r>
          </a:p>
          <a:p xmlns:a="http://schemas.openxmlformats.org/drawingml/2006/main">
            <a:r>
              <a:t>The LLM judge earns its place only for semantic questions that code cannot settle. Trajectory checks protect against a vacuous, grounded memo that simply skipped required analysis.</a:t>
            </a:r>
          </a:p>
          <a:p xmlns:a="http://schemas.openxmlformats.org/drawingml/2006/main">
            <a:r>
              <a:t/>
            </a:r>
          </a:p>
          <a:p xmlns:a="http://schemas.openxmlformats.org/drawingml/2006/main">
            <a:r>
              <a:t>[Sources]</a:t>
            </a:r>
          </a:p>
          <a:p xmlns:a="http://schemas.openxmlformats.org/drawingml/2006/main">
            <a:r>
              <a:t>- /Users/anatarajan9/dev/wealth-deep-agent/src/wealth_agent/evals/evaluators.py</a:t>
            </a:r>
          </a:p>
          <a:p xmlns:a="http://schemas.openxmlformats.org/drawingml/2006/main">
            <a:r>
              <a:t>- /Users/anatarajan9/dev/wealth-deep-agent/WORKSHOP_BRIEF.md</a:t>
            </a:r>
          </a:p>
          <a:p xmlns:a="http://schemas.openxmlformats.org/drawingml/2006/main">
            <a:r>
              <a:t>- https://docs.langchain.com/langsmith/evaluate-complex-agent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Read the columns, not only the agreement score. v2 looked unchanged at 85%, yet it eliminated false accepts and introduced false rejects. In this domain those error classes have different business costs.</a:t>
            </a:r>
          </a:p>
          <a:p xmlns:a="http://schemas.openxmlformats.org/drawingml/2006/main">
            <a:r>
              <a:t/>
            </a:r>
          </a:p>
          <a:p xmlns:a="http://schemas.openxmlformats.org/drawingml/2006/main">
            <a:r>
              <a:t>The lesson is not “write a better prompt.” The lesson is “an evaluator is an application and must be evaluated against human labels.”</a:t>
            </a:r>
          </a:p>
          <a:p xmlns:a="http://schemas.openxmlformats.org/drawingml/2006/main">
            <a:r>
              <a:t/>
            </a:r>
          </a:p>
          <a:p xmlns:a="http://schemas.openxmlformats.org/drawingml/2006/main">
            <a:r>
              <a:t>[Sources]</a:t>
            </a:r>
          </a:p>
          <a:p xmlns:a="http://schemas.openxmlformats.org/drawingml/2006/main">
            <a:r>
              <a:t>- /Users/anatarajan9/dev/wealth-deep-agent/WORKSHOP_BRIEF.md</a:t>
            </a:r>
          </a:p>
          <a:p xmlns:a="http://schemas.openxmlformats.org/drawingml/2006/main">
            <a:r>
              <a:t>- /Users/anatarajan9/dev/wealth-deep-agent/src/wealth_agent/evals/evaluators.py</a:t>
            </a:r>
          </a:p>
          <a:p xmlns:a="http://schemas.openxmlformats.org/drawingml/2006/main">
            <a:r>
              <a:t>- /Users/anatarajan9/dev/wealth-deep-agent/src/wealth_agent/evals/fixtures.py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Explain the two independent switches: visibility and execution. ALLOW_WRITE_TOOLS controls whether writes are shown to the model; interrupt_on controls whether an enabled write can execute without human approval. Secret-bearing tools are excluded entirely.</a:t>
            </a:r>
          </a:p>
          <a:p xmlns:a="http://schemas.openxmlformats.org/drawingml/2006/main">
            <a:r>
              <a:t/>
            </a:r>
          </a:p>
          <a:p xmlns:a="http://schemas.openxmlformats.org/drawingml/2006/main">
            <a:r>
              <a:t>Be explicit that this demo uses an in-memory checkpointer. A production version needs a durable checkpointer and stable thread IDs. Durable execution preserves progress; it does not make external actions exactly once, so side effects still need idempotency.</a:t>
            </a:r>
          </a:p>
          <a:p xmlns:a="http://schemas.openxmlformats.org/drawingml/2006/main">
            <a:r>
              <a:t/>
            </a:r>
          </a:p>
          <a:p xmlns:a="http://schemas.openxmlformats.org/drawingml/2006/main">
            <a:r>
              <a:t>[Sources]</a:t>
            </a:r>
          </a:p>
          <a:p xmlns:a="http://schemas.openxmlformats.org/drawingml/2006/main">
            <a:r>
              <a:t>- /Users/anatarajan9/dev/wealth-deep-agent/src/wealth_agent/mcp_servers/clients.py</a:t>
            </a:r>
          </a:p>
          <a:p xmlns:a="http://schemas.openxmlformats.org/drawingml/2006/main">
            <a:r>
              <a:t>- /Users/anatarajan9/dev/wealth-deep-agent/src/wealth_agent/agents/supervisor.py</a:t>
            </a:r>
          </a:p>
          <a:p xmlns:a="http://schemas.openxmlformats.org/drawingml/2006/main">
            <a:r>
              <a:t>- https://docs.langchain.com/oss/python/langgraph/persistence</a:t>
            </a:r>
          </a:p>
          <a:p xmlns:a="http://schemas.openxmlformats.org/drawingml/2006/main">
            <a:r>
              <a:t>- https://docs.langchain.com/oss/python/langgraph/interrupts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then Q&amp;A.</a:t>
            </a:r>
          </a:p>
          <a:p xmlns:a="http://schemas.openxmlformats.org/drawingml/2006/main">
            <a:r>
              <a:t/>
            </a:r>
          </a:p>
          <a:p xmlns:a="http://schemas.openxmlformats.org/drawingml/2006/main">
            <a:r>
              <a:t>Close by returning to the opening decision. The agent does not earn trust because the prose is polished. It earns trust because claims link to recorded evidence, risky actions cross explicit boundaries, and every evaluator is calibrated.</a:t>
            </a:r>
          </a:p>
          <a:p xmlns:a="http://schemas.openxmlformats.org/drawingml/2006/main">
            <a:r>
              <a:t/>
            </a:r>
          </a:p>
          <a:p xmlns:a="http://schemas.openxmlformats.org/drawingml/2006/main">
            <a:r>
              <a:t>Likely Q&amp;A anchors:</a:t>
            </a:r>
          </a:p>
          <a:p xmlns:a="http://schemas.openxmlformats.org/drawingml/2006/main">
            <a:r>
              <a:t>- Why Deep Agents instead of plain create_agent?</a:t>
            </a:r>
          </a:p>
          <a:p xmlns:a="http://schemas.openxmlformats.org/drawingml/2006/main">
            <a:r>
              <a:t>- Why not just unit test everything?</a:t>
            </a:r>
          </a:p>
          <a:p xmlns:a="http://schemas.openxmlformats.org/drawingml/2006/main">
            <a:r>
              <a:t>- Why are the verifier and strategist shallow?</a:t>
            </a:r>
          </a:p>
          <a:p xmlns:a="http://schemas.openxmlformats.org/drawingml/2006/main">
            <a:r>
              <a:t>- What changes for a production checkpointer and side effects?</a:t>
            </a:r>
          </a:p>
          <a:p xmlns:a="http://schemas.openxmlformats.org/drawingml/2006/main">
            <a:r>
              <a:t>- How would you extend this with online evaluation and alerting?</a:t>
            </a:r>
          </a:p>
          <a:p xmlns:a="http://schemas.openxmlformats.org/drawingml/2006/main">
            <a:r>
              <a:t/>
            </a:r>
          </a:p>
          <a:p xmlns:a="http://schemas.openxmlformats.org/drawingml/2006/main">
            <a:r>
              <a:t>[Sources]</a:t>
            </a:r>
          </a:p>
          <a:p xmlns:a="http://schemas.openxmlformats.org/drawingml/2006/main">
            <a:r>
              <a:t>- /Users/anatarajan9/dev/wealth-deep-agent/WORKSHOP_BRIEF.md</a:t>
            </a:r>
          </a:p>
          <a:p xmlns:a="http://schemas.openxmlformats.org/drawingml/2006/main">
            <a:r>
              <a:t>- /Users/anatarajan9/dev/wealth-deep-agent/FACILITATOR.md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a28a979e1948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88fe50e12e4fbc" /><Relationship Type="http://schemas.openxmlformats.org/officeDocument/2006/relationships/slideLayout" Target="/ppt/slideLayouts/slideLayout1.xml" Id="R9ce019f662ca4d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e019f662ca4d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Calibri Light"/>
        <a:ea typeface="Calibri Light"/>
        <a:cs typeface="Calibri Light"/>
      </a:majorFont>
      <a:minorFont>
        <a:latin typeface="Calibri"/>
        <a:ea typeface="Calibri"/>
        <a:cs typeface="Calibri"/>
      </a:minorFont>
    </a:fontScheme>
    <a:fmtScheme name="Trust but Verif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5f995933c54f04" /><Relationship Type="http://schemas.openxmlformats.org/officeDocument/2006/relationships/notesSlide" Target="/ppt/notesSlides/notesSlide1.xml" Id="R68b40824078843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1bbb187f97486f" /><Relationship Type="http://schemas.openxmlformats.org/officeDocument/2006/relationships/notesSlide" Target="/ppt/notesSlides/notesSlide2.xml" Id="R0f017ae36cba49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bf26aba3294bc6" /><Relationship Type="http://schemas.openxmlformats.org/officeDocument/2006/relationships/notesSlide" Target="/ppt/notesSlides/notesSlide3.xml" Id="R2f4458d831ec46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e2f18470174687" /><Relationship Type="http://schemas.openxmlformats.org/officeDocument/2006/relationships/notesSlide" Target="/ppt/notesSlides/notesSlide4.xml" Id="R07ad7049f0fa4b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92e169e39b4f51" /><Relationship Type="http://schemas.openxmlformats.org/officeDocument/2006/relationships/notesSlide" Target="/ppt/notesSlides/notesSlide5.xml" Id="Ra261b8a7ad2048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113d2b098e4d4c" /><Relationship Type="http://schemas.openxmlformats.org/officeDocument/2006/relationships/notesSlide" Target="/ppt/notesSlides/notesSlide6.xml" Id="Rb2daba7d26ba44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9b7752970a4048" /><Relationship Type="http://schemas.openxmlformats.org/officeDocument/2006/relationships/notesSlide" Target="/ppt/notesSlides/notesSlide7.xml" Id="R3a78ec010dcf48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331b0f892b4840" /><Relationship Type="http://schemas.openxmlformats.org/officeDocument/2006/relationships/notesSlide" Target="/ppt/notesSlides/notesSlide8.xml" Id="R861d8d19bbde4a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7ff017bf5643b6" /><Relationship Type="http://schemas.openxmlformats.org/officeDocument/2006/relationships/notesSlide" Target="/ppt/notesSlides/notesSlide9.xml" Id="R76e2a617c87c45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75e7ce8e784791" /><Relationship Type="http://schemas.openxmlformats.org/officeDocument/2006/relationships/notesSlide" Target="/ppt/notesSlides/notesSlide10.xml" Id="R92f05e445e9449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9a66da54e748a3" /><Relationship Type="http://schemas.openxmlformats.org/officeDocument/2006/relationships/notesSlide" Target="/ppt/notesSlides/notesSlide11.xml" Id="Rddc287cd4c354d22" /></Relationships>
</file>

<file path=ppt/slides/slide1.xml><?xml version="1.0" encoding="utf-8"?>
<p:sld xmlns:p="http://schemas.openxmlformats.org/presentationml/2006/main">
  <p:cSld>
    <p:bg>
      <p:bgPr>
        <a:solidFill xmlns:a="http://schemas.openxmlformats.org/drawingml/2006/main">
          <a:srgbClr val="1418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80DB74-EDDE-4835-9AE6-2A229E7BA7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726A"/>
          </a:solidFill>
          <a:ln xmlns:a="http://schemas.openxmlformats.org/drawingml/2006/main" w="0">
            <a:solidFill>
              <a:srgbClr val="24726A"/>
            </a:solidFill>
            <a:prstDash val="solid"/>
          </a:ln>
        </p:spPr>
      </p:sp>
      <p:sp>
        <p:nvSpPr>
          <p:cNvPr id="2" name="">
            <a:extLst xmlns:a="http://schemas.openxmlformats.org/drawingml/2006/main">
              <a:ext uri="{FF2B5EF4-FFF2-40B4-BE49-F238E27FC236}">
                <a16:creationId xmlns:a16="http://schemas.microsoft.com/office/drawing/2014/main" id="{BBCDD606-B783-4892-829F-1ADC5B133E36}"/>
              </a:ext>
            </a:extLst>
          </p:cNvPr>
          <p:cNvSpPr>
            <a:spLocks xmlns:a="http://schemas.openxmlformats.org/drawingml/2006/main" noGrp="1"/>
          </p:cNvSpPr>
          <p:nvPr/>
        </p:nvSpPr>
        <p:spPr>
          <a:xfrm xmlns:a="http://schemas.openxmlformats.org/drawingml/2006/main">
            <a:off x="781050" y="666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63B5A8"/>
                </a:solidFill>
                <a:latin typeface="Roboto Mono"/>
                <a:ea typeface="Roboto Mono"/>
                <a:cs typeface="Roboto Mono"/>
              </a:defRPr>
            </a:pPr>
            <a:r>
              <a:rPr sz="1125" b="1">
                <a:solidFill>
                  <a:srgbClr val="63B5A8"/>
                </a:solidFill>
                <a:latin typeface="Roboto Mono"/>
                <a:ea typeface="Roboto Mono"/>
                <a:cs typeface="Roboto Mono"/>
              </a:rPr>
              <a:t>TECHNICAL WORKSHOP · 45 MIN + Q&amp;A</a:t>
            </a:r>
          </a:p>
        </p:txBody>
      </p:sp>
      <p:sp>
        <p:nvSpPr>
          <p:cNvPr id="3" name="deck-title">
            <a:extLst xmlns:a="http://schemas.openxmlformats.org/drawingml/2006/main">
              <a:ext uri="{FF2B5EF4-FFF2-40B4-BE49-F238E27FC236}">
                <a16:creationId xmlns:a16="http://schemas.microsoft.com/office/drawing/2014/main" id="{80223C77-8058-45F5-B36A-5691D5247D2D}"/>
              </a:ext>
            </a:extLst>
          </p:cNvPr>
          <p:cNvSpPr>
            <a:spLocks xmlns:a="http://schemas.openxmlformats.org/drawingml/2006/main" noGrp="1"/>
          </p:cNvSpPr>
          <p:nvPr/>
        </p:nvSpPr>
        <p:spPr>
          <a:xfrm xmlns:a="http://schemas.openxmlformats.org/drawingml/2006/main">
            <a:off x="781050" y="1238250"/>
            <a:ext cx="7620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250" b="1">
                <a:solidFill>
                  <a:srgbClr val="FFFFFF"/>
                </a:solidFill>
                <a:latin typeface="Arial"/>
                <a:ea typeface="Arial"/>
                <a:cs typeface="Arial"/>
              </a:defRPr>
            </a:pPr>
            <a:r>
              <a:rPr sz="5250" b="1">
                <a:solidFill>
                  <a:srgbClr val="FFFFFF"/>
                </a:solidFill>
                <a:latin typeface="Arial"/>
                <a:ea typeface="Arial"/>
                <a:cs typeface="Arial"/>
              </a:rPr>
              <a:t>Trust, but verify</a:t>
            </a:r>
          </a:p>
        </p:txBody>
      </p:sp>
      <p:sp>
        <p:nvSpPr>
          <p:cNvPr id="4" name="">
            <a:extLst xmlns:a="http://schemas.openxmlformats.org/drawingml/2006/main">
              <a:ext uri="{FF2B5EF4-FFF2-40B4-BE49-F238E27FC236}">
                <a16:creationId xmlns:a16="http://schemas.microsoft.com/office/drawing/2014/main" id="{F42F7FD9-62F7-4E96-B230-FCE057C28D93}"/>
              </a:ext>
            </a:extLst>
          </p:cNvPr>
          <p:cNvSpPr>
            <a:spLocks xmlns:a="http://schemas.openxmlformats.org/drawingml/2006/main" noGrp="1"/>
          </p:cNvSpPr>
          <p:nvPr/>
        </p:nvSpPr>
        <p:spPr>
          <a:xfrm xmlns:a="http://schemas.openxmlformats.org/drawingml/2006/main">
            <a:off x="800100" y="224790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C7D0CC"/>
                </a:solidFill>
                <a:latin typeface="Arial"/>
                <a:ea typeface="Arial"/>
                <a:cs typeface="Arial"/>
              </a:defRPr>
            </a:pPr>
            <a:r>
              <a:rPr sz="2325" b="0">
                <a:solidFill>
                  <a:srgbClr val="C7D0CC"/>
                </a:solidFill>
                <a:latin typeface="Arial"/>
                <a:ea typeface="Arial"/>
                <a:cs typeface="Arial"/>
              </a:rPr>
              <a:t>Making a deep agent’s output provable</a:t>
            </a:r>
          </a:p>
        </p:txBody>
      </p:sp>
      <p:sp>
        <p:nvSpPr>
          <p:cNvPr id="5" name="">
            <a:extLst xmlns:a="http://schemas.openxmlformats.org/drawingml/2006/main">
              <a:ext uri="{FF2B5EF4-FFF2-40B4-BE49-F238E27FC236}">
                <a16:creationId xmlns:a16="http://schemas.microsoft.com/office/drawing/2014/main" id="{AE773C29-2017-498A-91BC-49B668037797}"/>
              </a:ext>
            </a:extLst>
          </p:cNvPr>
          <p:cNvSpPr>
            <a:spLocks xmlns:a="http://schemas.openxmlformats.org/drawingml/2006/main" noGrp="1"/>
          </p:cNvSpPr>
          <p:nvPr/>
        </p:nvSpPr>
        <p:spPr>
          <a:xfrm xmlns:a="http://schemas.openxmlformats.org/drawingml/2006/main">
            <a:off x="800100" y="3143250"/>
            <a:ext cx="10572750" cy="0"/>
          </a:xfrm>
          <a:prstGeom xmlns:a="http://schemas.openxmlformats.org/drawingml/2006/main" prst="line">
            <a:avLst/>
          </a:prstGeom>
          <a:noFill xmlns:a="http://schemas.openxmlformats.org/drawingml/2006/main"/>
          <a:ln xmlns:a="http://schemas.openxmlformats.org/drawingml/2006/main" w="12383">
            <a:solidFill>
              <a:srgbClr val="3D4A50"/>
            </a:solidFill>
            <a:prstDash val="solid"/>
          </a:ln>
        </p:spPr>
      </p:sp>
      <p:sp>
        <p:nvSpPr>
          <p:cNvPr id="6" name="">
            <a:extLst xmlns:a="http://schemas.openxmlformats.org/drawingml/2006/main">
              <a:ext uri="{FF2B5EF4-FFF2-40B4-BE49-F238E27FC236}">
                <a16:creationId xmlns:a16="http://schemas.microsoft.com/office/drawing/2014/main" id="{6C1F8897-87ED-43E8-8ACC-01AC27E688FD}"/>
              </a:ext>
            </a:extLst>
          </p:cNvPr>
          <p:cNvSpPr>
            <a:spLocks xmlns:a="http://schemas.openxmlformats.org/drawingml/2006/main" noGrp="1"/>
          </p:cNvSpPr>
          <p:nvPr/>
        </p:nvSpPr>
        <p:spPr>
          <a:xfrm xmlns:a="http://schemas.openxmlformats.org/drawingml/2006/main">
            <a:off x="800100" y="3524250"/>
            <a:ext cx="819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E4E9E6"/>
                </a:solidFill>
                <a:latin typeface="Arial"/>
                <a:ea typeface="Arial"/>
                <a:cs typeface="Arial"/>
              </a:defRPr>
            </a:pPr>
            <a:r>
              <a:rPr sz="1800" b="0">
                <a:solidFill>
                  <a:srgbClr val="E4E9E6"/>
                </a:solidFill>
                <a:latin typeface="Arial"/>
                <a:ea typeface="Arial"/>
                <a:cs typeface="Arial"/>
              </a:rPr>
              <a:t>A working wealth agent built with LangChain, LangGraph, Deep Agents, and LangSmith</a:t>
            </a:r>
          </a:p>
        </p:txBody>
      </p:sp>
      <p:sp>
        <p:nvSpPr>
          <p:cNvPr id="7" name="">
            <a:extLst xmlns:a="http://schemas.openxmlformats.org/drawingml/2006/main">
              <a:ext uri="{FF2B5EF4-FFF2-40B4-BE49-F238E27FC236}">
                <a16:creationId xmlns:a16="http://schemas.microsoft.com/office/drawing/2014/main" id="{CDC11851-072D-4304-88B2-C0618138B568}"/>
              </a:ext>
            </a:extLst>
          </p:cNvPr>
          <p:cNvSpPr>
            <a:spLocks xmlns:a="http://schemas.openxmlformats.org/drawingml/2006/main" noGrp="1"/>
          </p:cNvSpPr>
          <p:nvPr/>
        </p:nvSpPr>
        <p:spPr>
          <a:xfrm xmlns:a="http://schemas.openxmlformats.org/drawingml/2006/main">
            <a:off x="800100" y="5543550"/>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Roboto Mono"/>
                <a:ea typeface="Roboto Mono"/>
                <a:cs typeface="Roboto Mono"/>
              </a:defRPr>
            </a:pPr>
            <a:r>
              <a:rPr sz="1275" b="1">
                <a:solidFill>
                  <a:srgbClr val="FFFFFF"/>
                </a:solidFill>
                <a:latin typeface="Roboto Mono"/>
                <a:ea typeface="Roboto Mono"/>
                <a:cs typeface="Roboto Mono"/>
              </a:rPr>
              <a:t>ADITHYA NATARAJAN</a:t>
            </a:r>
          </a:p>
        </p:txBody>
      </p:sp>
      <p:sp>
        <p:nvSpPr>
          <p:cNvPr id="8" name="">
            <a:extLst xmlns:a="http://schemas.openxmlformats.org/drawingml/2006/main">
              <a:ext uri="{FF2B5EF4-FFF2-40B4-BE49-F238E27FC236}">
                <a16:creationId xmlns:a16="http://schemas.microsoft.com/office/drawing/2014/main" id="{BF248D25-D25D-4753-A3CA-6FB4865DEE30}"/>
              </a:ext>
            </a:extLst>
          </p:cNvPr>
          <p:cNvSpPr>
            <a:spLocks xmlns:a="http://schemas.openxmlformats.org/drawingml/2006/main" noGrp="1"/>
          </p:cNvSpPr>
          <p:nvPr/>
        </p:nvSpPr>
        <p:spPr>
          <a:xfrm xmlns:a="http://schemas.openxmlformats.org/drawingml/2006/main">
            <a:off x="800100" y="586740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EB9B7"/>
                </a:solidFill>
                <a:latin typeface="Arial"/>
                <a:ea typeface="Arial"/>
                <a:cs typeface="Arial"/>
              </a:defRPr>
            </a:pPr>
            <a:r>
              <a:rPr sz="1425" b="0">
                <a:solidFill>
                  <a:srgbClr val="AEB9B7"/>
                </a:solidFill>
                <a:latin typeface="Arial"/>
                <a:ea typeface="Arial"/>
                <a:cs typeface="Arial"/>
              </a:rPr>
              <a:t>Senior Software Engineer, Intuit · Agentic application builder</a:t>
            </a:r>
          </a:p>
        </p:txBody>
      </p:sp>
      <p:sp>
        <p:nvSpPr>
          <p:cNvPr id="9" name="">
            <a:extLst xmlns:a="http://schemas.openxmlformats.org/drawingml/2006/main">
              <a:ext uri="{FF2B5EF4-FFF2-40B4-BE49-F238E27FC236}">
                <a16:creationId xmlns:a16="http://schemas.microsoft.com/office/drawing/2014/main" id="{A3813143-4B67-49B6-8CDB-E562DCAF9C60}"/>
              </a:ext>
            </a:extLst>
          </p:cNvPr>
          <p:cNvSpPr>
            <a:spLocks xmlns:a="http://schemas.openxmlformats.org/drawingml/2006/main" noGrp="1"/>
          </p:cNvSpPr>
          <p:nvPr/>
        </p:nvSpPr>
        <p:spPr>
          <a:xfrm xmlns:a="http://schemas.openxmlformats.org/drawingml/2006/main">
            <a:off x="7524750" y="5924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63B5A8"/>
                </a:solidFill>
                <a:latin typeface="Roboto Mono"/>
                <a:ea typeface="Roboto Mono"/>
                <a:cs typeface="Roboto Mono"/>
              </a:defRPr>
            </a:pPr>
            <a:r>
              <a:rPr sz="1050" b="1">
                <a:solidFill>
                  <a:srgbClr val="63B5A8"/>
                </a:solidFill>
                <a:latin typeface="Roboto Mono"/>
                <a:ea typeface="Roboto Mono"/>
                <a:cs typeface="Roboto Mono"/>
              </a:rPr>
              <a:t>DEEP AGENTS  ·  LANGGRAPH  ·  LANGSMITH</a:t>
            </a:r>
          </a:p>
        </p:txBody>
      </p:sp>
    </p:spTree>
    <p:extLst>
      <p:ext uri="{BB962C8B-B14F-4D97-AF65-F5344CB8AC3E}">
        <p14:creationId xmlns:p14="http://schemas.microsoft.com/office/powerpoint/2010/main" val="1665684892"/>
      </p:ext>
    </p:extLst>
  </p:cSld>
</p:sld>
</file>

<file path=ppt/slides/slide2.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FFC920B-50FD-44F0-A9A7-F49DD6C6FCCF}"/>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THE CUSTOMER PROBLEM</a:t>
            </a:r>
          </a:p>
        </p:txBody>
      </p:sp>
      <p:sp>
        <p:nvSpPr>
          <p:cNvPr id="2" name="slide-2-title">
            <a:extLst xmlns:a="http://schemas.openxmlformats.org/drawingml/2006/main">
              <a:ext uri="{FF2B5EF4-FFF2-40B4-BE49-F238E27FC236}">
                <a16:creationId xmlns:a16="http://schemas.microsoft.com/office/drawing/2014/main" id="{20C653C8-BCCD-4548-9BB5-F5A62592C0DC}"/>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The hard part starts after the demo works</a:t>
            </a:r>
          </a:p>
        </p:txBody>
      </p:sp>
      <p:sp>
        <p:nvSpPr>
          <p:cNvPr id="3" name="">
            <a:extLst xmlns:a="http://schemas.openxmlformats.org/drawingml/2006/main">
              <a:ext uri="{FF2B5EF4-FFF2-40B4-BE49-F238E27FC236}">
                <a16:creationId xmlns:a16="http://schemas.microsoft.com/office/drawing/2014/main" id="{A692E012-CE5A-4B61-979A-41351040DBD4}"/>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75FCB6FF-A5FC-468C-A5EB-FC5F9F240781}"/>
              </a:ext>
            </a:extLst>
          </p:cNvPr>
          <p:cNvSpPr>
            <a:spLocks xmlns:a="http://schemas.openxmlformats.org/drawingml/2006/main" noGrp="1"/>
          </p:cNvSpPr>
          <p:nvPr/>
        </p:nvSpPr>
        <p:spPr>
          <a:xfrm xmlns:a="http://schemas.openxmlformats.org/drawingml/2006/main">
            <a:off x="685800" y="17335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400" b="1">
                <a:solidFill>
                  <a:srgbClr val="14181C"/>
                </a:solidFill>
                <a:latin typeface="Arial"/>
                <a:ea typeface="Arial"/>
                <a:cs typeface="Arial"/>
              </a:defRPr>
            </a:pPr>
            <a:r>
              <a:rPr sz="2400" b="1">
                <a:solidFill>
                  <a:srgbClr val="14181C"/>
                </a:solidFill>
                <a:latin typeface="Arial"/>
                <a:ea typeface="Arial"/>
                <a:cs typeface="Arial"/>
              </a:rPr>
              <a:t>The agent can plan, delegate, and write a convincing memo.</a:t>
            </a:r>
          </a:p>
        </p:txBody>
      </p:sp>
      <p:sp>
        <p:nvSpPr>
          <p:cNvPr id="5" name="">
            <a:extLst xmlns:a="http://schemas.openxmlformats.org/drawingml/2006/main">
              <a:ext uri="{FF2B5EF4-FFF2-40B4-BE49-F238E27FC236}">
                <a16:creationId xmlns:a16="http://schemas.microsoft.com/office/drawing/2014/main" id="{A7761BAB-B3FC-447A-810D-614F024EBCEF}"/>
              </a:ext>
            </a:extLst>
          </p:cNvPr>
          <p:cNvSpPr>
            <a:spLocks xmlns:a="http://schemas.openxmlformats.org/drawingml/2006/main" noGrp="1"/>
          </p:cNvSpPr>
          <p:nvPr/>
        </p:nvSpPr>
        <p:spPr>
          <a:xfrm xmlns:a="http://schemas.openxmlformats.org/drawingml/2006/main">
            <a:off x="685800" y="26479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0">
                <a:solidFill>
                  <a:srgbClr val="444E54"/>
                </a:solidFill>
                <a:latin typeface="Arial"/>
                <a:ea typeface="Arial"/>
                <a:cs typeface="Arial"/>
              </a:defRPr>
            </a:pPr>
            <a:r>
              <a:rPr sz="1650" b="0">
                <a:solidFill>
                  <a:srgbClr val="444E54"/>
                </a:solidFill>
                <a:latin typeface="Arial"/>
                <a:ea typeface="Arial"/>
                <a:cs typeface="Arial"/>
              </a:rPr>
              <a:t>Before a person acts, we still need to answer:</a:t>
            </a:r>
          </a:p>
        </p:txBody>
      </p:sp>
      <p:sp>
        <p:nvSpPr>
          <p:cNvPr id="6" name="">
            <a:extLst xmlns:a="http://schemas.openxmlformats.org/drawingml/2006/main">
              <a:ext uri="{FF2B5EF4-FFF2-40B4-BE49-F238E27FC236}">
                <a16:creationId xmlns:a16="http://schemas.microsoft.com/office/drawing/2014/main" id="{891B4336-C1BF-4FF4-AC70-BED037B09347}"/>
              </a:ext>
            </a:extLst>
          </p:cNvPr>
          <p:cNvSpPr>
            <a:spLocks xmlns:a="http://schemas.openxmlformats.org/drawingml/2006/main" noGrp="1"/>
          </p:cNvSpPr>
          <p:nvPr/>
        </p:nvSpPr>
        <p:spPr>
          <a:xfrm xmlns:a="http://schemas.openxmlformats.org/drawingml/2006/main">
            <a:off x="685800" y="3219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24726A"/>
                </a:solidFill>
                <a:latin typeface="Roboto Mono"/>
                <a:ea typeface="Roboto Mono"/>
                <a:cs typeface="Roboto Mono"/>
              </a:defRPr>
            </a:pPr>
            <a:r>
              <a:rPr sz="1200" b="1">
                <a:solidFill>
                  <a:srgbClr val="24726A"/>
                </a:solidFill>
                <a:latin typeface="Roboto Mono"/>
                <a:ea typeface="Roboto Mono"/>
                <a:cs typeface="Roboto Mono"/>
              </a:rPr>
              <a:t>01</a:t>
            </a:r>
          </a:p>
        </p:txBody>
      </p:sp>
      <p:sp>
        <p:nvSpPr>
          <p:cNvPr id="7" name="">
            <a:extLst xmlns:a="http://schemas.openxmlformats.org/drawingml/2006/main">
              <a:ext uri="{FF2B5EF4-FFF2-40B4-BE49-F238E27FC236}">
                <a16:creationId xmlns:a16="http://schemas.microsoft.com/office/drawing/2014/main" id="{338FDEA4-FD00-43ED-8260-19386B3ED6DB}"/>
              </a:ext>
            </a:extLst>
          </p:cNvPr>
          <p:cNvSpPr>
            <a:spLocks xmlns:a="http://schemas.openxmlformats.org/drawingml/2006/main" noGrp="1"/>
          </p:cNvSpPr>
          <p:nvPr/>
        </p:nvSpPr>
        <p:spPr>
          <a:xfrm xmlns:a="http://schemas.openxmlformats.org/drawingml/2006/main">
            <a:off x="1257300" y="3200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14181C"/>
                </a:solidFill>
                <a:latin typeface="Arial"/>
                <a:ea typeface="Arial"/>
                <a:cs typeface="Arial"/>
              </a:defRPr>
            </a:pPr>
            <a:r>
              <a:rPr sz="1725" b="0">
                <a:solidFill>
                  <a:srgbClr val="14181C"/>
                </a:solidFill>
                <a:latin typeface="Arial"/>
                <a:ea typeface="Arial"/>
                <a:cs typeface="Arial"/>
              </a:rPr>
              <a:t>Where did every number come from?</a:t>
            </a:r>
          </a:p>
        </p:txBody>
      </p:sp>
      <p:sp>
        <p:nvSpPr>
          <p:cNvPr id="8" name="">
            <a:extLst xmlns:a="http://schemas.openxmlformats.org/drawingml/2006/main">
              <a:ext uri="{FF2B5EF4-FFF2-40B4-BE49-F238E27FC236}">
                <a16:creationId xmlns:a16="http://schemas.microsoft.com/office/drawing/2014/main" id="{A28CB324-3FCE-4960-85C2-CE0E0B8B3E56}"/>
              </a:ext>
            </a:extLst>
          </p:cNvPr>
          <p:cNvSpPr>
            <a:spLocks xmlns:a="http://schemas.openxmlformats.org/drawingml/2006/main" noGrp="1"/>
          </p:cNvSpPr>
          <p:nvPr/>
        </p:nvSpPr>
        <p:spPr>
          <a:xfrm xmlns:a="http://schemas.openxmlformats.org/drawingml/2006/main">
            <a:off x="1257300" y="3648075"/>
            <a:ext cx="45720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9" name="">
            <a:extLst xmlns:a="http://schemas.openxmlformats.org/drawingml/2006/main">
              <a:ext uri="{FF2B5EF4-FFF2-40B4-BE49-F238E27FC236}">
                <a16:creationId xmlns:a16="http://schemas.microsoft.com/office/drawing/2014/main" id="{6F1AB6AF-30E7-49D1-9F4D-A0B6898C9388}"/>
              </a:ext>
            </a:extLst>
          </p:cNvPr>
          <p:cNvSpPr>
            <a:spLocks xmlns:a="http://schemas.openxmlformats.org/drawingml/2006/main" noGrp="1"/>
          </p:cNvSpPr>
          <p:nvPr/>
        </p:nvSpPr>
        <p:spPr>
          <a:xfrm xmlns:a="http://schemas.openxmlformats.org/drawingml/2006/main">
            <a:off x="685800" y="3924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24726A"/>
                </a:solidFill>
                <a:latin typeface="Roboto Mono"/>
                <a:ea typeface="Roboto Mono"/>
                <a:cs typeface="Roboto Mono"/>
              </a:defRPr>
            </a:pPr>
            <a:r>
              <a:rPr sz="1200" b="1">
                <a:solidFill>
                  <a:srgbClr val="24726A"/>
                </a:solidFill>
                <a:latin typeface="Roboto Mono"/>
                <a:ea typeface="Roboto Mono"/>
                <a:cs typeface="Roboto Mono"/>
              </a:rPr>
              <a:t>02</a:t>
            </a:r>
          </a:p>
        </p:txBody>
      </p:sp>
      <p:sp>
        <p:nvSpPr>
          <p:cNvPr id="10" name="">
            <a:extLst xmlns:a="http://schemas.openxmlformats.org/drawingml/2006/main">
              <a:ext uri="{FF2B5EF4-FFF2-40B4-BE49-F238E27FC236}">
                <a16:creationId xmlns:a16="http://schemas.microsoft.com/office/drawing/2014/main" id="{E16FD37A-C710-43ED-8B99-B34E2F41DA1A}"/>
              </a:ext>
            </a:extLst>
          </p:cNvPr>
          <p:cNvSpPr>
            <a:spLocks xmlns:a="http://schemas.openxmlformats.org/drawingml/2006/main" noGrp="1"/>
          </p:cNvSpPr>
          <p:nvPr/>
        </p:nvSpPr>
        <p:spPr>
          <a:xfrm xmlns:a="http://schemas.openxmlformats.org/drawingml/2006/main">
            <a:off x="1257300" y="39052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14181C"/>
                </a:solidFill>
                <a:latin typeface="Arial"/>
                <a:ea typeface="Arial"/>
                <a:cs typeface="Arial"/>
              </a:defRPr>
            </a:pPr>
            <a:r>
              <a:rPr sz="1725" b="0">
                <a:solidFill>
                  <a:srgbClr val="14181C"/>
                </a:solidFill>
                <a:latin typeface="Arial"/>
                <a:ea typeface="Arial"/>
                <a:cs typeface="Arial"/>
              </a:rPr>
              <a:t>Which source supports each market claim?</a:t>
            </a:r>
          </a:p>
        </p:txBody>
      </p:sp>
      <p:sp>
        <p:nvSpPr>
          <p:cNvPr id="11" name="">
            <a:extLst xmlns:a="http://schemas.openxmlformats.org/drawingml/2006/main">
              <a:ext uri="{FF2B5EF4-FFF2-40B4-BE49-F238E27FC236}">
                <a16:creationId xmlns:a16="http://schemas.microsoft.com/office/drawing/2014/main" id="{7D51F6EA-BF6E-4B71-A9B9-DFB11A2E19D4}"/>
              </a:ext>
            </a:extLst>
          </p:cNvPr>
          <p:cNvSpPr>
            <a:spLocks xmlns:a="http://schemas.openxmlformats.org/drawingml/2006/main" noGrp="1"/>
          </p:cNvSpPr>
          <p:nvPr/>
        </p:nvSpPr>
        <p:spPr>
          <a:xfrm xmlns:a="http://schemas.openxmlformats.org/drawingml/2006/main">
            <a:off x="1257300" y="4352925"/>
            <a:ext cx="45720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12" name="">
            <a:extLst xmlns:a="http://schemas.openxmlformats.org/drawingml/2006/main">
              <a:ext uri="{FF2B5EF4-FFF2-40B4-BE49-F238E27FC236}">
                <a16:creationId xmlns:a16="http://schemas.microsoft.com/office/drawing/2014/main" id="{55341A09-EF6A-4CA5-B25C-C6199067E868}"/>
              </a:ext>
            </a:extLst>
          </p:cNvPr>
          <p:cNvSpPr>
            <a:spLocks xmlns:a="http://schemas.openxmlformats.org/drawingml/2006/main" noGrp="1"/>
          </p:cNvSpPr>
          <p:nvPr/>
        </p:nvSpPr>
        <p:spPr>
          <a:xfrm xmlns:a="http://schemas.openxmlformats.org/drawingml/2006/main">
            <a:off x="685800" y="4629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24726A"/>
                </a:solidFill>
                <a:latin typeface="Roboto Mono"/>
                <a:ea typeface="Roboto Mono"/>
                <a:cs typeface="Roboto Mono"/>
              </a:defRPr>
            </a:pPr>
            <a:r>
              <a:rPr sz="1200" b="1">
                <a:solidFill>
                  <a:srgbClr val="24726A"/>
                </a:solidFill>
                <a:latin typeface="Roboto Mono"/>
                <a:ea typeface="Roboto Mono"/>
                <a:cs typeface="Roboto Mono"/>
              </a:rPr>
              <a:t>03</a:t>
            </a:r>
          </a:p>
        </p:txBody>
      </p:sp>
      <p:sp>
        <p:nvSpPr>
          <p:cNvPr id="13" name="">
            <a:extLst xmlns:a="http://schemas.openxmlformats.org/drawingml/2006/main">
              <a:ext uri="{FF2B5EF4-FFF2-40B4-BE49-F238E27FC236}">
                <a16:creationId xmlns:a16="http://schemas.microsoft.com/office/drawing/2014/main" id="{C11C98A0-4A01-4018-9962-28AC97D99435}"/>
              </a:ext>
            </a:extLst>
          </p:cNvPr>
          <p:cNvSpPr>
            <a:spLocks xmlns:a="http://schemas.openxmlformats.org/drawingml/2006/main" noGrp="1"/>
          </p:cNvSpPr>
          <p:nvPr/>
        </p:nvSpPr>
        <p:spPr>
          <a:xfrm xmlns:a="http://schemas.openxmlformats.org/drawingml/2006/main">
            <a:off x="1257300" y="46101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14181C"/>
                </a:solidFill>
                <a:latin typeface="Arial"/>
                <a:ea typeface="Arial"/>
                <a:cs typeface="Arial"/>
              </a:defRPr>
            </a:pPr>
            <a:r>
              <a:rPr sz="1725" b="0">
                <a:solidFill>
                  <a:srgbClr val="14181C"/>
                </a:solidFill>
                <a:latin typeface="Arial"/>
                <a:ea typeface="Arial"/>
                <a:cs typeface="Arial"/>
              </a:rPr>
              <a:t>What prevents an unsafe account change?</a:t>
            </a:r>
          </a:p>
        </p:txBody>
      </p:sp>
      <p:sp>
        <p:nvSpPr>
          <p:cNvPr id="14" name="memo-sample">
            <a:extLst xmlns:a="http://schemas.openxmlformats.org/drawingml/2006/main">
              <a:ext uri="{FF2B5EF4-FFF2-40B4-BE49-F238E27FC236}">
                <a16:creationId xmlns:a16="http://schemas.microsoft.com/office/drawing/2014/main" id="{BDB9A128-B969-4CED-AB91-CF31C0840973}"/>
              </a:ext>
            </a:extLst>
          </p:cNvPr>
          <p:cNvSpPr>
            <a:spLocks xmlns:a="http://schemas.openxmlformats.org/drawingml/2006/main" noGrp="1"/>
          </p:cNvSpPr>
          <p:nvPr/>
        </p:nvSpPr>
        <p:spPr>
          <a:xfrm xmlns:a="http://schemas.openxmlformats.org/drawingml/2006/main">
            <a:off x="6667500" y="1695450"/>
            <a:ext cx="4838700" cy="4095750"/>
          </a:xfrm>
          <a:prstGeom xmlns:a="http://schemas.openxmlformats.org/drawingml/2006/main" prst="roundRect">
            <a:avLst>
              <a:gd name="adj" fmla="val 1163"/>
            </a:avLst>
          </a:prstGeom>
          <a:solidFill xmlns:a="http://schemas.openxmlformats.org/drawingml/2006/main">
            <a:srgbClr val="FAFBF8"/>
          </a:solidFill>
          <a:ln xmlns:a="http://schemas.openxmlformats.org/drawingml/2006/main" w="11430">
            <a:solidFill>
              <a:srgbClr val="A9B3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4F53ACC-24FC-42C8-964D-487C0C882E2E}"/>
              </a:ext>
            </a:extLst>
          </p:cNvPr>
          <p:cNvSpPr>
            <a:spLocks xmlns:a="http://schemas.openxmlformats.org/drawingml/2006/main" noGrp="1"/>
          </p:cNvSpPr>
          <p:nvPr/>
        </p:nvSpPr>
        <p:spPr>
          <a:xfrm xmlns:a="http://schemas.openxmlformats.org/drawingml/2006/main">
            <a:off x="6953250" y="195262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WEALTH MEMO · RECOMMENDED ACTION</a:t>
            </a:r>
          </a:p>
        </p:txBody>
      </p:sp>
      <p:sp>
        <p:nvSpPr>
          <p:cNvPr id="16" name="">
            <a:extLst xmlns:a="http://schemas.openxmlformats.org/drawingml/2006/main">
              <a:ext uri="{FF2B5EF4-FFF2-40B4-BE49-F238E27FC236}">
                <a16:creationId xmlns:a16="http://schemas.microsoft.com/office/drawing/2014/main" id="{1B16B0C2-9F0E-4F0D-87BB-16E83C6C1E0F}"/>
              </a:ext>
            </a:extLst>
          </p:cNvPr>
          <p:cNvSpPr>
            <a:spLocks xmlns:a="http://schemas.openxmlformats.org/drawingml/2006/main" noGrp="1"/>
          </p:cNvSpPr>
          <p:nvPr/>
        </p:nvSpPr>
        <p:spPr>
          <a:xfrm xmlns:a="http://schemas.openxmlformats.org/drawingml/2006/main">
            <a:off x="6953250" y="2305050"/>
            <a:ext cx="4267200" cy="0"/>
          </a:xfrm>
          <a:prstGeom xmlns:a="http://schemas.openxmlformats.org/drawingml/2006/main" prst="line">
            <a:avLst/>
          </a:prstGeom>
          <a:noFill xmlns:a="http://schemas.openxmlformats.org/drawingml/2006/main"/>
          <a:ln xmlns:a="http://schemas.openxmlformats.org/drawingml/2006/main" w="9525">
            <a:solidFill>
              <a:srgbClr val="A9B3AC"/>
            </a:solidFill>
            <a:prstDash val="solid"/>
          </a:ln>
        </p:spPr>
      </p:sp>
      <p:sp>
        <p:nvSpPr>
          <p:cNvPr id="17" name="">
            <a:extLst xmlns:a="http://schemas.openxmlformats.org/drawingml/2006/main">
              <a:ext uri="{FF2B5EF4-FFF2-40B4-BE49-F238E27FC236}">
                <a16:creationId xmlns:a16="http://schemas.microsoft.com/office/drawing/2014/main" id="{236F2A8B-DA2D-406E-80D5-960689D8EBF8}"/>
              </a:ext>
            </a:extLst>
          </p:cNvPr>
          <p:cNvSpPr>
            <a:spLocks xmlns:a="http://schemas.openxmlformats.org/drawingml/2006/main" noGrp="1"/>
          </p:cNvSpPr>
          <p:nvPr/>
        </p:nvSpPr>
        <p:spPr>
          <a:xfrm xmlns:a="http://schemas.openxmlformats.org/drawingml/2006/main">
            <a:off x="6953250" y="2590800"/>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9E3E36"/>
                </a:solidFill>
                <a:latin typeface="Roboto Mono"/>
                <a:ea typeface="Roboto Mono"/>
                <a:cs typeface="Roboto Mono"/>
              </a:defRPr>
            </a:pPr>
            <a:r>
              <a:rPr sz="1425" b="1">
                <a:solidFill>
                  <a:srgbClr val="9E3E36"/>
                </a:solidFill>
                <a:latin typeface="Roboto Mono"/>
                <a:ea typeface="Roboto Mono"/>
                <a:cs typeface="Roboto Mono"/>
              </a:rPr>
              <a:t>TRIM</a:t>
            </a:r>
          </a:p>
        </p:txBody>
      </p:sp>
      <p:sp>
        <p:nvSpPr>
          <p:cNvPr id="18" name="">
            <a:extLst xmlns:a="http://schemas.openxmlformats.org/drawingml/2006/main">
              <a:ext uri="{FF2B5EF4-FFF2-40B4-BE49-F238E27FC236}">
                <a16:creationId xmlns:a16="http://schemas.microsoft.com/office/drawing/2014/main" id="{A08FD23F-1B7E-4250-A1C5-D7EF2ABA604E}"/>
              </a:ext>
            </a:extLst>
          </p:cNvPr>
          <p:cNvSpPr>
            <a:spLocks xmlns:a="http://schemas.openxmlformats.org/drawingml/2006/main" noGrp="1"/>
          </p:cNvSpPr>
          <p:nvPr/>
        </p:nvSpPr>
        <p:spPr>
          <a:xfrm xmlns:a="http://schemas.openxmlformats.org/drawingml/2006/main">
            <a:off x="7981950" y="2562225"/>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4181C"/>
                </a:solidFill>
                <a:latin typeface="Roboto Mono"/>
                <a:ea typeface="Roboto Mono"/>
                <a:cs typeface="Roboto Mono"/>
              </a:defRPr>
            </a:pPr>
            <a:r>
              <a:rPr sz="2025" b="1">
                <a:solidFill>
                  <a:srgbClr val="14181C"/>
                </a:solidFill>
                <a:latin typeface="Roboto Mono"/>
                <a:ea typeface="Roboto Mono"/>
                <a:cs typeface="Roboto Mono"/>
              </a:rPr>
              <a:t>AAPL</a:t>
            </a:r>
          </a:p>
        </p:txBody>
      </p:sp>
      <p:sp>
        <p:nvSpPr>
          <p:cNvPr id="19" name="">
            <a:extLst xmlns:a="http://schemas.openxmlformats.org/drawingml/2006/main">
              <a:ext uri="{FF2B5EF4-FFF2-40B4-BE49-F238E27FC236}">
                <a16:creationId xmlns:a16="http://schemas.microsoft.com/office/drawing/2014/main" id="{88DDC753-E793-40CE-BFF9-F617C7F1AE33}"/>
              </a:ext>
            </a:extLst>
          </p:cNvPr>
          <p:cNvSpPr>
            <a:spLocks xmlns:a="http://schemas.openxmlformats.org/drawingml/2006/main" noGrp="1"/>
          </p:cNvSpPr>
          <p:nvPr/>
        </p:nvSpPr>
        <p:spPr>
          <a:xfrm xmlns:a="http://schemas.openxmlformats.org/drawingml/2006/main">
            <a:off x="9210675" y="25622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950" b="1">
                <a:solidFill>
                  <a:srgbClr val="14181C"/>
                </a:solidFill>
                <a:latin typeface="Roboto Mono"/>
                <a:ea typeface="Roboto Mono"/>
                <a:cs typeface="Roboto Mono"/>
              </a:defRPr>
            </a:pPr>
            <a:r>
              <a:rPr sz="1950" b="1">
                <a:solidFill>
                  <a:srgbClr val="14181C"/>
                </a:solidFill>
                <a:latin typeface="Roboto Mono"/>
                <a:ea typeface="Roboto Mono"/>
                <a:cs typeface="Roboto Mono"/>
              </a:rPr>
              <a:t>−$11,759.48</a:t>
            </a:r>
          </a:p>
        </p:txBody>
      </p:sp>
      <p:sp>
        <p:nvSpPr>
          <p:cNvPr id="20" name="">
            <a:extLst xmlns:a="http://schemas.openxmlformats.org/drawingml/2006/main">
              <a:ext uri="{FF2B5EF4-FFF2-40B4-BE49-F238E27FC236}">
                <a16:creationId xmlns:a16="http://schemas.microsoft.com/office/drawing/2014/main" id="{4340DE89-D0B0-40AA-8A80-6EA243CD80EC}"/>
              </a:ext>
            </a:extLst>
          </p:cNvPr>
          <p:cNvSpPr>
            <a:spLocks xmlns:a="http://schemas.openxmlformats.org/drawingml/2006/main" noGrp="1"/>
          </p:cNvSpPr>
          <p:nvPr/>
        </p:nvSpPr>
        <p:spPr>
          <a:xfrm xmlns:a="http://schemas.openxmlformats.org/drawingml/2006/main">
            <a:off x="6953250" y="3143250"/>
            <a:ext cx="4267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444E54"/>
                </a:solidFill>
                <a:latin typeface="Arial"/>
                <a:ea typeface="Arial"/>
                <a:cs typeface="Arial"/>
              </a:defRPr>
            </a:pPr>
            <a:r>
              <a:rPr sz="1650" b="0">
                <a:solidFill>
                  <a:srgbClr val="444E54"/>
                </a:solidFill>
                <a:latin typeface="Arial"/>
                <a:ea typeface="Arial"/>
                <a:cs typeface="Arial"/>
              </a:rPr>
              <a:t>Information Technology is 34.71% of equity against a 25% target with a 5-point band.</a:t>
            </a:r>
          </a:p>
        </p:txBody>
      </p:sp>
      <p:sp>
        <p:nvSpPr>
          <p:cNvPr id="21" name="">
            <a:extLst xmlns:a="http://schemas.openxmlformats.org/drawingml/2006/main">
              <a:ext uri="{FF2B5EF4-FFF2-40B4-BE49-F238E27FC236}">
                <a16:creationId xmlns:a16="http://schemas.microsoft.com/office/drawing/2014/main" id="{0823DF1E-75E6-43AB-A5D7-02A9A60CD3B6}"/>
              </a:ext>
            </a:extLst>
          </p:cNvPr>
          <p:cNvSpPr>
            <a:spLocks xmlns:a="http://schemas.openxmlformats.org/drawingml/2006/main" noGrp="1"/>
          </p:cNvSpPr>
          <p:nvPr/>
        </p:nvSpPr>
        <p:spPr>
          <a:xfrm xmlns:a="http://schemas.openxmlformats.org/drawingml/2006/main">
            <a:off x="6953250" y="4095750"/>
            <a:ext cx="42672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22" name="">
            <a:extLst xmlns:a="http://schemas.openxmlformats.org/drawingml/2006/main">
              <a:ext uri="{FF2B5EF4-FFF2-40B4-BE49-F238E27FC236}">
                <a16:creationId xmlns:a16="http://schemas.microsoft.com/office/drawing/2014/main" id="{40B07109-2AB0-43BA-8125-B952AF8F878C}"/>
              </a:ext>
            </a:extLst>
          </p:cNvPr>
          <p:cNvSpPr>
            <a:spLocks xmlns:a="http://schemas.openxmlformats.org/drawingml/2006/main" noGrp="1"/>
          </p:cNvSpPr>
          <p:nvPr/>
        </p:nvSpPr>
        <p:spPr>
          <a:xfrm xmlns:a="http://schemas.openxmlformats.org/drawingml/2006/main">
            <a:off x="6953250" y="4391025"/>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a:solidFill>
                  <a:srgbClr val="14181C"/>
                </a:solidFill>
                <a:latin typeface="Arial"/>
                <a:ea typeface="Arial"/>
                <a:cs typeface="Arial"/>
              </a:defRPr>
            </a:pPr>
            <a:r>
              <a:rPr sz="1875" b="1">
                <a:solidFill>
                  <a:srgbClr val="14181C"/>
                </a:solidFill>
                <a:latin typeface="Arial"/>
                <a:ea typeface="Arial"/>
                <a:cs typeface="Arial"/>
              </a:rPr>
              <a:t>The arithmetic is precise. The trust boundary is not.</a:t>
            </a:r>
          </a:p>
        </p:txBody>
      </p:sp>
      <p:sp>
        <p:nvSpPr>
          <p:cNvPr id="23" name="">
            <a:extLst xmlns:a="http://schemas.openxmlformats.org/drawingml/2006/main">
              <a:ext uri="{FF2B5EF4-FFF2-40B4-BE49-F238E27FC236}">
                <a16:creationId xmlns:a16="http://schemas.microsoft.com/office/drawing/2014/main" id="{3C24C5B0-551D-499D-958D-84FBF36656DF}"/>
              </a:ext>
            </a:extLst>
          </p:cNvPr>
          <p:cNvSpPr>
            <a:spLocks xmlns:a="http://schemas.openxmlformats.org/drawingml/2006/main" noGrp="1"/>
          </p:cNvSpPr>
          <p:nvPr/>
        </p:nvSpPr>
        <p:spPr>
          <a:xfrm xmlns:a="http://schemas.openxmlformats.org/drawingml/2006/main">
            <a:off x="6953250" y="52006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24726A"/>
                </a:solidFill>
                <a:latin typeface="Roboto Mono"/>
                <a:ea typeface="Roboto Mono"/>
                <a:cs typeface="Roboto Mono"/>
              </a:defRPr>
            </a:pPr>
            <a:r>
              <a:rPr sz="1275" b="1">
                <a:solidFill>
                  <a:srgbClr val="24726A"/>
                </a:solidFill>
                <a:latin typeface="Roboto Mono"/>
                <a:ea typeface="Roboto Mono"/>
                <a:cs typeface="Roboto Mono"/>
              </a:rPr>
              <a:t>Fluency is visible. Defensibility must be engineered.</a:t>
            </a:r>
          </a:p>
        </p:txBody>
      </p:sp>
      <p:sp>
        <p:nvSpPr>
          <p:cNvPr id="24" name="">
            <a:extLst xmlns:a="http://schemas.openxmlformats.org/drawingml/2006/main">
              <a:ext uri="{FF2B5EF4-FFF2-40B4-BE49-F238E27FC236}">
                <a16:creationId xmlns:a16="http://schemas.microsoft.com/office/drawing/2014/main" id="{8EFC9B81-625A-4D74-87D9-39D43E44D7EB}"/>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5" name="">
            <a:extLst xmlns:a="http://schemas.openxmlformats.org/drawingml/2006/main">
              <a:ext uri="{FF2B5EF4-FFF2-40B4-BE49-F238E27FC236}">
                <a16:creationId xmlns:a16="http://schemas.microsoft.com/office/drawing/2014/main" id="{40278EEB-DFEF-4AAF-B69C-4204AC6113B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02</a:t>
            </a:r>
          </a:p>
        </p:txBody>
      </p:sp>
    </p:spTree>
    <p:extLst>
      <p:ext uri="{BB962C8B-B14F-4D97-AF65-F5344CB8AC3E}">
        <p14:creationId xmlns:p14="http://schemas.microsoft.com/office/powerpoint/2010/main" val="7835709"/>
      </p:ext>
    </p:extLst>
  </p:cSld>
</p:sld>
</file>

<file path=ppt/slides/slide3.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014B34F-46E5-41B2-AD83-D221F1FED9EA}"/>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FRAMEWORK MAP</a:t>
            </a:r>
          </a:p>
        </p:txBody>
      </p:sp>
      <p:sp>
        <p:nvSpPr>
          <p:cNvPr id="2" name="slide-3-title">
            <a:extLst xmlns:a="http://schemas.openxmlformats.org/drawingml/2006/main">
              <a:ext uri="{FF2B5EF4-FFF2-40B4-BE49-F238E27FC236}">
                <a16:creationId xmlns:a16="http://schemas.microsoft.com/office/drawing/2014/main" id="{43FF528E-4243-45E2-92BE-61632D8E7948}"/>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Use each LangChain layer for the job it does best</a:t>
            </a:r>
          </a:p>
        </p:txBody>
      </p:sp>
      <p:sp>
        <p:nvSpPr>
          <p:cNvPr id="3" name="">
            <a:extLst xmlns:a="http://schemas.openxmlformats.org/drawingml/2006/main">
              <a:ext uri="{FF2B5EF4-FFF2-40B4-BE49-F238E27FC236}">
                <a16:creationId xmlns:a16="http://schemas.microsoft.com/office/drawing/2014/main" id="{7C26CCEB-0378-479E-9782-A6F18EC3AACB}"/>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E7669F7B-7BB8-4D73-914E-487E11ECAC10}"/>
              </a:ext>
            </a:extLst>
          </p:cNvPr>
          <p:cNvSpPr>
            <a:spLocks xmlns:a="http://schemas.openxmlformats.org/drawingml/2006/main" noGrp="1"/>
          </p:cNvSpPr>
          <p:nvPr/>
        </p:nvSpPr>
        <p:spPr>
          <a:xfrm xmlns:a="http://schemas.openxmlformats.org/drawingml/2006/main">
            <a:off x="800100" y="1638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LAYER</a:t>
            </a:r>
          </a:p>
        </p:txBody>
      </p:sp>
      <p:sp>
        <p:nvSpPr>
          <p:cNvPr id="5" name="">
            <a:extLst xmlns:a="http://schemas.openxmlformats.org/drawingml/2006/main">
              <a:ext uri="{FF2B5EF4-FFF2-40B4-BE49-F238E27FC236}">
                <a16:creationId xmlns:a16="http://schemas.microsoft.com/office/drawing/2014/main" id="{9BC51AC5-790C-41F7-9075-0B79CFD7587C}"/>
              </a:ext>
            </a:extLst>
          </p:cNvPr>
          <p:cNvSpPr>
            <a:spLocks xmlns:a="http://schemas.openxmlformats.org/drawingml/2006/main" noGrp="1"/>
          </p:cNvSpPr>
          <p:nvPr/>
        </p:nvSpPr>
        <p:spPr>
          <a:xfrm xmlns:a="http://schemas.openxmlformats.org/drawingml/2006/main">
            <a:off x="2952750" y="16383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WHAT IT ADDS</a:t>
            </a:r>
          </a:p>
        </p:txBody>
      </p:sp>
      <p:sp>
        <p:nvSpPr>
          <p:cNvPr id="6" name="">
            <a:extLst xmlns:a="http://schemas.openxmlformats.org/drawingml/2006/main">
              <a:ext uri="{FF2B5EF4-FFF2-40B4-BE49-F238E27FC236}">
                <a16:creationId xmlns:a16="http://schemas.microsoft.com/office/drawing/2014/main" id="{97462D8D-5F28-47A3-A8BB-BC5C2A09A0A8}"/>
              </a:ext>
            </a:extLst>
          </p:cNvPr>
          <p:cNvSpPr>
            <a:spLocks xmlns:a="http://schemas.openxmlformats.org/drawingml/2006/main" noGrp="1"/>
          </p:cNvSpPr>
          <p:nvPr/>
        </p:nvSpPr>
        <p:spPr>
          <a:xfrm xmlns:a="http://schemas.openxmlformats.org/drawingml/2006/main">
            <a:off x="7000875" y="16383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HOW THE WEALTH AGENT USES IT</a:t>
            </a:r>
          </a:p>
        </p:txBody>
      </p:sp>
      <p:sp>
        <p:nvSpPr>
          <p:cNvPr id="7" name="">
            <a:extLst xmlns:a="http://schemas.openxmlformats.org/drawingml/2006/main">
              <a:ext uri="{FF2B5EF4-FFF2-40B4-BE49-F238E27FC236}">
                <a16:creationId xmlns:a16="http://schemas.microsoft.com/office/drawing/2014/main" id="{7A617FE9-D357-4539-99C9-6B2B19A29AE6}"/>
              </a:ext>
            </a:extLst>
          </p:cNvPr>
          <p:cNvSpPr>
            <a:spLocks xmlns:a="http://schemas.openxmlformats.org/drawingml/2006/main" noGrp="1"/>
          </p:cNvSpPr>
          <p:nvPr/>
        </p:nvSpPr>
        <p:spPr>
          <a:xfrm xmlns:a="http://schemas.openxmlformats.org/drawingml/2006/main">
            <a:off x="685800" y="2019300"/>
            <a:ext cx="10744200" cy="819150"/>
          </a:xfrm>
          <a:prstGeom xmlns:a="http://schemas.openxmlformats.org/drawingml/2006/main" prst="rect">
            <a:avLst/>
          </a:prstGeom>
          <a:solidFill xmlns:a="http://schemas.openxmlformats.org/drawingml/2006/main">
            <a:srgbClr val="DCE8E5"/>
          </a:solidFill>
          <a:ln xmlns:a="http://schemas.openxmlformats.org/drawingml/2006/main" w="9525">
            <a:solidFill>
              <a:srgbClr val="CBD2CA"/>
            </a:solidFill>
            <a:prstDash val="solid"/>
          </a:ln>
        </p:spPr>
      </p:sp>
      <p:sp>
        <p:nvSpPr>
          <p:cNvPr id="8" name="">
            <a:extLst xmlns:a="http://schemas.openxmlformats.org/drawingml/2006/main">
              <a:ext uri="{FF2B5EF4-FFF2-40B4-BE49-F238E27FC236}">
                <a16:creationId xmlns:a16="http://schemas.microsoft.com/office/drawing/2014/main" id="{8530267F-4067-4A4B-9FDE-7D36B6B4C699}"/>
              </a:ext>
            </a:extLst>
          </p:cNvPr>
          <p:cNvSpPr>
            <a:spLocks xmlns:a="http://schemas.openxmlformats.org/drawingml/2006/main" noGrp="1"/>
          </p:cNvSpPr>
          <p:nvPr/>
        </p:nvSpPr>
        <p:spPr>
          <a:xfrm xmlns:a="http://schemas.openxmlformats.org/drawingml/2006/main">
            <a:off x="876300" y="2190750"/>
            <a:ext cx="1885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Deep Agents</a:t>
            </a:r>
          </a:p>
        </p:txBody>
      </p:sp>
      <p:sp>
        <p:nvSpPr>
          <p:cNvPr id="9" name="">
            <a:extLst xmlns:a="http://schemas.openxmlformats.org/drawingml/2006/main">
              <a:ext uri="{FF2B5EF4-FFF2-40B4-BE49-F238E27FC236}">
                <a16:creationId xmlns:a16="http://schemas.microsoft.com/office/drawing/2014/main" id="{6F20615E-4067-494E-ABB6-DC7BA6947BD9}"/>
              </a:ext>
            </a:extLst>
          </p:cNvPr>
          <p:cNvSpPr>
            <a:spLocks xmlns:a="http://schemas.openxmlformats.org/drawingml/2006/main" noGrp="1"/>
          </p:cNvSpPr>
          <p:nvPr/>
        </p:nvSpPr>
        <p:spPr>
          <a:xfrm xmlns:a="http://schemas.openxmlformats.org/drawingml/2006/main">
            <a:off x="2952750" y="2209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444E54"/>
                </a:solidFill>
                <a:latin typeface="Arial"/>
                <a:ea typeface="Arial"/>
                <a:cs typeface="Arial"/>
              </a:defRPr>
            </a:pPr>
            <a:r>
              <a:rPr sz="1500" b="0">
                <a:solidFill>
                  <a:srgbClr val="444E54"/>
                </a:solidFill>
                <a:latin typeface="Arial"/>
                <a:ea typeface="Arial"/>
                <a:cs typeface="Arial"/>
              </a:rPr>
              <a:t>Opinionated harness</a:t>
            </a:r>
          </a:p>
        </p:txBody>
      </p:sp>
      <p:sp>
        <p:nvSpPr>
          <p:cNvPr id="10" name="">
            <a:extLst xmlns:a="http://schemas.openxmlformats.org/drawingml/2006/main">
              <a:ext uri="{FF2B5EF4-FFF2-40B4-BE49-F238E27FC236}">
                <a16:creationId xmlns:a16="http://schemas.microsoft.com/office/drawing/2014/main" id="{8F1DF590-6A17-46AD-8AC3-7C702873EF4C}"/>
              </a:ext>
            </a:extLst>
          </p:cNvPr>
          <p:cNvSpPr>
            <a:spLocks xmlns:a="http://schemas.openxmlformats.org/drawingml/2006/main" noGrp="1"/>
          </p:cNvSpPr>
          <p:nvPr/>
        </p:nvSpPr>
        <p:spPr>
          <a:xfrm xmlns:a="http://schemas.openxmlformats.org/drawingml/2006/main">
            <a:off x="7000875" y="21717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4181C"/>
                </a:solidFill>
                <a:latin typeface="Arial"/>
                <a:ea typeface="Arial"/>
                <a:cs typeface="Arial"/>
              </a:defRPr>
            </a:pPr>
            <a:r>
              <a:rPr sz="1425" b="0">
                <a:solidFill>
                  <a:srgbClr val="14181C"/>
                </a:solidFill>
                <a:latin typeface="Arial"/>
                <a:ea typeface="Arial"/>
                <a:cs typeface="Arial"/>
              </a:rPr>
              <a:t>Supervisor + 3 analysts; filesystem, skills, subagents, permissions</a:t>
            </a:r>
          </a:p>
        </p:txBody>
      </p:sp>
      <p:sp>
        <p:nvSpPr>
          <p:cNvPr id="11" name="">
            <a:extLst xmlns:a="http://schemas.openxmlformats.org/drawingml/2006/main">
              <a:ext uri="{FF2B5EF4-FFF2-40B4-BE49-F238E27FC236}">
                <a16:creationId xmlns:a16="http://schemas.microsoft.com/office/drawing/2014/main" id="{6A903D05-9033-44E0-9AEE-1A3A95DB3EED}"/>
              </a:ext>
            </a:extLst>
          </p:cNvPr>
          <p:cNvSpPr>
            <a:spLocks xmlns:a="http://schemas.openxmlformats.org/drawingml/2006/main" noGrp="1"/>
          </p:cNvSpPr>
          <p:nvPr/>
        </p:nvSpPr>
        <p:spPr>
          <a:xfrm xmlns:a="http://schemas.openxmlformats.org/drawingml/2006/main">
            <a:off x="685800" y="2933700"/>
            <a:ext cx="10744200" cy="819150"/>
          </a:xfrm>
          <a:prstGeom xmlns:a="http://schemas.openxmlformats.org/drawingml/2006/main" prst="rect">
            <a:avLst/>
          </a:prstGeom>
          <a:solidFill xmlns:a="http://schemas.openxmlformats.org/drawingml/2006/main">
            <a:srgbClr val="E7EAE4"/>
          </a:solidFill>
          <a:ln xmlns:a="http://schemas.openxmlformats.org/drawingml/2006/main" w="9525">
            <a:solidFill>
              <a:srgbClr val="CBD2CA"/>
            </a:solidFill>
            <a:prstDash val="solid"/>
          </a:ln>
        </p:spPr>
      </p:sp>
      <p:sp>
        <p:nvSpPr>
          <p:cNvPr id="12" name="">
            <a:extLst xmlns:a="http://schemas.openxmlformats.org/drawingml/2006/main">
              <a:ext uri="{FF2B5EF4-FFF2-40B4-BE49-F238E27FC236}">
                <a16:creationId xmlns:a16="http://schemas.microsoft.com/office/drawing/2014/main" id="{3AA565BE-62FA-4AF4-BE15-9BEC5D90CC59}"/>
              </a:ext>
            </a:extLst>
          </p:cNvPr>
          <p:cNvSpPr>
            <a:spLocks xmlns:a="http://schemas.openxmlformats.org/drawingml/2006/main" noGrp="1"/>
          </p:cNvSpPr>
          <p:nvPr/>
        </p:nvSpPr>
        <p:spPr>
          <a:xfrm xmlns:a="http://schemas.openxmlformats.org/drawingml/2006/main">
            <a:off x="876300" y="3105150"/>
            <a:ext cx="1885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LangGraph</a:t>
            </a:r>
          </a:p>
        </p:txBody>
      </p:sp>
      <p:sp>
        <p:nvSpPr>
          <p:cNvPr id="13" name="">
            <a:extLst xmlns:a="http://schemas.openxmlformats.org/drawingml/2006/main">
              <a:ext uri="{FF2B5EF4-FFF2-40B4-BE49-F238E27FC236}">
                <a16:creationId xmlns:a16="http://schemas.microsoft.com/office/drawing/2014/main" id="{06E2958F-2F36-4BEC-B84D-CFD29A842374}"/>
              </a:ext>
            </a:extLst>
          </p:cNvPr>
          <p:cNvSpPr>
            <a:spLocks xmlns:a="http://schemas.openxmlformats.org/drawingml/2006/main" noGrp="1"/>
          </p:cNvSpPr>
          <p:nvPr/>
        </p:nvSpPr>
        <p:spPr>
          <a:xfrm xmlns:a="http://schemas.openxmlformats.org/drawingml/2006/main">
            <a:off x="2952750" y="31242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444E54"/>
                </a:solidFill>
                <a:latin typeface="Arial"/>
                <a:ea typeface="Arial"/>
                <a:cs typeface="Arial"/>
              </a:defRPr>
            </a:pPr>
            <a:r>
              <a:rPr sz="1500" b="0">
                <a:solidFill>
                  <a:srgbClr val="444E54"/>
                </a:solidFill>
                <a:latin typeface="Arial"/>
                <a:ea typeface="Arial"/>
                <a:cs typeface="Arial"/>
              </a:rPr>
              <a:t>Durable runtime</a:t>
            </a:r>
          </a:p>
        </p:txBody>
      </p:sp>
      <p:sp>
        <p:nvSpPr>
          <p:cNvPr id="14" name="">
            <a:extLst xmlns:a="http://schemas.openxmlformats.org/drawingml/2006/main">
              <a:ext uri="{FF2B5EF4-FFF2-40B4-BE49-F238E27FC236}">
                <a16:creationId xmlns:a16="http://schemas.microsoft.com/office/drawing/2014/main" id="{BF93FE1A-0414-4170-AA6C-127DB07B07A6}"/>
              </a:ext>
            </a:extLst>
          </p:cNvPr>
          <p:cNvSpPr>
            <a:spLocks xmlns:a="http://schemas.openxmlformats.org/drawingml/2006/main" noGrp="1"/>
          </p:cNvSpPr>
          <p:nvPr/>
        </p:nvSpPr>
        <p:spPr>
          <a:xfrm xmlns:a="http://schemas.openxmlformats.org/drawingml/2006/main">
            <a:off x="7000875" y="30861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4181C"/>
                </a:solidFill>
                <a:latin typeface="Arial"/>
                <a:ea typeface="Arial"/>
                <a:cs typeface="Arial"/>
              </a:defRPr>
            </a:pPr>
            <a:r>
              <a:rPr sz="1425" b="0">
                <a:solidFill>
                  <a:srgbClr val="14181C"/>
                </a:solidFill>
                <a:latin typeface="Arial"/>
                <a:ea typeface="Arial"/>
                <a:cs typeface="Arial"/>
              </a:rPr>
              <a:t>State, checkpointing, streaming, interrupts, resume</a:t>
            </a:r>
          </a:p>
        </p:txBody>
      </p:sp>
      <p:sp>
        <p:nvSpPr>
          <p:cNvPr id="15" name="">
            <a:extLst xmlns:a="http://schemas.openxmlformats.org/drawingml/2006/main">
              <a:ext uri="{FF2B5EF4-FFF2-40B4-BE49-F238E27FC236}">
                <a16:creationId xmlns:a16="http://schemas.microsoft.com/office/drawing/2014/main" id="{14F6366C-2DD1-4929-8DAD-12149226FF52}"/>
              </a:ext>
            </a:extLst>
          </p:cNvPr>
          <p:cNvSpPr>
            <a:spLocks xmlns:a="http://schemas.openxmlformats.org/drawingml/2006/main" noGrp="1"/>
          </p:cNvSpPr>
          <p:nvPr/>
        </p:nvSpPr>
        <p:spPr>
          <a:xfrm xmlns:a="http://schemas.openxmlformats.org/drawingml/2006/main">
            <a:off x="685800" y="3848100"/>
            <a:ext cx="10744200" cy="819150"/>
          </a:xfrm>
          <a:prstGeom xmlns:a="http://schemas.openxmlformats.org/drawingml/2006/main" prst="rect">
            <a:avLst/>
          </a:prstGeom>
          <a:solidFill xmlns:a="http://schemas.openxmlformats.org/drawingml/2006/main">
            <a:srgbClr val="FAFBF8"/>
          </a:solidFill>
          <a:ln xmlns:a="http://schemas.openxmlformats.org/drawingml/2006/main" w="9525">
            <a:solidFill>
              <a:srgbClr val="CBD2CA"/>
            </a:solidFill>
            <a:prstDash val="solid"/>
          </a:ln>
        </p:spPr>
      </p:sp>
      <p:sp>
        <p:nvSpPr>
          <p:cNvPr id="16" name="">
            <a:extLst xmlns:a="http://schemas.openxmlformats.org/drawingml/2006/main">
              <a:ext uri="{FF2B5EF4-FFF2-40B4-BE49-F238E27FC236}">
                <a16:creationId xmlns:a16="http://schemas.microsoft.com/office/drawing/2014/main" id="{69EFE40E-CF0F-4599-AB7C-7C027266C265}"/>
              </a:ext>
            </a:extLst>
          </p:cNvPr>
          <p:cNvSpPr>
            <a:spLocks xmlns:a="http://schemas.openxmlformats.org/drawingml/2006/main" noGrp="1"/>
          </p:cNvSpPr>
          <p:nvPr/>
        </p:nvSpPr>
        <p:spPr>
          <a:xfrm xmlns:a="http://schemas.openxmlformats.org/drawingml/2006/main">
            <a:off x="876300" y="4019550"/>
            <a:ext cx="1885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LangChain</a:t>
            </a:r>
          </a:p>
        </p:txBody>
      </p:sp>
      <p:sp>
        <p:nvSpPr>
          <p:cNvPr id="17" name="">
            <a:extLst xmlns:a="http://schemas.openxmlformats.org/drawingml/2006/main">
              <a:ext uri="{FF2B5EF4-FFF2-40B4-BE49-F238E27FC236}">
                <a16:creationId xmlns:a16="http://schemas.microsoft.com/office/drawing/2014/main" id="{58600E15-440D-4F65-BE97-0F058A59F280}"/>
              </a:ext>
            </a:extLst>
          </p:cNvPr>
          <p:cNvSpPr>
            <a:spLocks xmlns:a="http://schemas.openxmlformats.org/drawingml/2006/main" noGrp="1"/>
          </p:cNvSpPr>
          <p:nvPr/>
        </p:nvSpPr>
        <p:spPr>
          <a:xfrm xmlns:a="http://schemas.openxmlformats.org/drawingml/2006/main">
            <a:off x="295275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444E54"/>
                </a:solidFill>
                <a:latin typeface="Arial"/>
                <a:ea typeface="Arial"/>
                <a:cs typeface="Arial"/>
              </a:defRPr>
            </a:pPr>
            <a:r>
              <a:rPr sz="1500" b="0">
                <a:solidFill>
                  <a:srgbClr val="444E54"/>
                </a:solidFill>
                <a:latin typeface="Arial"/>
                <a:ea typeface="Arial"/>
                <a:cs typeface="Arial"/>
              </a:rPr>
              <a:t>Agent framework</a:t>
            </a:r>
          </a:p>
        </p:txBody>
      </p:sp>
      <p:sp>
        <p:nvSpPr>
          <p:cNvPr id="18" name="">
            <a:extLst xmlns:a="http://schemas.openxmlformats.org/drawingml/2006/main">
              <a:ext uri="{FF2B5EF4-FFF2-40B4-BE49-F238E27FC236}">
                <a16:creationId xmlns:a16="http://schemas.microsoft.com/office/drawing/2014/main" id="{93863EAD-6A62-457B-A49C-84064603FFB7}"/>
              </a:ext>
            </a:extLst>
          </p:cNvPr>
          <p:cNvSpPr>
            <a:spLocks xmlns:a="http://schemas.openxmlformats.org/drawingml/2006/main" noGrp="1"/>
          </p:cNvSpPr>
          <p:nvPr/>
        </p:nvSpPr>
        <p:spPr>
          <a:xfrm xmlns:a="http://schemas.openxmlformats.org/drawingml/2006/main">
            <a:off x="7000875" y="40005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4181C"/>
                </a:solidFill>
                <a:latin typeface="Arial"/>
                <a:ea typeface="Arial"/>
                <a:cs typeface="Arial"/>
              </a:defRPr>
            </a:pPr>
            <a:r>
              <a:rPr sz="1425" b="0">
                <a:solidFill>
                  <a:srgbClr val="14181C"/>
                </a:solidFill>
                <a:latin typeface="Arial"/>
                <a:ea typeface="Arial"/>
                <a:cs typeface="Arial"/>
              </a:rPr>
              <a:t>Tools, middleware, agent loop, typed structured output</a:t>
            </a:r>
          </a:p>
        </p:txBody>
      </p:sp>
      <p:sp>
        <p:nvSpPr>
          <p:cNvPr id="19" name="">
            <a:extLst xmlns:a="http://schemas.openxmlformats.org/drawingml/2006/main">
              <a:ext uri="{FF2B5EF4-FFF2-40B4-BE49-F238E27FC236}">
                <a16:creationId xmlns:a16="http://schemas.microsoft.com/office/drawing/2014/main" id="{69077BAB-2F21-4F3B-9373-1557C38316A5}"/>
              </a:ext>
            </a:extLst>
          </p:cNvPr>
          <p:cNvSpPr>
            <a:spLocks xmlns:a="http://schemas.openxmlformats.org/drawingml/2006/main" noGrp="1"/>
          </p:cNvSpPr>
          <p:nvPr/>
        </p:nvSpPr>
        <p:spPr>
          <a:xfrm xmlns:a="http://schemas.openxmlformats.org/drawingml/2006/main">
            <a:off x="685800" y="4762500"/>
            <a:ext cx="10744200" cy="819150"/>
          </a:xfrm>
          <a:prstGeom xmlns:a="http://schemas.openxmlformats.org/drawingml/2006/main" prst="rect">
            <a:avLst/>
          </a:prstGeom>
          <a:solidFill xmlns:a="http://schemas.openxmlformats.org/drawingml/2006/main">
            <a:srgbClr val="E2ECE4"/>
          </a:solidFill>
          <a:ln xmlns:a="http://schemas.openxmlformats.org/drawingml/2006/main" w="9525">
            <a:solidFill>
              <a:srgbClr val="CBD2CA"/>
            </a:solidFill>
            <a:prstDash val="solid"/>
          </a:ln>
        </p:spPr>
      </p:sp>
      <p:sp>
        <p:nvSpPr>
          <p:cNvPr id="20" name="">
            <a:extLst xmlns:a="http://schemas.openxmlformats.org/drawingml/2006/main">
              <a:ext uri="{FF2B5EF4-FFF2-40B4-BE49-F238E27FC236}">
                <a16:creationId xmlns:a16="http://schemas.microsoft.com/office/drawing/2014/main" id="{87D34BE1-EF33-4858-9E97-4586C08A6A2B}"/>
              </a:ext>
            </a:extLst>
          </p:cNvPr>
          <p:cNvSpPr>
            <a:spLocks xmlns:a="http://schemas.openxmlformats.org/drawingml/2006/main" noGrp="1"/>
          </p:cNvSpPr>
          <p:nvPr/>
        </p:nvSpPr>
        <p:spPr>
          <a:xfrm xmlns:a="http://schemas.openxmlformats.org/drawingml/2006/main">
            <a:off x="876300" y="4933950"/>
            <a:ext cx="1885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LangSmith</a:t>
            </a:r>
          </a:p>
        </p:txBody>
      </p:sp>
      <p:sp>
        <p:nvSpPr>
          <p:cNvPr id="21" name="">
            <a:extLst xmlns:a="http://schemas.openxmlformats.org/drawingml/2006/main">
              <a:ext uri="{FF2B5EF4-FFF2-40B4-BE49-F238E27FC236}">
                <a16:creationId xmlns:a16="http://schemas.microsoft.com/office/drawing/2014/main" id="{A3FA882B-CD6A-405B-B738-04C5A26A457B}"/>
              </a:ext>
            </a:extLst>
          </p:cNvPr>
          <p:cNvSpPr>
            <a:spLocks xmlns:a="http://schemas.openxmlformats.org/drawingml/2006/main" noGrp="1"/>
          </p:cNvSpPr>
          <p:nvPr/>
        </p:nvSpPr>
        <p:spPr>
          <a:xfrm xmlns:a="http://schemas.openxmlformats.org/drawingml/2006/main">
            <a:off x="2952750" y="4953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444E54"/>
                </a:solidFill>
                <a:latin typeface="Arial"/>
                <a:ea typeface="Arial"/>
                <a:cs typeface="Arial"/>
              </a:defRPr>
            </a:pPr>
            <a:r>
              <a:rPr sz="1500" b="0">
                <a:solidFill>
                  <a:srgbClr val="444E54"/>
                </a:solidFill>
                <a:latin typeface="Arial"/>
                <a:ea typeface="Arial"/>
                <a:cs typeface="Arial"/>
              </a:rPr>
              <a:t>Engineering lifecycle</a:t>
            </a:r>
          </a:p>
        </p:txBody>
      </p:sp>
      <p:sp>
        <p:nvSpPr>
          <p:cNvPr id="22" name="">
            <a:extLst xmlns:a="http://schemas.openxmlformats.org/drawingml/2006/main">
              <a:ext uri="{FF2B5EF4-FFF2-40B4-BE49-F238E27FC236}">
                <a16:creationId xmlns:a16="http://schemas.microsoft.com/office/drawing/2014/main" id="{D065B5E1-D6D2-44BF-87C9-3A3E73AF66FA}"/>
              </a:ext>
            </a:extLst>
          </p:cNvPr>
          <p:cNvSpPr>
            <a:spLocks xmlns:a="http://schemas.openxmlformats.org/drawingml/2006/main" noGrp="1"/>
          </p:cNvSpPr>
          <p:nvPr/>
        </p:nvSpPr>
        <p:spPr>
          <a:xfrm xmlns:a="http://schemas.openxmlformats.org/drawingml/2006/main">
            <a:off x="7000875" y="49149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4181C"/>
                </a:solidFill>
                <a:latin typeface="Arial"/>
                <a:ea typeface="Arial"/>
                <a:cs typeface="Arial"/>
              </a:defRPr>
            </a:pPr>
            <a:r>
              <a:rPr sz="1425" b="0">
                <a:solidFill>
                  <a:srgbClr val="14181C"/>
                </a:solidFill>
                <a:latin typeface="Arial"/>
                <a:ea typeface="Arial"/>
                <a:cs typeface="Arial"/>
              </a:rPr>
              <a:t>Traces, datasets, experiments, evaluation, monitoring</a:t>
            </a:r>
          </a:p>
        </p:txBody>
      </p:sp>
      <p:sp>
        <p:nvSpPr>
          <p:cNvPr id="23" name="">
            <a:extLst xmlns:a="http://schemas.openxmlformats.org/drawingml/2006/main">
              <a:ext uri="{FF2B5EF4-FFF2-40B4-BE49-F238E27FC236}">
                <a16:creationId xmlns:a16="http://schemas.microsoft.com/office/drawing/2014/main" id="{1571AA0B-F9B8-4C0F-BEB3-A83FF2EAAF3C}"/>
              </a:ext>
            </a:extLst>
          </p:cNvPr>
          <p:cNvSpPr>
            <a:spLocks xmlns:a="http://schemas.openxmlformats.org/drawingml/2006/main" noGrp="1"/>
          </p:cNvSpPr>
          <p:nvPr/>
        </p:nvSpPr>
        <p:spPr>
          <a:xfrm xmlns:a="http://schemas.openxmlformats.org/drawingml/2006/main">
            <a:off x="6858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24726A"/>
                </a:solidFill>
                <a:latin typeface="Arial"/>
                <a:ea typeface="Arial"/>
                <a:cs typeface="Arial"/>
              </a:defRPr>
            </a:pPr>
            <a:r>
              <a:rPr sz="2025" b="1">
                <a:solidFill>
                  <a:srgbClr val="24726A"/>
                </a:solidFill>
                <a:latin typeface="Arial"/>
                <a:ea typeface="Arial"/>
                <a:cs typeface="Arial"/>
              </a:rPr>
              <a:t>Choose the smallest layer that solves the problem.</a:t>
            </a:r>
          </a:p>
        </p:txBody>
      </p:sp>
      <p:sp>
        <p:nvSpPr>
          <p:cNvPr id="24" name="">
            <a:extLst xmlns:a="http://schemas.openxmlformats.org/drawingml/2006/main">
              <a:ext uri="{FF2B5EF4-FFF2-40B4-BE49-F238E27FC236}">
                <a16:creationId xmlns:a16="http://schemas.microsoft.com/office/drawing/2014/main" id="{086FFF83-C5A9-426C-B0B5-0F8C77688E48}"/>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5" name="">
            <a:extLst xmlns:a="http://schemas.openxmlformats.org/drawingml/2006/main">
              <a:ext uri="{FF2B5EF4-FFF2-40B4-BE49-F238E27FC236}">
                <a16:creationId xmlns:a16="http://schemas.microsoft.com/office/drawing/2014/main" id="{D0FB1165-DF3D-4FE1-982A-C610A457128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03</a:t>
            </a:r>
          </a:p>
        </p:txBody>
      </p:sp>
    </p:spTree>
    <p:extLst>
      <p:ext uri="{BB962C8B-B14F-4D97-AF65-F5344CB8AC3E}">
        <p14:creationId xmlns:p14="http://schemas.microsoft.com/office/powerpoint/2010/main" val="732533904"/>
      </p:ext>
    </p:extLst>
  </p:cSld>
</p:sld>
</file>

<file path=ppt/slides/slide4.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6F3D58F-B77D-470B-98EC-16F1D3833197}"/>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ARCHITECTURE</a:t>
            </a:r>
          </a:p>
        </p:txBody>
      </p:sp>
      <p:sp>
        <p:nvSpPr>
          <p:cNvPr id="2" name="slide-4-title">
            <a:extLst xmlns:a="http://schemas.openxmlformats.org/drawingml/2006/main">
              <a:ext uri="{FF2B5EF4-FFF2-40B4-BE49-F238E27FC236}">
                <a16:creationId xmlns:a16="http://schemas.microsoft.com/office/drawing/2014/main" id="{3F73BB5F-39F1-4C03-8E7E-AC2C923A67D7}"/>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A subagent is a context window with a job</a:t>
            </a:r>
          </a:p>
        </p:txBody>
      </p:sp>
      <p:sp>
        <p:nvSpPr>
          <p:cNvPr id="3" name="">
            <a:extLst xmlns:a="http://schemas.openxmlformats.org/drawingml/2006/main">
              <a:ext uri="{FF2B5EF4-FFF2-40B4-BE49-F238E27FC236}">
                <a16:creationId xmlns:a16="http://schemas.microsoft.com/office/drawing/2014/main" id="{358EC059-5F13-4C2E-A1C2-ECFA375A2998}"/>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supervisor-node">
            <a:extLst xmlns:a="http://schemas.openxmlformats.org/drawingml/2006/main">
              <a:ext uri="{FF2B5EF4-FFF2-40B4-BE49-F238E27FC236}">
                <a16:creationId xmlns:a16="http://schemas.microsoft.com/office/drawing/2014/main" id="{AB1BFD6D-F675-431E-AEAB-040AB1C22B22}"/>
              </a:ext>
            </a:extLst>
          </p:cNvPr>
          <p:cNvSpPr>
            <a:spLocks xmlns:a="http://schemas.openxmlformats.org/drawingml/2006/main" noGrp="1"/>
          </p:cNvSpPr>
          <p:nvPr/>
        </p:nvSpPr>
        <p:spPr>
          <a:xfrm xmlns:a="http://schemas.openxmlformats.org/drawingml/2006/main">
            <a:off x="3714750" y="1600200"/>
            <a:ext cx="4762500" cy="742950"/>
          </a:xfrm>
          <a:prstGeom xmlns:a="http://schemas.openxmlformats.org/drawingml/2006/main" prst="roundRect">
            <a:avLst>
              <a:gd name="adj" fmla="val 8974"/>
            </a:avLst>
          </a:prstGeom>
          <a:solidFill xmlns:a="http://schemas.openxmlformats.org/drawingml/2006/main">
            <a:srgbClr val="DCE8E5"/>
          </a:solidFill>
          <a:ln xmlns:a="http://schemas.openxmlformats.org/drawingml/2006/main" w="15240">
            <a:solidFill>
              <a:srgbClr val="24726A"/>
            </a:solidFill>
            <a:prstDash val="solid"/>
          </a:ln>
        </p:spPr>
      </p:sp>
      <p:sp>
        <p:nvSpPr>
          <p:cNvPr id="5" name="">
            <a:extLst xmlns:a="http://schemas.openxmlformats.org/drawingml/2006/main">
              <a:ext uri="{FF2B5EF4-FFF2-40B4-BE49-F238E27FC236}">
                <a16:creationId xmlns:a16="http://schemas.microsoft.com/office/drawing/2014/main" id="{24A32C65-7BB9-47ED-AED9-FD84658CC00A}"/>
              </a:ext>
            </a:extLst>
          </p:cNvPr>
          <p:cNvSpPr>
            <a:spLocks xmlns:a="http://schemas.openxmlformats.org/drawingml/2006/main" noGrp="1"/>
          </p:cNvSpPr>
          <p:nvPr/>
        </p:nvSpPr>
        <p:spPr>
          <a:xfrm xmlns:a="http://schemas.openxmlformats.org/drawingml/2006/main">
            <a:off x="3848100" y="1724025"/>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wealth supervisor</a:t>
            </a:r>
          </a:p>
        </p:txBody>
      </p:sp>
      <p:sp>
        <p:nvSpPr>
          <p:cNvPr id="6" name="">
            <a:extLst xmlns:a="http://schemas.openxmlformats.org/drawingml/2006/main">
              <a:ext uri="{FF2B5EF4-FFF2-40B4-BE49-F238E27FC236}">
                <a16:creationId xmlns:a16="http://schemas.microsoft.com/office/drawing/2014/main" id="{075759DD-4F39-436C-B8B6-877780266E4C}"/>
              </a:ext>
            </a:extLst>
          </p:cNvPr>
          <p:cNvSpPr>
            <a:spLocks xmlns:a="http://schemas.openxmlformats.org/drawingml/2006/main" noGrp="1"/>
          </p:cNvSpPr>
          <p:nvPr/>
        </p:nvSpPr>
        <p:spPr>
          <a:xfrm xmlns:a="http://schemas.openxmlformats.org/drawingml/2006/main">
            <a:off x="3848100" y="2047875"/>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00" b="0">
                <a:solidFill>
                  <a:srgbClr val="6E7A80"/>
                </a:solidFill>
                <a:latin typeface="Arial"/>
                <a:ea typeface="Arial"/>
                <a:cs typeface="Arial"/>
              </a:defRPr>
            </a:pPr>
            <a:r>
              <a:rPr sz="1200" b="0">
                <a:solidFill>
                  <a:srgbClr val="6E7A80"/>
                </a:solidFill>
                <a:latin typeface="Arial"/>
                <a:ea typeface="Arial"/>
                <a:cs typeface="Arial"/>
              </a:rPr>
              <a:t>create_deep_agent · plans, delegates, writes the memo</a:t>
            </a:r>
          </a:p>
        </p:txBody>
      </p:sp>
      <p:sp>
        <p:nvSpPr>
          <p:cNvPr id="7" name="portfolio-node">
            <a:extLst xmlns:a="http://schemas.openxmlformats.org/drawingml/2006/main">
              <a:ext uri="{FF2B5EF4-FFF2-40B4-BE49-F238E27FC236}">
                <a16:creationId xmlns:a16="http://schemas.microsoft.com/office/drawing/2014/main" id="{A819926D-AFE7-4D09-8886-7A2CE6110FFD}"/>
              </a:ext>
            </a:extLst>
          </p:cNvPr>
          <p:cNvSpPr>
            <a:spLocks xmlns:a="http://schemas.openxmlformats.org/drawingml/2006/main" noGrp="1"/>
          </p:cNvSpPr>
          <p:nvPr/>
        </p:nvSpPr>
        <p:spPr>
          <a:xfrm xmlns:a="http://schemas.openxmlformats.org/drawingml/2006/main">
            <a:off x="685800" y="3067050"/>
            <a:ext cx="2381250" cy="895350"/>
          </a:xfrm>
          <a:prstGeom xmlns:a="http://schemas.openxmlformats.org/drawingml/2006/main" prst="roundRect">
            <a:avLst>
              <a:gd name="adj" fmla="val 7447"/>
            </a:avLst>
          </a:prstGeom>
          <a:solidFill xmlns:a="http://schemas.openxmlformats.org/drawingml/2006/main">
            <a:srgbClr val="FAFBF8"/>
          </a:solidFill>
          <a:ln xmlns:a="http://schemas.openxmlformats.org/drawingml/2006/main" w="11430">
            <a:solidFill>
              <a:srgbClr val="A9B3AC"/>
            </a:solidFill>
            <a:prstDash val="solid"/>
          </a:ln>
        </p:spPr>
      </p:sp>
      <p:sp>
        <p:nvSpPr>
          <p:cNvPr id="8" name="">
            <a:extLst xmlns:a="http://schemas.openxmlformats.org/drawingml/2006/main">
              <a:ext uri="{FF2B5EF4-FFF2-40B4-BE49-F238E27FC236}">
                <a16:creationId xmlns:a16="http://schemas.microsoft.com/office/drawing/2014/main" id="{E5E4E93F-A146-4DB6-82AC-CFE4FF2FE703}"/>
              </a:ext>
            </a:extLst>
          </p:cNvPr>
          <p:cNvSpPr>
            <a:spLocks xmlns:a="http://schemas.openxmlformats.org/drawingml/2006/main" noGrp="1"/>
          </p:cNvSpPr>
          <p:nvPr/>
        </p:nvSpPr>
        <p:spPr>
          <a:xfrm xmlns:a="http://schemas.openxmlformats.org/drawingml/2006/main">
            <a:off x="819150" y="3190875"/>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4181C"/>
                </a:solidFill>
                <a:latin typeface="Arial"/>
                <a:ea typeface="Arial"/>
                <a:cs typeface="Arial"/>
              </a:defRPr>
            </a:pPr>
            <a:r>
              <a:rPr sz="1575" b="1">
                <a:solidFill>
                  <a:srgbClr val="14181C"/>
                </a:solidFill>
                <a:latin typeface="Arial"/>
                <a:ea typeface="Arial"/>
                <a:cs typeface="Arial"/>
              </a:rPr>
              <a:t>portfolio analyst</a:t>
            </a:r>
          </a:p>
        </p:txBody>
      </p:sp>
      <p:sp>
        <p:nvSpPr>
          <p:cNvPr id="9" name="">
            <a:extLst xmlns:a="http://schemas.openxmlformats.org/drawingml/2006/main">
              <a:ext uri="{FF2B5EF4-FFF2-40B4-BE49-F238E27FC236}">
                <a16:creationId xmlns:a16="http://schemas.microsoft.com/office/drawing/2014/main" id="{20DF8C24-FF8F-418D-8ABB-6DEFCED4BF23}"/>
              </a:ext>
            </a:extLst>
          </p:cNvPr>
          <p:cNvSpPr>
            <a:spLocks xmlns:a="http://schemas.openxmlformats.org/drawingml/2006/main" noGrp="1"/>
          </p:cNvSpPr>
          <p:nvPr/>
        </p:nvSpPr>
        <p:spPr>
          <a:xfrm xmlns:a="http://schemas.openxmlformats.org/drawingml/2006/main">
            <a:off x="819150" y="3514725"/>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Roboto Mono"/>
                <a:ea typeface="Roboto Mono"/>
                <a:cs typeface="Roboto Mono"/>
              </a:defRPr>
            </a:pPr>
            <a:r>
              <a:rPr sz="1125" b="0">
                <a:solidFill>
                  <a:srgbClr val="6E7A80"/>
                </a:solidFill>
                <a:latin typeface="Roboto Mono"/>
                <a:ea typeface="Roboto Mono"/>
                <a:cs typeface="Roboto Mono"/>
              </a:rPr>
              <a:t>DEEP · holdings and concentration</a:t>
            </a:r>
          </a:p>
        </p:txBody>
      </p:sp>
      <p:sp>
        <p:nvSpPr>
          <p:cNvPr id="10" name="spend-node">
            <a:extLst xmlns:a="http://schemas.openxmlformats.org/drawingml/2006/main">
              <a:ext uri="{FF2B5EF4-FFF2-40B4-BE49-F238E27FC236}">
                <a16:creationId xmlns:a16="http://schemas.microsoft.com/office/drawing/2014/main" id="{A22FE26A-A152-4FC3-92AB-EC64805BDD5D}"/>
              </a:ext>
            </a:extLst>
          </p:cNvPr>
          <p:cNvSpPr>
            <a:spLocks xmlns:a="http://schemas.openxmlformats.org/drawingml/2006/main" noGrp="1"/>
          </p:cNvSpPr>
          <p:nvPr/>
        </p:nvSpPr>
        <p:spPr>
          <a:xfrm xmlns:a="http://schemas.openxmlformats.org/drawingml/2006/main">
            <a:off x="3276600" y="3067050"/>
            <a:ext cx="2381250" cy="895350"/>
          </a:xfrm>
          <a:prstGeom xmlns:a="http://schemas.openxmlformats.org/drawingml/2006/main" prst="roundRect">
            <a:avLst>
              <a:gd name="adj" fmla="val 7447"/>
            </a:avLst>
          </a:prstGeom>
          <a:solidFill xmlns:a="http://schemas.openxmlformats.org/drawingml/2006/main">
            <a:srgbClr val="FAFBF8"/>
          </a:solidFill>
          <a:ln xmlns:a="http://schemas.openxmlformats.org/drawingml/2006/main" w="11430">
            <a:solidFill>
              <a:srgbClr val="A9B3AC"/>
            </a:solidFill>
            <a:prstDash val="solid"/>
          </a:ln>
        </p:spPr>
      </p:sp>
      <p:sp>
        <p:nvSpPr>
          <p:cNvPr id="11" name="">
            <a:extLst xmlns:a="http://schemas.openxmlformats.org/drawingml/2006/main">
              <a:ext uri="{FF2B5EF4-FFF2-40B4-BE49-F238E27FC236}">
                <a16:creationId xmlns:a16="http://schemas.microsoft.com/office/drawing/2014/main" id="{FCDD027A-FF6C-417C-B120-3F620449A8D1}"/>
              </a:ext>
            </a:extLst>
          </p:cNvPr>
          <p:cNvSpPr>
            <a:spLocks xmlns:a="http://schemas.openxmlformats.org/drawingml/2006/main" noGrp="1"/>
          </p:cNvSpPr>
          <p:nvPr/>
        </p:nvSpPr>
        <p:spPr>
          <a:xfrm xmlns:a="http://schemas.openxmlformats.org/drawingml/2006/main">
            <a:off x="3409950" y="3190875"/>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4181C"/>
                </a:solidFill>
                <a:latin typeface="Arial"/>
                <a:ea typeface="Arial"/>
                <a:cs typeface="Arial"/>
              </a:defRPr>
            </a:pPr>
            <a:r>
              <a:rPr sz="1575" b="1">
                <a:solidFill>
                  <a:srgbClr val="14181C"/>
                </a:solidFill>
                <a:latin typeface="Arial"/>
                <a:ea typeface="Arial"/>
                <a:cs typeface="Arial"/>
              </a:rPr>
              <a:t>spend analyst</a:t>
            </a:r>
          </a:p>
        </p:txBody>
      </p:sp>
      <p:sp>
        <p:nvSpPr>
          <p:cNvPr id="12" name="">
            <a:extLst xmlns:a="http://schemas.openxmlformats.org/drawingml/2006/main">
              <a:ext uri="{FF2B5EF4-FFF2-40B4-BE49-F238E27FC236}">
                <a16:creationId xmlns:a16="http://schemas.microsoft.com/office/drawing/2014/main" id="{7A635105-1980-4D7F-AE97-4740623D405F}"/>
              </a:ext>
            </a:extLst>
          </p:cNvPr>
          <p:cNvSpPr>
            <a:spLocks xmlns:a="http://schemas.openxmlformats.org/drawingml/2006/main" noGrp="1"/>
          </p:cNvSpPr>
          <p:nvPr/>
        </p:nvSpPr>
        <p:spPr>
          <a:xfrm xmlns:a="http://schemas.openxmlformats.org/drawingml/2006/main">
            <a:off x="3409950" y="3514725"/>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Roboto Mono"/>
                <a:ea typeface="Roboto Mono"/>
                <a:cs typeface="Roboto Mono"/>
              </a:defRPr>
            </a:pPr>
            <a:r>
              <a:rPr sz="1125" b="0">
                <a:solidFill>
                  <a:srgbClr val="6E7A80"/>
                </a:solidFill>
                <a:latin typeface="Roboto Mono"/>
                <a:ea typeface="Roboto Mono"/>
                <a:cs typeface="Roboto Mono"/>
              </a:rPr>
              <a:t>DEEP · six months of transactions</a:t>
            </a:r>
          </a:p>
        </p:txBody>
      </p:sp>
      <p:sp>
        <p:nvSpPr>
          <p:cNvPr id="13" name="market-node">
            <a:extLst xmlns:a="http://schemas.openxmlformats.org/drawingml/2006/main">
              <a:ext uri="{FF2B5EF4-FFF2-40B4-BE49-F238E27FC236}">
                <a16:creationId xmlns:a16="http://schemas.microsoft.com/office/drawing/2014/main" id="{F79E3A5C-E0F9-4A74-B6E8-BCB54813CF16}"/>
              </a:ext>
            </a:extLst>
          </p:cNvPr>
          <p:cNvSpPr>
            <a:spLocks xmlns:a="http://schemas.openxmlformats.org/drawingml/2006/main" noGrp="1"/>
          </p:cNvSpPr>
          <p:nvPr/>
        </p:nvSpPr>
        <p:spPr>
          <a:xfrm xmlns:a="http://schemas.openxmlformats.org/drawingml/2006/main">
            <a:off x="5867400" y="3067050"/>
            <a:ext cx="2381250" cy="895350"/>
          </a:xfrm>
          <a:prstGeom xmlns:a="http://schemas.openxmlformats.org/drawingml/2006/main" prst="roundRect">
            <a:avLst>
              <a:gd name="adj" fmla="val 7447"/>
            </a:avLst>
          </a:prstGeom>
          <a:solidFill xmlns:a="http://schemas.openxmlformats.org/drawingml/2006/main">
            <a:srgbClr val="FAFBF8"/>
          </a:solidFill>
          <a:ln xmlns:a="http://schemas.openxmlformats.org/drawingml/2006/main" w="11430">
            <a:solidFill>
              <a:srgbClr val="A9B3AC"/>
            </a:solidFill>
            <a:prstDash val="solid"/>
          </a:ln>
        </p:spPr>
      </p:sp>
      <p:sp>
        <p:nvSpPr>
          <p:cNvPr id="14" name="">
            <a:extLst xmlns:a="http://schemas.openxmlformats.org/drawingml/2006/main">
              <a:ext uri="{FF2B5EF4-FFF2-40B4-BE49-F238E27FC236}">
                <a16:creationId xmlns:a16="http://schemas.microsoft.com/office/drawing/2014/main" id="{54D4CDEC-D19E-49C5-A1C6-E82243306436}"/>
              </a:ext>
            </a:extLst>
          </p:cNvPr>
          <p:cNvSpPr>
            <a:spLocks xmlns:a="http://schemas.openxmlformats.org/drawingml/2006/main" noGrp="1"/>
          </p:cNvSpPr>
          <p:nvPr/>
        </p:nvSpPr>
        <p:spPr>
          <a:xfrm xmlns:a="http://schemas.openxmlformats.org/drawingml/2006/main">
            <a:off x="6000750" y="3190875"/>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4181C"/>
                </a:solidFill>
                <a:latin typeface="Arial"/>
                <a:ea typeface="Arial"/>
                <a:cs typeface="Arial"/>
              </a:defRPr>
            </a:pPr>
            <a:r>
              <a:rPr sz="1575" b="1">
                <a:solidFill>
                  <a:srgbClr val="14181C"/>
                </a:solidFill>
                <a:latin typeface="Arial"/>
                <a:ea typeface="Arial"/>
                <a:cs typeface="Arial"/>
              </a:rPr>
              <a:t>market researcher</a:t>
            </a:r>
          </a:p>
        </p:txBody>
      </p:sp>
      <p:sp>
        <p:nvSpPr>
          <p:cNvPr id="15" name="">
            <a:extLst xmlns:a="http://schemas.openxmlformats.org/drawingml/2006/main">
              <a:ext uri="{FF2B5EF4-FFF2-40B4-BE49-F238E27FC236}">
                <a16:creationId xmlns:a16="http://schemas.microsoft.com/office/drawing/2014/main" id="{71D37391-184B-41E3-8CD8-23740EC44CEB}"/>
              </a:ext>
            </a:extLst>
          </p:cNvPr>
          <p:cNvSpPr>
            <a:spLocks xmlns:a="http://schemas.openxmlformats.org/drawingml/2006/main" noGrp="1"/>
          </p:cNvSpPr>
          <p:nvPr/>
        </p:nvSpPr>
        <p:spPr>
          <a:xfrm xmlns:a="http://schemas.openxmlformats.org/drawingml/2006/main">
            <a:off x="6000750" y="3514725"/>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Roboto Mono"/>
                <a:ea typeface="Roboto Mono"/>
                <a:cs typeface="Roboto Mono"/>
              </a:defRPr>
            </a:pPr>
            <a:r>
              <a:rPr sz="1125" b="0">
                <a:solidFill>
                  <a:srgbClr val="6E7A80"/>
                </a:solidFill>
                <a:latin typeface="Roboto Mono"/>
                <a:ea typeface="Roboto Mono"/>
                <a:cs typeface="Roboto Mono"/>
              </a:rPr>
              <a:t>DEEP · search, read, follow leads</a:t>
            </a:r>
          </a:p>
        </p:txBody>
      </p:sp>
      <p:sp>
        <p:nvSpPr>
          <p:cNvPr id="16" name="strategist-node">
            <a:extLst xmlns:a="http://schemas.openxmlformats.org/drawingml/2006/main">
              <a:ext uri="{FF2B5EF4-FFF2-40B4-BE49-F238E27FC236}">
                <a16:creationId xmlns:a16="http://schemas.microsoft.com/office/drawing/2014/main" id="{3FDB1CDE-C21D-46EC-89A3-3D391968A32F}"/>
              </a:ext>
            </a:extLst>
          </p:cNvPr>
          <p:cNvSpPr>
            <a:spLocks xmlns:a="http://schemas.openxmlformats.org/drawingml/2006/main" noGrp="1"/>
          </p:cNvSpPr>
          <p:nvPr/>
        </p:nvSpPr>
        <p:spPr>
          <a:xfrm xmlns:a="http://schemas.openxmlformats.org/drawingml/2006/main">
            <a:off x="8458200" y="3067050"/>
            <a:ext cx="3048000" cy="895350"/>
          </a:xfrm>
          <a:prstGeom xmlns:a="http://schemas.openxmlformats.org/drawingml/2006/main" prst="roundRect">
            <a:avLst>
              <a:gd name="adj" fmla="val 7447"/>
            </a:avLst>
          </a:prstGeom>
          <a:solidFill xmlns:a="http://schemas.openxmlformats.org/drawingml/2006/main">
            <a:srgbClr val="FAFBF8"/>
          </a:solidFill>
          <a:ln xmlns:a="http://schemas.openxmlformats.org/drawingml/2006/main" w="11430">
            <a:solidFill>
              <a:srgbClr val="A9B3AC"/>
            </a:solidFill>
            <a:prstDash val="dash"/>
          </a:ln>
        </p:spPr>
      </p:sp>
      <p:sp>
        <p:nvSpPr>
          <p:cNvPr id="17" name="">
            <a:extLst xmlns:a="http://schemas.openxmlformats.org/drawingml/2006/main">
              <a:ext uri="{FF2B5EF4-FFF2-40B4-BE49-F238E27FC236}">
                <a16:creationId xmlns:a16="http://schemas.microsoft.com/office/drawing/2014/main" id="{D8DD6E53-A3F9-40FF-BCC1-8EDBBBBA9EA2}"/>
              </a:ext>
            </a:extLst>
          </p:cNvPr>
          <p:cNvSpPr>
            <a:spLocks xmlns:a="http://schemas.openxmlformats.org/drawingml/2006/main" noGrp="1"/>
          </p:cNvSpPr>
          <p:nvPr/>
        </p:nvSpPr>
        <p:spPr>
          <a:xfrm xmlns:a="http://schemas.openxmlformats.org/drawingml/2006/main">
            <a:off x="8591550" y="3190875"/>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4181C"/>
                </a:solidFill>
                <a:latin typeface="Arial"/>
                <a:ea typeface="Arial"/>
                <a:cs typeface="Arial"/>
              </a:defRPr>
            </a:pPr>
            <a:r>
              <a:rPr sz="1575" b="1">
                <a:solidFill>
                  <a:srgbClr val="14181C"/>
                </a:solidFill>
                <a:latin typeface="Arial"/>
                <a:ea typeface="Arial"/>
                <a:cs typeface="Arial"/>
              </a:rPr>
              <a:t>allocation strategist</a:t>
            </a:r>
          </a:p>
        </p:txBody>
      </p:sp>
      <p:sp>
        <p:nvSpPr>
          <p:cNvPr id="18" name="">
            <a:extLst xmlns:a="http://schemas.openxmlformats.org/drawingml/2006/main">
              <a:ext uri="{FF2B5EF4-FFF2-40B4-BE49-F238E27FC236}">
                <a16:creationId xmlns:a16="http://schemas.microsoft.com/office/drawing/2014/main" id="{378E97F0-CBEB-4EB6-89BB-4B7304F470DC}"/>
              </a:ext>
            </a:extLst>
          </p:cNvPr>
          <p:cNvSpPr>
            <a:spLocks xmlns:a="http://schemas.openxmlformats.org/drawingml/2006/main" noGrp="1"/>
          </p:cNvSpPr>
          <p:nvPr/>
        </p:nvSpPr>
        <p:spPr>
          <a:xfrm xmlns:a="http://schemas.openxmlformats.org/drawingml/2006/main">
            <a:off x="8591550" y="3514725"/>
            <a:ext cx="2781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Roboto Mono"/>
                <a:ea typeface="Roboto Mono"/>
                <a:cs typeface="Roboto Mono"/>
              </a:defRPr>
            </a:pPr>
            <a:r>
              <a:rPr sz="1125" b="0">
                <a:solidFill>
                  <a:srgbClr val="6E7A80"/>
                </a:solidFill>
                <a:latin typeface="Roboto Mono"/>
                <a:ea typeface="Roboto Mono"/>
                <a:cs typeface="Roboto Mono"/>
              </a:rPr>
              <a:t>SHALLOW · typed recommendation</a:t>
            </a:r>
          </a:p>
        </p:txBody>
      </p:sp>
      <p:sp>
        <p:nvSpPr>
          <p:cNvPr id="19" name="ledger-node">
            <a:extLst xmlns:a="http://schemas.openxmlformats.org/drawingml/2006/main">
              <a:ext uri="{FF2B5EF4-FFF2-40B4-BE49-F238E27FC236}">
                <a16:creationId xmlns:a16="http://schemas.microsoft.com/office/drawing/2014/main" id="{32C1274F-B510-4FFF-8337-74AA6E092627}"/>
              </a:ext>
            </a:extLst>
          </p:cNvPr>
          <p:cNvSpPr>
            <a:spLocks xmlns:a="http://schemas.openxmlformats.org/drawingml/2006/main" noGrp="1"/>
          </p:cNvSpPr>
          <p:nvPr/>
        </p:nvSpPr>
        <p:spPr>
          <a:xfrm xmlns:a="http://schemas.openxmlformats.org/drawingml/2006/main">
            <a:off x="1333500" y="4972050"/>
            <a:ext cx="7048500" cy="723900"/>
          </a:xfrm>
          <a:prstGeom xmlns:a="http://schemas.openxmlformats.org/drawingml/2006/main" prst="roundRect">
            <a:avLst>
              <a:gd name="adj" fmla="val 9211"/>
            </a:avLst>
          </a:prstGeom>
          <a:solidFill xmlns:a="http://schemas.openxmlformats.org/drawingml/2006/main">
            <a:srgbClr val="FAFBF8"/>
          </a:solidFill>
          <a:ln xmlns:a="http://schemas.openxmlformats.org/drawingml/2006/main" w="17145">
            <a:solidFill>
              <a:srgbClr val="24726A"/>
            </a:solidFill>
            <a:prstDash val="solid"/>
          </a:ln>
        </p:spPr>
      </p:sp>
      <p:sp>
        <p:nvSpPr>
          <p:cNvPr id="20" name="">
            <a:extLst xmlns:a="http://schemas.openxmlformats.org/drawingml/2006/main">
              <a:ext uri="{FF2B5EF4-FFF2-40B4-BE49-F238E27FC236}">
                <a16:creationId xmlns:a16="http://schemas.microsoft.com/office/drawing/2014/main" id="{FFBC2391-8ED5-4F7C-85A9-FDBD5CF4C7C8}"/>
              </a:ext>
            </a:extLst>
          </p:cNvPr>
          <p:cNvSpPr>
            <a:spLocks xmlns:a="http://schemas.openxmlformats.org/drawingml/2006/main" noGrp="1"/>
          </p:cNvSpPr>
          <p:nvPr/>
        </p:nvSpPr>
        <p:spPr>
          <a:xfrm xmlns:a="http://schemas.openxmlformats.org/drawingml/2006/main">
            <a:off x="1466850" y="5095875"/>
            <a:ext cx="678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24726A"/>
                </a:solidFill>
                <a:latin typeface="Arial"/>
                <a:ea typeface="Arial"/>
                <a:cs typeface="Arial"/>
              </a:defRPr>
            </a:pPr>
            <a:r>
              <a:rPr sz="1725" b="1">
                <a:solidFill>
                  <a:srgbClr val="24726A"/>
                </a:solidFill>
                <a:latin typeface="Arial"/>
                <a:ea typeface="Arial"/>
                <a:cs typeface="Arial"/>
              </a:rPr>
              <a:t>append-only grounding ledger</a:t>
            </a:r>
          </a:p>
        </p:txBody>
      </p:sp>
      <p:sp>
        <p:nvSpPr>
          <p:cNvPr id="21" name="">
            <a:extLst xmlns:a="http://schemas.openxmlformats.org/drawingml/2006/main">
              <a:ext uri="{FF2B5EF4-FFF2-40B4-BE49-F238E27FC236}">
                <a16:creationId xmlns:a16="http://schemas.microsoft.com/office/drawing/2014/main" id="{218B2E6D-595F-41C6-BC76-57CCE9F22C5E}"/>
              </a:ext>
            </a:extLst>
          </p:cNvPr>
          <p:cNvSpPr>
            <a:spLocks xmlns:a="http://schemas.openxmlformats.org/drawingml/2006/main" noGrp="1"/>
          </p:cNvSpPr>
          <p:nvPr/>
        </p:nvSpPr>
        <p:spPr>
          <a:xfrm xmlns:a="http://schemas.openxmlformats.org/drawingml/2006/main">
            <a:off x="1466850" y="5419725"/>
            <a:ext cx="678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00" b="0">
                <a:solidFill>
                  <a:srgbClr val="6E7A80"/>
                </a:solidFill>
                <a:latin typeface="Arial"/>
                <a:ea typeface="Arial"/>
                <a:cs typeface="Arial"/>
              </a:defRPr>
            </a:pPr>
            <a:r>
              <a:rPr sz="1200" b="0">
                <a:solidFill>
                  <a:srgbClr val="6E7A80"/>
                </a:solidFill>
                <a:latin typeface="Arial"/>
                <a:ea typeface="Arial"/>
                <a:cs typeface="Arial"/>
              </a:rPr>
              <a:t>Every tool result · captured by middleware on each agent</a:t>
            </a:r>
          </a:p>
        </p:txBody>
      </p:sp>
      <p:sp>
        <p:nvSpPr>
          <p:cNvPr id="22" name="verifier-node">
            <a:extLst xmlns:a="http://schemas.openxmlformats.org/drawingml/2006/main">
              <a:ext uri="{FF2B5EF4-FFF2-40B4-BE49-F238E27FC236}">
                <a16:creationId xmlns:a16="http://schemas.microsoft.com/office/drawing/2014/main" id="{ADF92744-B004-42C6-A270-734F3BCE20F9}"/>
              </a:ext>
            </a:extLst>
          </p:cNvPr>
          <p:cNvSpPr>
            <a:spLocks xmlns:a="http://schemas.openxmlformats.org/drawingml/2006/main" noGrp="1"/>
          </p:cNvSpPr>
          <p:nvPr/>
        </p:nvSpPr>
        <p:spPr>
          <a:xfrm xmlns:a="http://schemas.openxmlformats.org/drawingml/2006/main">
            <a:off x="8877300" y="4972050"/>
            <a:ext cx="2628900" cy="723900"/>
          </a:xfrm>
          <a:prstGeom xmlns:a="http://schemas.openxmlformats.org/drawingml/2006/main" prst="roundRect">
            <a:avLst>
              <a:gd name="adj" fmla="val 9211"/>
            </a:avLst>
          </a:prstGeom>
          <a:solidFill xmlns:a="http://schemas.openxmlformats.org/drawingml/2006/main">
            <a:srgbClr val="FAFBF8"/>
          </a:solidFill>
          <a:ln xmlns:a="http://schemas.openxmlformats.org/drawingml/2006/main" w="11430">
            <a:solidFill>
              <a:srgbClr val="444E54"/>
            </a:solidFill>
            <a:prstDash val="dash"/>
          </a:ln>
        </p:spPr>
      </p:sp>
      <p:sp>
        <p:nvSpPr>
          <p:cNvPr id="23" name="">
            <a:extLst xmlns:a="http://schemas.openxmlformats.org/drawingml/2006/main">
              <a:ext uri="{FF2B5EF4-FFF2-40B4-BE49-F238E27FC236}">
                <a16:creationId xmlns:a16="http://schemas.microsoft.com/office/drawing/2014/main" id="{9AFDCA01-8D9C-4955-9A3E-DAABAF5445FE}"/>
              </a:ext>
            </a:extLst>
          </p:cNvPr>
          <p:cNvSpPr>
            <a:spLocks xmlns:a="http://schemas.openxmlformats.org/drawingml/2006/main" noGrp="1"/>
          </p:cNvSpPr>
          <p:nvPr/>
        </p:nvSpPr>
        <p:spPr>
          <a:xfrm xmlns:a="http://schemas.openxmlformats.org/drawingml/2006/main">
            <a:off x="9010650" y="509587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4181C"/>
                </a:solidFill>
                <a:latin typeface="Arial"/>
                <a:ea typeface="Arial"/>
                <a:cs typeface="Arial"/>
              </a:defRPr>
            </a:pPr>
            <a:r>
              <a:rPr sz="1725" b="1">
                <a:solidFill>
                  <a:srgbClr val="14181C"/>
                </a:solidFill>
                <a:latin typeface="Arial"/>
                <a:ea typeface="Arial"/>
                <a:cs typeface="Arial"/>
              </a:rPr>
              <a:t>verifier</a:t>
            </a:r>
          </a:p>
        </p:txBody>
      </p:sp>
      <p:sp>
        <p:nvSpPr>
          <p:cNvPr id="24" name="">
            <a:extLst xmlns:a="http://schemas.openxmlformats.org/drawingml/2006/main">
              <a:ext uri="{FF2B5EF4-FFF2-40B4-BE49-F238E27FC236}">
                <a16:creationId xmlns:a16="http://schemas.microsoft.com/office/drawing/2014/main" id="{C7A93E13-9C49-46A8-A651-412F8A5F8723}"/>
              </a:ext>
            </a:extLst>
          </p:cNvPr>
          <p:cNvSpPr>
            <a:spLocks xmlns:a="http://schemas.openxmlformats.org/drawingml/2006/main" noGrp="1"/>
          </p:cNvSpPr>
          <p:nvPr/>
        </p:nvSpPr>
        <p:spPr>
          <a:xfrm xmlns:a="http://schemas.openxmlformats.org/drawingml/2006/main">
            <a:off x="9010650" y="5419725"/>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050" b="0">
                <a:solidFill>
                  <a:srgbClr val="6E7A80"/>
                </a:solidFill>
                <a:latin typeface="Arial"/>
                <a:ea typeface="Arial"/>
                <a:cs typeface="Arial"/>
              </a:defRPr>
            </a:pPr>
            <a:r>
              <a:rPr sz="1050" b="0">
                <a:solidFill>
                  <a:srgbClr val="6E7A80"/>
                </a:solidFill>
                <a:latin typeface="Arial"/>
                <a:ea typeface="Arial"/>
                <a:cs typeface="Arial"/>
              </a:rPr>
              <a:t>SHALLOW · fixed checks</a:t>
            </a:r>
          </a:p>
        </p:txBody>
      </p:sp>
      <p:cxnSp>
        <p:nvCxnSpPr>
          <p:cNvPr id="62" name=""/>
          <p:cNvCxnSpPr>
            <a:stCxn xmlns:a="http://schemas.openxmlformats.org/drawingml/2006/main" id="4" idx="2"/>
            <a:endCxn xmlns:a="http://schemas.openxmlformats.org/drawingml/2006/main" id="7" idx="0"/>
          </p:cNvCxnSpPr>
          <p:nvPr/>
        </p:nvCxnSpPr>
        <p:spPr>
          <a:xfrm xmlns:a="http://schemas.openxmlformats.org/drawingml/2006/main" flipH="1">
            <a:off x="1876425" y="2343150"/>
            <a:ext cx="4219575" cy="723900"/>
          </a:xfrm>
          <a:prstGeom xmlns:a="http://schemas.openxmlformats.org/drawingml/2006/main" prst="bentConnector4">
            <a:avLst>
              <a:gd name="adj1" fmla="val 0"/>
              <a:gd name="adj2" fmla="val 50000"/>
            </a:avLst>
          </a:prstGeom>
          <a:ln xmlns:a="http://schemas.openxmlformats.org/drawingml/2006/main" w="14288">
            <a:solidFill>
              <a:srgbClr val="A9B3AC"/>
            </a:solidFill>
            <a:prstDash val="solid"/>
            <a:tailEnd type="triangle" w="sm" len="sm"/>
          </a:ln>
        </p:spPr>
      </p:cxnSp>
      <p:cxnSp>
        <p:nvCxnSpPr>
          <p:cNvPr id="63" name=""/>
          <p:cNvCxnSpPr>
            <a:stCxn xmlns:a="http://schemas.openxmlformats.org/drawingml/2006/main" id="4" idx="2"/>
            <a:endCxn xmlns:a="http://schemas.openxmlformats.org/drawingml/2006/main" id="10" idx="0"/>
          </p:cNvCxnSpPr>
          <p:nvPr/>
        </p:nvCxnSpPr>
        <p:spPr>
          <a:xfrm xmlns:a="http://schemas.openxmlformats.org/drawingml/2006/main" flipH="1">
            <a:off x="4467225" y="2343150"/>
            <a:ext cx="1628775" cy="723900"/>
          </a:xfrm>
          <a:prstGeom xmlns:a="http://schemas.openxmlformats.org/drawingml/2006/main" prst="bentConnector4">
            <a:avLst>
              <a:gd name="adj1" fmla="val 0"/>
              <a:gd name="adj2" fmla="val 50000"/>
            </a:avLst>
          </a:prstGeom>
          <a:ln xmlns:a="http://schemas.openxmlformats.org/drawingml/2006/main" w="14288">
            <a:solidFill>
              <a:srgbClr val="A9B3AC"/>
            </a:solidFill>
            <a:prstDash val="solid"/>
            <a:tailEnd type="triangle" w="sm" len="sm"/>
          </a:ln>
        </p:spPr>
      </p:cxnSp>
      <p:cxnSp>
        <p:nvCxnSpPr>
          <p:cNvPr id="64" name=""/>
          <p:cNvCxnSpPr>
            <a:stCxn xmlns:a="http://schemas.openxmlformats.org/drawingml/2006/main" id="4" idx="2"/>
            <a:endCxn xmlns:a="http://schemas.openxmlformats.org/drawingml/2006/main" id="13" idx="0"/>
          </p:cNvCxnSpPr>
          <p:nvPr/>
        </p:nvCxnSpPr>
        <p:spPr>
          <a:xfrm xmlns:a="http://schemas.openxmlformats.org/drawingml/2006/main">
            <a:off x="6096000" y="2343150"/>
            <a:ext cx="962025" cy="723900"/>
          </a:xfrm>
          <a:prstGeom xmlns:a="http://schemas.openxmlformats.org/drawingml/2006/main" prst="bentConnector4">
            <a:avLst>
              <a:gd name="adj1" fmla="val 0"/>
              <a:gd name="adj2" fmla="val 50000"/>
            </a:avLst>
          </a:prstGeom>
          <a:ln xmlns:a="http://schemas.openxmlformats.org/drawingml/2006/main" w="14288">
            <a:solidFill>
              <a:srgbClr val="A9B3AC"/>
            </a:solidFill>
            <a:prstDash val="solid"/>
            <a:tailEnd type="triangle" w="sm" len="sm"/>
          </a:ln>
        </p:spPr>
      </p:cxnSp>
      <p:cxnSp>
        <p:nvCxnSpPr>
          <p:cNvPr id="65" name=""/>
          <p:cNvCxnSpPr>
            <a:stCxn xmlns:a="http://schemas.openxmlformats.org/drawingml/2006/main" id="4" idx="2"/>
            <a:endCxn xmlns:a="http://schemas.openxmlformats.org/drawingml/2006/main" id="16" idx="0"/>
          </p:cNvCxnSpPr>
          <p:nvPr/>
        </p:nvCxnSpPr>
        <p:spPr>
          <a:xfrm xmlns:a="http://schemas.openxmlformats.org/drawingml/2006/main">
            <a:off x="6096000" y="2343150"/>
            <a:ext cx="3886200" cy="723900"/>
          </a:xfrm>
          <a:prstGeom xmlns:a="http://schemas.openxmlformats.org/drawingml/2006/main" prst="bentConnector4">
            <a:avLst>
              <a:gd name="adj1" fmla="val 0"/>
              <a:gd name="adj2" fmla="val 50000"/>
            </a:avLst>
          </a:prstGeom>
          <a:ln xmlns:a="http://schemas.openxmlformats.org/drawingml/2006/main" w="14288">
            <a:solidFill>
              <a:srgbClr val="A9B3AC"/>
            </a:solidFill>
            <a:prstDash val="solid"/>
            <a:tailEnd type="triangle" w="sm" len="sm"/>
          </a:ln>
        </p:spPr>
      </p:cxnSp>
      <p:cxnSp>
        <p:nvCxnSpPr>
          <p:cNvPr id="66" name=""/>
          <p:cNvCxnSpPr>
            <a:stCxn xmlns:a="http://schemas.openxmlformats.org/drawingml/2006/main" id="7" idx="2"/>
            <a:endCxn xmlns:a="http://schemas.openxmlformats.org/drawingml/2006/main" id="19" idx="0"/>
          </p:cNvCxnSpPr>
          <p:nvPr/>
        </p:nvCxnSpPr>
        <p:spPr>
          <a:xfrm xmlns:a="http://schemas.openxmlformats.org/drawingml/2006/main">
            <a:off x="1876425" y="3962400"/>
            <a:ext cx="2981325" cy="1009650"/>
          </a:xfrm>
          <a:prstGeom xmlns:a="http://schemas.openxmlformats.org/drawingml/2006/main" prst="bentConnector4">
            <a:avLst>
              <a:gd name="adj1" fmla="val 0"/>
              <a:gd name="adj2" fmla="val 22642"/>
            </a:avLst>
          </a:prstGeom>
          <a:ln xmlns:a="http://schemas.openxmlformats.org/drawingml/2006/main" w="11906">
            <a:solidFill>
              <a:srgbClr val="24726A"/>
            </a:solidFill>
            <a:prstDash val="solid"/>
            <a:tailEnd type="triangle" w="sm" len="sm"/>
          </a:ln>
        </p:spPr>
      </p:cxnSp>
      <p:cxnSp>
        <p:nvCxnSpPr>
          <p:cNvPr id="67" name=""/>
          <p:cNvCxnSpPr>
            <a:stCxn xmlns:a="http://schemas.openxmlformats.org/drawingml/2006/main" id="10" idx="2"/>
            <a:endCxn xmlns:a="http://schemas.openxmlformats.org/drawingml/2006/main" id="19" idx="0"/>
          </p:cNvCxnSpPr>
          <p:nvPr/>
        </p:nvCxnSpPr>
        <p:spPr>
          <a:xfrm xmlns:a="http://schemas.openxmlformats.org/drawingml/2006/main">
            <a:off x="4467225" y="3962400"/>
            <a:ext cx="390525" cy="1009650"/>
          </a:xfrm>
          <a:prstGeom xmlns:a="http://schemas.openxmlformats.org/drawingml/2006/main" prst="bentConnector4">
            <a:avLst>
              <a:gd name="adj1" fmla="val 0"/>
              <a:gd name="adj2" fmla="val 50000"/>
            </a:avLst>
          </a:prstGeom>
          <a:ln xmlns:a="http://schemas.openxmlformats.org/drawingml/2006/main" w="11906">
            <a:solidFill>
              <a:srgbClr val="24726A"/>
            </a:solidFill>
            <a:prstDash val="solid"/>
            <a:tailEnd type="triangle" w="sm" len="sm"/>
          </a:ln>
        </p:spPr>
      </p:cxnSp>
      <p:cxnSp>
        <p:nvCxnSpPr>
          <p:cNvPr id="68" name=""/>
          <p:cNvCxnSpPr>
            <a:stCxn xmlns:a="http://schemas.openxmlformats.org/drawingml/2006/main" id="13" idx="2"/>
            <a:endCxn xmlns:a="http://schemas.openxmlformats.org/drawingml/2006/main" id="19" idx="0"/>
          </p:cNvCxnSpPr>
          <p:nvPr/>
        </p:nvCxnSpPr>
        <p:spPr>
          <a:xfrm xmlns:a="http://schemas.openxmlformats.org/drawingml/2006/main" flipH="1">
            <a:off x="4857750" y="3962400"/>
            <a:ext cx="2200275" cy="1009650"/>
          </a:xfrm>
          <a:prstGeom xmlns:a="http://schemas.openxmlformats.org/drawingml/2006/main" prst="bentConnector4">
            <a:avLst>
              <a:gd name="adj1" fmla="val 0"/>
              <a:gd name="adj2" fmla="val 50000"/>
            </a:avLst>
          </a:prstGeom>
          <a:ln xmlns:a="http://schemas.openxmlformats.org/drawingml/2006/main" w="11906">
            <a:solidFill>
              <a:srgbClr val="24726A"/>
            </a:solidFill>
            <a:prstDash val="solid"/>
            <a:tailEnd type="triangle" w="sm" len="sm"/>
          </a:ln>
        </p:spPr>
      </p:cxnSp>
      <p:cxnSp>
        <p:nvCxnSpPr>
          <p:cNvPr id="69" name=""/>
          <p:cNvCxnSpPr>
            <a:stCxn xmlns:a="http://schemas.openxmlformats.org/drawingml/2006/main" id="16" idx="2"/>
            <a:endCxn xmlns:a="http://schemas.openxmlformats.org/drawingml/2006/main" id="19" idx="0"/>
          </p:cNvCxnSpPr>
          <p:nvPr/>
        </p:nvCxnSpPr>
        <p:spPr>
          <a:xfrm xmlns:a="http://schemas.openxmlformats.org/drawingml/2006/main" flipH="1">
            <a:off x="4857750" y="3962400"/>
            <a:ext cx="5124450" cy="1009650"/>
          </a:xfrm>
          <a:prstGeom xmlns:a="http://schemas.openxmlformats.org/drawingml/2006/main" prst="bentConnector4">
            <a:avLst>
              <a:gd name="adj1" fmla="val 0"/>
              <a:gd name="adj2" fmla="val 50000"/>
            </a:avLst>
          </a:prstGeom>
          <a:ln xmlns:a="http://schemas.openxmlformats.org/drawingml/2006/main" w="11906">
            <a:solidFill>
              <a:srgbClr val="24726A"/>
            </a:solidFill>
            <a:prstDash val="solid"/>
            <a:tailEnd type="triangle" w="sm" len="sm"/>
          </a:ln>
        </p:spPr>
      </p:cxnSp>
      <p:cxnSp>
        <p:nvCxnSpPr>
          <p:cNvPr id="70" name=""/>
          <p:cNvCxnSpPr>
            <a:stCxn xmlns:a="http://schemas.openxmlformats.org/drawingml/2006/main" id="19" idx="3"/>
            <a:endCxn xmlns:a="http://schemas.openxmlformats.org/drawingml/2006/main" id="22" idx="1"/>
          </p:cNvCxnSpPr>
          <p:nvPr/>
        </p:nvCxnSpPr>
        <p:spPr>
          <a:xfrm xmlns:a="http://schemas.openxmlformats.org/drawingml/2006/main">
            <a:off x="8382000" y="5334000"/>
            <a:ext cx="495300" cy="0"/>
          </a:xfrm>
          <a:prstGeom xmlns:a="http://schemas.openxmlformats.org/drawingml/2006/main" prst="straightConnector1">
            <a:avLst/>
          </a:prstGeom>
          <a:ln xmlns:a="http://schemas.openxmlformats.org/drawingml/2006/main" w="14288">
            <a:solidFill>
              <a:srgbClr val="444E54"/>
            </a:solidFill>
            <a:prstDash val="solid"/>
            <a:tailEnd type="triangle" w="sm" len="sm"/>
          </a:ln>
        </p:spPr>
      </p:cxnSp>
      <p:sp>
        <p:nvSpPr>
          <p:cNvPr id="34" name="">
            <a:extLst xmlns:a="http://schemas.openxmlformats.org/drawingml/2006/main">
              <a:ext uri="{FF2B5EF4-FFF2-40B4-BE49-F238E27FC236}">
                <a16:creationId xmlns:a16="http://schemas.microsoft.com/office/drawing/2014/main" id="{8E3A4DE6-EE2C-4DC8-9289-30B364CBBC8A}"/>
              </a:ext>
            </a:extLst>
          </p:cNvPr>
          <p:cNvSpPr>
            <a:spLocks xmlns:a="http://schemas.openxmlformats.org/drawingml/2006/main" noGrp="1"/>
          </p:cNvSpPr>
          <p:nvPr/>
        </p:nvSpPr>
        <p:spPr>
          <a:xfrm xmlns:a="http://schemas.openxmlformats.org/drawingml/2006/main">
            <a:off x="8686800" y="23812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6E7A80"/>
                </a:solidFill>
                <a:latin typeface="Roboto Mono"/>
                <a:ea typeface="Roboto Mono"/>
                <a:cs typeface="Roboto Mono"/>
              </a:defRPr>
            </a:pPr>
            <a:r>
              <a:rPr sz="1050" b="0">
                <a:solidFill>
                  <a:srgbClr val="6E7A80"/>
                </a:solidFill>
                <a:latin typeface="Roboto Mono"/>
                <a:ea typeface="Roboto Mono"/>
                <a:cs typeface="Roboto Mono"/>
              </a:rPr>
              <a:t>delegates</a:t>
            </a:r>
          </a:p>
        </p:txBody>
      </p:sp>
      <p:sp>
        <p:nvSpPr>
          <p:cNvPr id="35" name="">
            <a:extLst xmlns:a="http://schemas.openxmlformats.org/drawingml/2006/main">
              <a:ext uri="{FF2B5EF4-FFF2-40B4-BE49-F238E27FC236}">
                <a16:creationId xmlns:a16="http://schemas.microsoft.com/office/drawing/2014/main" id="{97710546-7187-4F5F-9096-26214D11B409}"/>
              </a:ext>
            </a:extLst>
          </p:cNvPr>
          <p:cNvSpPr>
            <a:spLocks xmlns:a="http://schemas.openxmlformats.org/drawingml/2006/main" noGrp="1"/>
          </p:cNvSpPr>
          <p:nvPr/>
        </p:nvSpPr>
        <p:spPr>
          <a:xfrm xmlns:a="http://schemas.openxmlformats.org/drawingml/2006/main">
            <a:off x="685800" y="43815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24726A"/>
                </a:solidFill>
                <a:latin typeface="Roboto Mono"/>
                <a:ea typeface="Roboto Mono"/>
                <a:cs typeface="Roboto Mono"/>
              </a:defRPr>
            </a:pPr>
            <a:r>
              <a:rPr sz="1050" b="0">
                <a:solidFill>
                  <a:srgbClr val="24726A"/>
                </a:solidFill>
                <a:latin typeface="Roboto Mono"/>
                <a:ea typeface="Roboto Mono"/>
                <a:cs typeface="Roboto Mono"/>
              </a:rPr>
              <a:t>writes evidence</a:t>
            </a:r>
          </a:p>
        </p:txBody>
      </p:sp>
      <p:sp>
        <p:nvSpPr>
          <p:cNvPr id="36" name="">
            <a:extLst xmlns:a="http://schemas.openxmlformats.org/drawingml/2006/main">
              <a:ext uri="{FF2B5EF4-FFF2-40B4-BE49-F238E27FC236}">
                <a16:creationId xmlns:a16="http://schemas.microsoft.com/office/drawing/2014/main" id="{A5695E68-DBAF-498A-8CE9-6A10128550CC}"/>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37" name="">
            <a:extLst xmlns:a="http://schemas.openxmlformats.org/drawingml/2006/main">
              <a:ext uri="{FF2B5EF4-FFF2-40B4-BE49-F238E27FC236}">
                <a16:creationId xmlns:a16="http://schemas.microsoft.com/office/drawing/2014/main" id="{68DF2978-13F7-4F29-9F69-FE69D24D64E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04</a:t>
            </a:r>
          </a:p>
        </p:txBody>
      </p:sp>
    </p:spTree>
    <p:extLst>
      <p:ext uri="{BB962C8B-B14F-4D97-AF65-F5344CB8AC3E}">
        <p14:creationId xmlns:p14="http://schemas.microsoft.com/office/powerpoint/2010/main" val="1209036999"/>
      </p:ext>
    </p:extLst>
  </p:cSld>
</p:sld>
</file>

<file path=ppt/slides/slide5.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DE622A9-5DDF-451B-B949-C3B4E6F22D12}"/>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DESIGN PRINCIPLE</a:t>
            </a:r>
          </a:p>
        </p:txBody>
      </p:sp>
      <p:sp>
        <p:nvSpPr>
          <p:cNvPr id="2" name="slide-5-title">
            <a:extLst xmlns:a="http://schemas.openxmlformats.org/drawingml/2006/main">
              <a:ext uri="{FF2B5EF4-FFF2-40B4-BE49-F238E27FC236}">
                <a16:creationId xmlns:a16="http://schemas.microsoft.com/office/drawing/2014/main" id="{122889A3-9A94-4DE4-80BC-D5EE16537DC6}"/>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Agentic decisions. Deterministic checks.</a:t>
            </a:r>
          </a:p>
        </p:txBody>
      </p:sp>
      <p:sp>
        <p:nvSpPr>
          <p:cNvPr id="3" name="">
            <a:extLst xmlns:a="http://schemas.openxmlformats.org/drawingml/2006/main">
              <a:ext uri="{FF2B5EF4-FFF2-40B4-BE49-F238E27FC236}">
                <a16:creationId xmlns:a16="http://schemas.microsoft.com/office/drawing/2014/main" id="{F100998C-6C15-44A2-BEA1-83D8E85EA644}"/>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DFB388A0-1814-484F-85F2-403477E23526}"/>
              </a:ext>
            </a:extLst>
          </p:cNvPr>
          <p:cNvSpPr>
            <a:spLocks xmlns:a="http://schemas.openxmlformats.org/drawingml/2006/main" noGrp="1"/>
          </p:cNvSpPr>
          <p:nvPr/>
        </p:nvSpPr>
        <p:spPr>
          <a:xfrm xmlns:a="http://schemas.openxmlformats.org/drawingml/2006/main">
            <a:off x="6096000" y="1885950"/>
            <a:ext cx="0" cy="3543300"/>
          </a:xfrm>
          <a:prstGeom xmlns:a="http://schemas.openxmlformats.org/drawingml/2006/main" prst="line">
            <a:avLst/>
          </a:prstGeom>
          <a:noFill xmlns:a="http://schemas.openxmlformats.org/drawingml/2006/main"/>
          <a:ln xmlns:a="http://schemas.openxmlformats.org/drawingml/2006/main" w="14288">
            <a:solidFill>
              <a:srgbClr val="A9B3AC"/>
            </a:solidFill>
            <a:prstDash val="solid"/>
          </a:ln>
        </p:spPr>
      </p:sp>
      <p:sp>
        <p:nvSpPr>
          <p:cNvPr id="5" name="">
            <a:extLst xmlns:a="http://schemas.openxmlformats.org/drawingml/2006/main">
              <a:ext uri="{FF2B5EF4-FFF2-40B4-BE49-F238E27FC236}">
                <a16:creationId xmlns:a16="http://schemas.microsoft.com/office/drawing/2014/main" id="{B60FDED9-3743-4CC4-886B-1EC5BDFE1B61}"/>
              </a:ext>
            </a:extLst>
          </p:cNvPr>
          <p:cNvSpPr>
            <a:spLocks xmlns:a="http://schemas.openxmlformats.org/drawingml/2006/main" noGrp="1"/>
          </p:cNvSpPr>
          <p:nvPr/>
        </p:nvSpPr>
        <p:spPr>
          <a:xfrm xmlns:a="http://schemas.openxmlformats.org/drawingml/2006/main">
            <a:off x="838200" y="18097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24726A"/>
                </a:solidFill>
                <a:latin typeface="Roboto Mono"/>
                <a:ea typeface="Roboto Mono"/>
                <a:cs typeface="Roboto Mono"/>
              </a:defRPr>
            </a:pPr>
            <a:r>
              <a:rPr sz="1200" b="1">
                <a:solidFill>
                  <a:srgbClr val="24726A"/>
                </a:solidFill>
                <a:latin typeface="Roboto Mono"/>
                <a:ea typeface="Roboto Mono"/>
                <a:cs typeface="Roboto Mono"/>
              </a:rPr>
              <a:t>THE MODEL DECIDES</a:t>
            </a:r>
          </a:p>
        </p:txBody>
      </p:sp>
      <p:sp>
        <p:nvSpPr>
          <p:cNvPr id="6" name="">
            <a:extLst xmlns:a="http://schemas.openxmlformats.org/drawingml/2006/main">
              <a:ext uri="{FF2B5EF4-FFF2-40B4-BE49-F238E27FC236}">
                <a16:creationId xmlns:a16="http://schemas.microsoft.com/office/drawing/2014/main" id="{616D0717-5CB0-4A09-9772-9352E442B590}"/>
              </a:ext>
            </a:extLst>
          </p:cNvPr>
          <p:cNvSpPr>
            <a:spLocks xmlns:a="http://schemas.openxmlformats.org/drawingml/2006/main" noGrp="1"/>
          </p:cNvSpPr>
          <p:nvPr/>
        </p:nvSpPr>
        <p:spPr>
          <a:xfrm xmlns:a="http://schemas.openxmlformats.org/drawingml/2006/main">
            <a:off x="6667500" y="18097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35704A"/>
                </a:solidFill>
                <a:latin typeface="Roboto Mono"/>
                <a:ea typeface="Roboto Mono"/>
                <a:cs typeface="Roboto Mono"/>
              </a:defRPr>
            </a:pPr>
            <a:r>
              <a:rPr sz="1200" b="1">
                <a:solidFill>
                  <a:srgbClr val="35704A"/>
                </a:solidFill>
                <a:latin typeface="Roboto Mono"/>
                <a:ea typeface="Roboto Mono"/>
                <a:cs typeface="Roboto Mono"/>
              </a:rPr>
              <a:t>CODE ENFORCES</a:t>
            </a:r>
          </a:p>
        </p:txBody>
      </p:sp>
      <p:sp>
        <p:nvSpPr>
          <p:cNvPr id="7" name="">
            <a:extLst xmlns:a="http://schemas.openxmlformats.org/drawingml/2006/main">
              <a:ext uri="{FF2B5EF4-FFF2-40B4-BE49-F238E27FC236}">
                <a16:creationId xmlns:a16="http://schemas.microsoft.com/office/drawing/2014/main" id="{A27EE94A-E9A9-4566-A1CB-EF9971FEC9D8}"/>
              </a:ext>
            </a:extLst>
          </p:cNvPr>
          <p:cNvSpPr>
            <a:spLocks xmlns:a="http://schemas.openxmlformats.org/drawingml/2006/main" noGrp="1"/>
          </p:cNvSpPr>
          <p:nvPr/>
        </p:nvSpPr>
        <p:spPr>
          <a:xfrm xmlns:a="http://schemas.openxmlformats.org/drawingml/2006/main">
            <a:off x="838200" y="23812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Plan and delegate</a:t>
            </a:r>
          </a:p>
        </p:txBody>
      </p:sp>
      <p:sp>
        <p:nvSpPr>
          <p:cNvPr id="8" name="">
            <a:extLst xmlns:a="http://schemas.openxmlformats.org/drawingml/2006/main">
              <a:ext uri="{FF2B5EF4-FFF2-40B4-BE49-F238E27FC236}">
                <a16:creationId xmlns:a16="http://schemas.microsoft.com/office/drawing/2014/main" id="{64D3CB26-9680-4E26-9875-7F60BA30CD54}"/>
              </a:ext>
            </a:extLst>
          </p:cNvPr>
          <p:cNvSpPr>
            <a:spLocks xmlns:a="http://schemas.openxmlformats.org/drawingml/2006/main" noGrp="1"/>
          </p:cNvSpPr>
          <p:nvPr/>
        </p:nvSpPr>
        <p:spPr>
          <a:xfrm xmlns:a="http://schemas.openxmlformats.org/drawingml/2006/main">
            <a:off x="83820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Which specialist should investigate next</a:t>
            </a:r>
          </a:p>
        </p:txBody>
      </p:sp>
      <p:sp>
        <p:nvSpPr>
          <p:cNvPr id="9" name="">
            <a:extLst xmlns:a="http://schemas.openxmlformats.org/drawingml/2006/main">
              <a:ext uri="{FF2B5EF4-FFF2-40B4-BE49-F238E27FC236}">
                <a16:creationId xmlns:a16="http://schemas.microsoft.com/office/drawing/2014/main" id="{7E10195D-D0EB-4676-A62A-1635B412172B}"/>
              </a:ext>
            </a:extLst>
          </p:cNvPr>
          <p:cNvSpPr>
            <a:spLocks xmlns:a="http://schemas.openxmlformats.org/drawingml/2006/main" noGrp="1"/>
          </p:cNvSpPr>
          <p:nvPr/>
        </p:nvSpPr>
        <p:spPr>
          <a:xfrm xmlns:a="http://schemas.openxmlformats.org/drawingml/2006/main">
            <a:off x="838200" y="335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Research</a:t>
            </a:r>
          </a:p>
        </p:txBody>
      </p:sp>
      <p:sp>
        <p:nvSpPr>
          <p:cNvPr id="10" name="">
            <a:extLst xmlns:a="http://schemas.openxmlformats.org/drawingml/2006/main">
              <a:ext uri="{FF2B5EF4-FFF2-40B4-BE49-F238E27FC236}">
                <a16:creationId xmlns:a16="http://schemas.microsoft.com/office/drawing/2014/main" id="{742A07C2-E8E8-4793-8325-2791A4882370}"/>
              </a:ext>
            </a:extLst>
          </p:cNvPr>
          <p:cNvSpPr>
            <a:spLocks xmlns:a="http://schemas.openxmlformats.org/drawingml/2006/main" noGrp="1"/>
          </p:cNvSpPr>
          <p:nvPr/>
        </p:nvSpPr>
        <p:spPr>
          <a:xfrm xmlns:a="http://schemas.openxmlformats.org/drawingml/2006/main">
            <a:off x="838200" y="37338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Which sources and follow-up leads matter</a:t>
            </a:r>
          </a:p>
        </p:txBody>
      </p:sp>
      <p:sp>
        <p:nvSpPr>
          <p:cNvPr id="11" name="">
            <a:extLst xmlns:a="http://schemas.openxmlformats.org/drawingml/2006/main">
              <a:ext uri="{FF2B5EF4-FFF2-40B4-BE49-F238E27FC236}">
                <a16:creationId xmlns:a16="http://schemas.microsoft.com/office/drawing/2014/main" id="{6F6CA119-ED40-4155-A753-68AE40137428}"/>
              </a:ext>
            </a:extLst>
          </p:cNvPr>
          <p:cNvSpPr>
            <a:spLocks xmlns:a="http://schemas.openxmlformats.org/drawingml/2006/main" noGrp="1"/>
          </p:cNvSpPr>
          <p:nvPr/>
        </p:nvSpPr>
        <p:spPr>
          <a:xfrm xmlns:a="http://schemas.openxmlformats.org/drawingml/2006/main">
            <a:off x="838200" y="43243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Explain trade-offs</a:t>
            </a:r>
          </a:p>
        </p:txBody>
      </p:sp>
      <p:sp>
        <p:nvSpPr>
          <p:cNvPr id="12" name="">
            <a:extLst xmlns:a="http://schemas.openxmlformats.org/drawingml/2006/main">
              <a:ext uri="{FF2B5EF4-FFF2-40B4-BE49-F238E27FC236}">
                <a16:creationId xmlns:a16="http://schemas.microsoft.com/office/drawing/2014/main" id="{CCD20AC6-7CB7-42A1-B63D-33F331077191}"/>
              </a:ext>
            </a:extLst>
          </p:cNvPr>
          <p:cNvSpPr>
            <a:spLocks xmlns:a="http://schemas.openxmlformats.org/drawingml/2006/main" noGrp="1"/>
          </p:cNvSpPr>
          <p:nvPr/>
        </p:nvSpPr>
        <p:spPr>
          <a:xfrm xmlns:a="http://schemas.openxmlformats.org/drawingml/2006/main">
            <a:off x="838200" y="47053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How to communicate competing policy constraints</a:t>
            </a:r>
          </a:p>
        </p:txBody>
      </p:sp>
      <p:sp>
        <p:nvSpPr>
          <p:cNvPr id="13" name="">
            <a:extLst xmlns:a="http://schemas.openxmlformats.org/drawingml/2006/main">
              <a:ext uri="{FF2B5EF4-FFF2-40B4-BE49-F238E27FC236}">
                <a16:creationId xmlns:a16="http://schemas.microsoft.com/office/drawing/2014/main" id="{1692FEB2-F4A9-46CB-A373-E402C675F3A7}"/>
              </a:ext>
            </a:extLst>
          </p:cNvPr>
          <p:cNvSpPr>
            <a:spLocks xmlns:a="http://schemas.openxmlformats.org/drawingml/2006/main" noGrp="1"/>
          </p:cNvSpPr>
          <p:nvPr/>
        </p:nvSpPr>
        <p:spPr>
          <a:xfrm xmlns:a="http://schemas.openxmlformats.org/drawingml/2006/main">
            <a:off x="6667500" y="23812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Compute</a:t>
            </a:r>
          </a:p>
        </p:txBody>
      </p:sp>
      <p:sp>
        <p:nvSpPr>
          <p:cNvPr id="14" name="">
            <a:extLst xmlns:a="http://schemas.openxmlformats.org/drawingml/2006/main">
              <a:ext uri="{FF2B5EF4-FFF2-40B4-BE49-F238E27FC236}">
                <a16:creationId xmlns:a16="http://schemas.microsoft.com/office/drawing/2014/main" id="{CF7F98C6-DB8C-4B07-989A-85A64F1D8092}"/>
              </a:ext>
            </a:extLst>
          </p:cNvPr>
          <p:cNvSpPr>
            <a:spLocks xmlns:a="http://schemas.openxmlformats.org/drawingml/2006/main" noGrp="1"/>
          </p:cNvSpPr>
          <p:nvPr/>
        </p:nvSpPr>
        <p:spPr>
          <a:xfrm xmlns:a="http://schemas.openxmlformats.org/drawingml/2006/main">
            <a:off x="666750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Portfolio weights, drift, runway, trade amounts</a:t>
            </a:r>
          </a:p>
        </p:txBody>
      </p:sp>
      <p:sp>
        <p:nvSpPr>
          <p:cNvPr id="15" name="">
            <a:extLst xmlns:a="http://schemas.openxmlformats.org/drawingml/2006/main">
              <a:ext uri="{FF2B5EF4-FFF2-40B4-BE49-F238E27FC236}">
                <a16:creationId xmlns:a16="http://schemas.microsoft.com/office/drawing/2014/main" id="{15482E17-A194-45C3-B03D-AC05E86C61CC}"/>
              </a:ext>
            </a:extLst>
          </p:cNvPr>
          <p:cNvSpPr>
            <a:spLocks xmlns:a="http://schemas.openxmlformats.org/drawingml/2006/main" noGrp="1"/>
          </p:cNvSpPr>
          <p:nvPr/>
        </p:nvSpPr>
        <p:spPr>
          <a:xfrm xmlns:a="http://schemas.openxmlformats.org/drawingml/2006/main">
            <a:off x="6667500" y="335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Record</a:t>
            </a:r>
          </a:p>
        </p:txBody>
      </p:sp>
      <p:sp>
        <p:nvSpPr>
          <p:cNvPr id="16" name="">
            <a:extLst xmlns:a="http://schemas.openxmlformats.org/drawingml/2006/main">
              <a:ext uri="{FF2B5EF4-FFF2-40B4-BE49-F238E27FC236}">
                <a16:creationId xmlns:a16="http://schemas.microsoft.com/office/drawing/2014/main" id="{C3F31997-1688-449E-9EF7-25212E2B4582}"/>
              </a:ext>
            </a:extLst>
          </p:cNvPr>
          <p:cNvSpPr>
            <a:spLocks xmlns:a="http://schemas.openxmlformats.org/drawingml/2006/main" noGrp="1"/>
          </p:cNvSpPr>
          <p:nvPr/>
        </p:nvSpPr>
        <p:spPr>
          <a:xfrm xmlns:a="http://schemas.openxmlformats.org/drawingml/2006/main">
            <a:off x="6667500" y="37338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Every tool result enters an append-only ledger</a:t>
            </a:r>
          </a:p>
        </p:txBody>
      </p:sp>
      <p:sp>
        <p:nvSpPr>
          <p:cNvPr id="17" name="">
            <a:extLst xmlns:a="http://schemas.openxmlformats.org/drawingml/2006/main">
              <a:ext uri="{FF2B5EF4-FFF2-40B4-BE49-F238E27FC236}">
                <a16:creationId xmlns:a16="http://schemas.microsoft.com/office/drawing/2014/main" id="{B1F61A69-4B68-4DB8-947D-76452621AC18}"/>
              </a:ext>
            </a:extLst>
          </p:cNvPr>
          <p:cNvSpPr>
            <a:spLocks xmlns:a="http://schemas.openxmlformats.org/drawingml/2006/main" noGrp="1"/>
          </p:cNvSpPr>
          <p:nvPr/>
        </p:nvSpPr>
        <p:spPr>
          <a:xfrm xmlns:a="http://schemas.openxmlformats.org/drawingml/2006/main">
            <a:off x="6667500" y="43243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4181C"/>
                </a:solidFill>
                <a:latin typeface="Arial"/>
                <a:ea typeface="Arial"/>
                <a:cs typeface="Arial"/>
              </a:defRPr>
            </a:pPr>
            <a:r>
              <a:rPr sz="1950" b="1">
                <a:solidFill>
                  <a:srgbClr val="14181C"/>
                </a:solidFill>
                <a:latin typeface="Arial"/>
                <a:ea typeface="Arial"/>
                <a:cs typeface="Arial"/>
              </a:rPr>
              <a:t>Gate</a:t>
            </a:r>
          </a:p>
        </p:txBody>
      </p:sp>
      <p:sp>
        <p:nvSpPr>
          <p:cNvPr id="18" name="">
            <a:extLst xmlns:a="http://schemas.openxmlformats.org/drawingml/2006/main">
              <a:ext uri="{FF2B5EF4-FFF2-40B4-BE49-F238E27FC236}">
                <a16:creationId xmlns:a16="http://schemas.microsoft.com/office/drawing/2014/main" id="{3375F94E-DDAC-4161-A62E-A5AD82AA63D4}"/>
              </a:ext>
            </a:extLst>
          </p:cNvPr>
          <p:cNvSpPr>
            <a:spLocks xmlns:a="http://schemas.openxmlformats.org/drawingml/2006/main" noGrp="1"/>
          </p:cNvSpPr>
          <p:nvPr/>
        </p:nvSpPr>
        <p:spPr>
          <a:xfrm xmlns:a="http://schemas.openxmlformats.org/drawingml/2006/main">
            <a:off x="6667500" y="47053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Citations, figures, permissions, and release thresholds</a:t>
            </a:r>
          </a:p>
        </p:txBody>
      </p:sp>
      <p:sp>
        <p:nvSpPr>
          <p:cNvPr id="19" name="">
            <a:extLst xmlns:a="http://schemas.openxmlformats.org/drawingml/2006/main">
              <a:ext uri="{FF2B5EF4-FFF2-40B4-BE49-F238E27FC236}">
                <a16:creationId xmlns:a16="http://schemas.microsoft.com/office/drawing/2014/main" id="{4F131ADC-0C02-47BB-8630-C50E5B7223BB}"/>
              </a:ext>
            </a:extLst>
          </p:cNvPr>
          <p:cNvSpPr>
            <a:spLocks xmlns:a="http://schemas.openxmlformats.org/drawingml/2006/main" noGrp="1"/>
          </p:cNvSpPr>
          <p:nvPr/>
        </p:nvSpPr>
        <p:spPr>
          <a:xfrm xmlns:a="http://schemas.openxmlformats.org/drawingml/2006/main">
            <a:off x="838200" y="5581650"/>
            <a:ext cx="10306050" cy="552450"/>
          </a:xfrm>
          <a:prstGeom xmlns:a="http://schemas.openxmlformats.org/drawingml/2006/main" prst="rect">
            <a:avLst/>
          </a:prstGeom>
          <a:solidFill xmlns:a="http://schemas.openxmlformats.org/drawingml/2006/main">
            <a:srgbClr val="DCE8E5"/>
          </a:solidFill>
          <a:ln xmlns:a="http://schemas.openxmlformats.org/drawingml/2006/main" w="0">
            <a:solidFill>
              <a:srgbClr val="DCE8E5"/>
            </a:solidFill>
            <a:prstDash val="solid"/>
          </a:ln>
        </p:spPr>
      </p:sp>
      <p:sp>
        <p:nvSpPr>
          <p:cNvPr id="20" name="">
            <a:extLst xmlns:a="http://schemas.openxmlformats.org/drawingml/2006/main">
              <a:ext uri="{FF2B5EF4-FFF2-40B4-BE49-F238E27FC236}">
                <a16:creationId xmlns:a16="http://schemas.microsoft.com/office/drawing/2014/main" id="{5EB2959D-B54B-4BAD-95AB-7F9A33BC1F6A}"/>
              </a:ext>
            </a:extLst>
          </p:cNvPr>
          <p:cNvSpPr>
            <a:spLocks xmlns:a="http://schemas.openxmlformats.org/drawingml/2006/main" noGrp="1"/>
          </p:cNvSpPr>
          <p:nvPr/>
        </p:nvSpPr>
        <p:spPr>
          <a:xfrm xmlns:a="http://schemas.openxmlformats.org/drawingml/2006/main">
            <a:off x="1028700" y="5753100"/>
            <a:ext cx="992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14181C"/>
                </a:solidFill>
                <a:latin typeface="Roboto Mono"/>
                <a:ea typeface="Roboto Mono"/>
                <a:cs typeface="Roboto Mono"/>
              </a:defRPr>
            </a:pPr>
            <a:r>
              <a:rPr sz="1350" b="1">
                <a:solidFill>
                  <a:srgbClr val="14181C"/>
                </a:solidFill>
                <a:latin typeface="Roboto Mono"/>
                <a:ea typeface="Roboto Mono"/>
                <a:cs typeface="Roboto Mono"/>
              </a:rPr>
              <a:t>create_deep_agent for open-ended work    ·    create_agent + response_format for bounded work</a:t>
            </a:r>
          </a:p>
        </p:txBody>
      </p:sp>
      <p:sp>
        <p:nvSpPr>
          <p:cNvPr id="21" name="">
            <a:extLst xmlns:a="http://schemas.openxmlformats.org/drawingml/2006/main">
              <a:ext uri="{FF2B5EF4-FFF2-40B4-BE49-F238E27FC236}">
                <a16:creationId xmlns:a16="http://schemas.microsoft.com/office/drawing/2014/main" id="{47D7599E-CD8D-4A86-9F51-84E76D86CCA6}"/>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2" name="">
            <a:extLst xmlns:a="http://schemas.openxmlformats.org/drawingml/2006/main">
              <a:ext uri="{FF2B5EF4-FFF2-40B4-BE49-F238E27FC236}">
                <a16:creationId xmlns:a16="http://schemas.microsoft.com/office/drawing/2014/main" id="{3EA60BAF-0EDA-4AD9-969C-BFDF55171B0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05</a:t>
            </a:r>
          </a:p>
        </p:txBody>
      </p:sp>
    </p:spTree>
    <p:extLst>
      <p:ext uri="{BB962C8B-B14F-4D97-AF65-F5344CB8AC3E}">
        <p14:creationId xmlns:p14="http://schemas.microsoft.com/office/powerpoint/2010/main" val="941202614"/>
      </p:ext>
    </p:extLst>
  </p:cSld>
</p:sld>
</file>

<file path=ppt/slides/slide6.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818EB87-5E6A-4818-B2DA-5683A4D8C085}"/>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DEMO</a:t>
            </a:r>
          </a:p>
        </p:txBody>
      </p:sp>
      <p:sp>
        <p:nvSpPr>
          <p:cNvPr id="2" name="slide-6-title">
            <a:extLst xmlns:a="http://schemas.openxmlformats.org/drawingml/2006/main">
              <a:ext uri="{FF2B5EF4-FFF2-40B4-BE49-F238E27FC236}">
                <a16:creationId xmlns:a16="http://schemas.microsoft.com/office/drawing/2014/main" id="{E39AF205-913B-412A-8D0D-6CBD1B522127}"/>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Begin with a ship / no-ship decision</a:t>
            </a:r>
          </a:p>
        </p:txBody>
      </p:sp>
      <p:sp>
        <p:nvSpPr>
          <p:cNvPr id="3" name="">
            <a:extLst xmlns:a="http://schemas.openxmlformats.org/drawingml/2006/main">
              <a:ext uri="{FF2B5EF4-FFF2-40B4-BE49-F238E27FC236}">
                <a16:creationId xmlns:a16="http://schemas.microsoft.com/office/drawing/2014/main" id="{CBFBA9D5-4EA1-4313-A4B8-6CA2EE4ECA08}"/>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DFF8ABFE-23A3-469E-86C5-AC5A0028F905}"/>
              </a:ext>
            </a:extLst>
          </p:cNvPr>
          <p:cNvSpPr>
            <a:spLocks xmlns:a="http://schemas.openxmlformats.org/drawingml/2006/main" noGrp="1"/>
          </p:cNvSpPr>
          <p:nvPr/>
        </p:nvSpPr>
        <p:spPr>
          <a:xfrm xmlns:a="http://schemas.openxmlformats.org/drawingml/2006/main">
            <a:off x="685800" y="18097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24726A"/>
                </a:solidFill>
                <a:latin typeface="Roboto Mono"/>
                <a:ea typeface="Roboto Mono"/>
                <a:cs typeface="Roboto Mono"/>
              </a:defRPr>
            </a:pPr>
            <a:r>
              <a:rPr sz="1275" b="1">
                <a:solidFill>
                  <a:srgbClr val="24726A"/>
                </a:solidFill>
                <a:latin typeface="Roboto Mono"/>
                <a:ea typeface="Roboto Mono"/>
                <a:cs typeface="Roboto Mono"/>
              </a:rPr>
              <a:t>01</a:t>
            </a:r>
          </a:p>
        </p:txBody>
      </p:sp>
      <p:sp>
        <p:nvSpPr>
          <p:cNvPr id="5" name="">
            <a:extLst xmlns:a="http://schemas.openxmlformats.org/drawingml/2006/main">
              <a:ext uri="{FF2B5EF4-FFF2-40B4-BE49-F238E27FC236}">
                <a16:creationId xmlns:a16="http://schemas.microsoft.com/office/drawing/2014/main" id="{DE93F23A-3BB8-4027-8492-AF03337D390C}"/>
              </a:ext>
            </a:extLst>
          </p:cNvPr>
          <p:cNvSpPr>
            <a:spLocks xmlns:a="http://schemas.openxmlformats.org/drawingml/2006/main" noGrp="1"/>
          </p:cNvSpPr>
          <p:nvPr/>
        </p:nvSpPr>
        <p:spPr>
          <a:xfrm xmlns:a="http://schemas.openxmlformats.org/drawingml/2006/main">
            <a:off x="1371600" y="17716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4181C"/>
                </a:solidFill>
                <a:latin typeface="Arial"/>
                <a:ea typeface="Arial"/>
                <a:cs typeface="Arial"/>
              </a:defRPr>
            </a:pPr>
            <a:r>
              <a:rPr sz="2025" b="1">
                <a:solidFill>
                  <a:srgbClr val="14181C"/>
                </a:solidFill>
                <a:latin typeface="Arial"/>
                <a:ea typeface="Arial"/>
                <a:cs typeface="Arial"/>
              </a:rPr>
              <a:t>Open the naive memo</a:t>
            </a:r>
          </a:p>
        </p:txBody>
      </p:sp>
      <p:sp>
        <p:nvSpPr>
          <p:cNvPr id="6" name="">
            <a:extLst xmlns:a="http://schemas.openxmlformats.org/drawingml/2006/main">
              <a:ext uri="{FF2B5EF4-FFF2-40B4-BE49-F238E27FC236}">
                <a16:creationId xmlns:a16="http://schemas.microsoft.com/office/drawing/2014/main" id="{B4B5560D-A3F1-4BF9-9C45-0E5FA0FC8BBA}"/>
              </a:ext>
            </a:extLst>
          </p:cNvPr>
          <p:cNvSpPr>
            <a:spLocks xmlns:a="http://schemas.openxmlformats.org/drawingml/2006/main" noGrp="1"/>
          </p:cNvSpPr>
          <p:nvPr/>
        </p:nvSpPr>
        <p:spPr>
          <a:xfrm xmlns:a="http://schemas.openxmlformats.org/drawingml/2006/main">
            <a:off x="1371600" y="219075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444E54"/>
                </a:solidFill>
                <a:latin typeface="Arial"/>
                <a:ea typeface="Arial"/>
                <a:cs typeface="Arial"/>
              </a:defRPr>
            </a:pPr>
            <a:r>
              <a:rPr sz="1425" b="0">
                <a:solidFill>
                  <a:srgbClr val="444E54"/>
                </a:solidFill>
                <a:latin typeface="Arial"/>
                <a:ea typeface="Arial"/>
                <a:cs typeface="Arial"/>
              </a:rPr>
              <a:t>Let the audience read the strongest action recommendation.</a:t>
            </a:r>
          </a:p>
        </p:txBody>
      </p:sp>
      <p:sp>
        <p:nvSpPr>
          <p:cNvPr id="7" name="">
            <a:extLst xmlns:a="http://schemas.openxmlformats.org/drawingml/2006/main">
              <a:ext uri="{FF2B5EF4-FFF2-40B4-BE49-F238E27FC236}">
                <a16:creationId xmlns:a16="http://schemas.microsoft.com/office/drawing/2014/main" id="{57BAD9BB-ADA3-4A0B-82F9-8620B4C10AA2}"/>
              </a:ext>
            </a:extLst>
          </p:cNvPr>
          <p:cNvSpPr>
            <a:spLocks xmlns:a="http://schemas.openxmlformats.org/drawingml/2006/main" noGrp="1"/>
          </p:cNvSpPr>
          <p:nvPr/>
        </p:nvSpPr>
        <p:spPr>
          <a:xfrm xmlns:a="http://schemas.openxmlformats.org/drawingml/2006/main">
            <a:off x="1371600" y="2876550"/>
            <a:ext cx="41910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8" name="">
            <a:extLst xmlns:a="http://schemas.openxmlformats.org/drawingml/2006/main">
              <a:ext uri="{FF2B5EF4-FFF2-40B4-BE49-F238E27FC236}">
                <a16:creationId xmlns:a16="http://schemas.microsoft.com/office/drawing/2014/main" id="{AA3A97C5-4ECA-4705-852D-8E87BD5B068A}"/>
              </a:ext>
            </a:extLst>
          </p:cNvPr>
          <p:cNvSpPr>
            <a:spLocks xmlns:a="http://schemas.openxmlformats.org/drawingml/2006/main" noGrp="1"/>
          </p:cNvSpPr>
          <p:nvPr/>
        </p:nvSpPr>
        <p:spPr>
          <a:xfrm xmlns:a="http://schemas.openxmlformats.org/drawingml/2006/main">
            <a:off x="685800" y="31051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24726A"/>
                </a:solidFill>
                <a:latin typeface="Roboto Mono"/>
                <a:ea typeface="Roboto Mono"/>
                <a:cs typeface="Roboto Mono"/>
              </a:defRPr>
            </a:pPr>
            <a:r>
              <a:rPr sz="1275" b="1">
                <a:solidFill>
                  <a:srgbClr val="24726A"/>
                </a:solidFill>
                <a:latin typeface="Roboto Mono"/>
                <a:ea typeface="Roboto Mono"/>
                <a:cs typeface="Roboto Mono"/>
              </a:rPr>
              <a:t>02</a:t>
            </a:r>
          </a:p>
        </p:txBody>
      </p:sp>
      <p:sp>
        <p:nvSpPr>
          <p:cNvPr id="9" name="">
            <a:extLst xmlns:a="http://schemas.openxmlformats.org/drawingml/2006/main">
              <a:ext uri="{FF2B5EF4-FFF2-40B4-BE49-F238E27FC236}">
                <a16:creationId xmlns:a16="http://schemas.microsoft.com/office/drawing/2014/main" id="{00689308-C231-4C27-9713-2EA91EA74F21}"/>
              </a:ext>
            </a:extLst>
          </p:cNvPr>
          <p:cNvSpPr>
            <a:spLocks xmlns:a="http://schemas.openxmlformats.org/drawingml/2006/main" noGrp="1"/>
          </p:cNvSpPr>
          <p:nvPr/>
        </p:nvSpPr>
        <p:spPr>
          <a:xfrm xmlns:a="http://schemas.openxmlformats.org/drawingml/2006/main">
            <a:off x="1371600" y="30670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4181C"/>
                </a:solidFill>
                <a:latin typeface="Arial"/>
                <a:ea typeface="Arial"/>
                <a:cs typeface="Arial"/>
              </a:defRPr>
            </a:pPr>
            <a:r>
              <a:rPr sz="2025" b="1">
                <a:solidFill>
                  <a:srgbClr val="14181C"/>
                </a:solidFill>
                <a:latin typeface="Arial"/>
                <a:ea typeface="Arial"/>
                <a:cs typeface="Arial"/>
              </a:rPr>
              <a:t>Ask what would earn approval</a:t>
            </a:r>
          </a:p>
        </p:txBody>
      </p:sp>
      <p:sp>
        <p:nvSpPr>
          <p:cNvPr id="10" name="">
            <a:extLst xmlns:a="http://schemas.openxmlformats.org/drawingml/2006/main">
              <a:ext uri="{FF2B5EF4-FFF2-40B4-BE49-F238E27FC236}">
                <a16:creationId xmlns:a16="http://schemas.microsoft.com/office/drawing/2014/main" id="{49C73944-B2C4-4361-941D-E9DE34AD0500}"/>
              </a:ext>
            </a:extLst>
          </p:cNvPr>
          <p:cNvSpPr>
            <a:spLocks xmlns:a="http://schemas.openxmlformats.org/drawingml/2006/main" noGrp="1"/>
          </p:cNvSpPr>
          <p:nvPr/>
        </p:nvSpPr>
        <p:spPr>
          <a:xfrm xmlns:a="http://schemas.openxmlformats.org/drawingml/2006/main">
            <a:off x="1371600" y="348615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444E54"/>
                </a:solidFill>
                <a:latin typeface="Arial"/>
                <a:ea typeface="Arial"/>
                <a:cs typeface="Arial"/>
              </a:defRPr>
            </a:pPr>
            <a:r>
              <a:rPr sz="1425" b="0">
                <a:solidFill>
                  <a:srgbClr val="444E54"/>
                </a:solidFill>
                <a:latin typeface="Arial"/>
                <a:ea typeface="Arial"/>
                <a:cs typeface="Arial"/>
              </a:rPr>
              <a:t>Land on the fact that zero external claims are attributable.</a:t>
            </a:r>
          </a:p>
        </p:txBody>
      </p:sp>
      <p:sp>
        <p:nvSpPr>
          <p:cNvPr id="11" name="">
            <a:extLst xmlns:a="http://schemas.openxmlformats.org/drawingml/2006/main">
              <a:ext uri="{FF2B5EF4-FFF2-40B4-BE49-F238E27FC236}">
                <a16:creationId xmlns:a16="http://schemas.microsoft.com/office/drawing/2014/main" id="{5C3ED41B-5D7A-4A5E-A8DB-A36F7F1FA1A7}"/>
              </a:ext>
            </a:extLst>
          </p:cNvPr>
          <p:cNvSpPr>
            <a:spLocks xmlns:a="http://schemas.openxmlformats.org/drawingml/2006/main" noGrp="1"/>
          </p:cNvSpPr>
          <p:nvPr/>
        </p:nvSpPr>
        <p:spPr>
          <a:xfrm xmlns:a="http://schemas.openxmlformats.org/drawingml/2006/main">
            <a:off x="1371600" y="4171950"/>
            <a:ext cx="41910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12" name="">
            <a:extLst xmlns:a="http://schemas.openxmlformats.org/drawingml/2006/main">
              <a:ext uri="{FF2B5EF4-FFF2-40B4-BE49-F238E27FC236}">
                <a16:creationId xmlns:a16="http://schemas.microsoft.com/office/drawing/2014/main" id="{B72DECDF-DDE8-4C46-B997-4B0746119CC3}"/>
              </a:ext>
            </a:extLst>
          </p:cNvPr>
          <p:cNvSpPr>
            <a:spLocks xmlns:a="http://schemas.openxmlformats.org/drawingml/2006/main" noGrp="1"/>
          </p:cNvSpPr>
          <p:nvPr/>
        </p:nvSpPr>
        <p:spPr>
          <a:xfrm xmlns:a="http://schemas.openxmlformats.org/drawingml/2006/main">
            <a:off x="685800" y="44005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24726A"/>
                </a:solidFill>
                <a:latin typeface="Roboto Mono"/>
                <a:ea typeface="Roboto Mono"/>
                <a:cs typeface="Roboto Mono"/>
              </a:defRPr>
            </a:pPr>
            <a:r>
              <a:rPr sz="1275" b="1">
                <a:solidFill>
                  <a:srgbClr val="24726A"/>
                </a:solidFill>
                <a:latin typeface="Roboto Mono"/>
                <a:ea typeface="Roboto Mono"/>
                <a:cs typeface="Roboto Mono"/>
              </a:rPr>
              <a:t>03</a:t>
            </a:r>
          </a:p>
        </p:txBody>
      </p:sp>
      <p:sp>
        <p:nvSpPr>
          <p:cNvPr id="13" name="">
            <a:extLst xmlns:a="http://schemas.openxmlformats.org/drawingml/2006/main">
              <a:ext uri="{FF2B5EF4-FFF2-40B4-BE49-F238E27FC236}">
                <a16:creationId xmlns:a16="http://schemas.microsoft.com/office/drawing/2014/main" id="{6ECBE72B-AF5C-4179-97E7-991EE909D027}"/>
              </a:ext>
            </a:extLst>
          </p:cNvPr>
          <p:cNvSpPr>
            <a:spLocks xmlns:a="http://schemas.openxmlformats.org/drawingml/2006/main" noGrp="1"/>
          </p:cNvSpPr>
          <p:nvPr/>
        </p:nvSpPr>
        <p:spPr>
          <a:xfrm xmlns:a="http://schemas.openxmlformats.org/drawingml/2006/main">
            <a:off x="1371600" y="43624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4181C"/>
                </a:solidFill>
                <a:latin typeface="Arial"/>
                <a:ea typeface="Arial"/>
                <a:cs typeface="Arial"/>
              </a:defRPr>
            </a:pPr>
            <a:r>
              <a:rPr sz="2025" b="1">
                <a:solidFill>
                  <a:srgbClr val="14181C"/>
                </a:solidFill>
                <a:latin typeface="Arial"/>
                <a:ea typeface="Arial"/>
                <a:cs typeface="Arial"/>
              </a:rPr>
              <a:t>Open the grounded memo</a:t>
            </a:r>
          </a:p>
        </p:txBody>
      </p:sp>
      <p:sp>
        <p:nvSpPr>
          <p:cNvPr id="14" name="">
            <a:extLst xmlns:a="http://schemas.openxmlformats.org/drawingml/2006/main">
              <a:ext uri="{FF2B5EF4-FFF2-40B4-BE49-F238E27FC236}">
                <a16:creationId xmlns:a16="http://schemas.microsoft.com/office/drawing/2014/main" id="{97F617F9-A8BE-47A3-ACB9-430B6DD10FC5}"/>
              </a:ext>
            </a:extLst>
          </p:cNvPr>
          <p:cNvSpPr>
            <a:spLocks xmlns:a="http://schemas.openxmlformats.org/drawingml/2006/main" noGrp="1"/>
          </p:cNvSpPr>
          <p:nvPr/>
        </p:nvSpPr>
        <p:spPr>
          <a:xfrm xmlns:a="http://schemas.openxmlformats.org/drawingml/2006/main">
            <a:off x="1371600" y="478155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444E54"/>
                </a:solidFill>
                <a:latin typeface="Arial"/>
                <a:ea typeface="Arial"/>
                <a:cs typeface="Arial"/>
              </a:defRPr>
            </a:pPr>
            <a:r>
              <a:rPr sz="1425" b="0">
                <a:solidFill>
                  <a:srgbClr val="444E54"/>
                </a:solidFill>
                <a:latin typeface="Arial"/>
                <a:ea typeface="Arial"/>
                <a:cs typeface="Arial"/>
              </a:rPr>
              <a:t>Click one number to reveal the tool result and agent that produced it.</a:t>
            </a:r>
          </a:p>
        </p:txBody>
      </p:sp>
      <p:sp>
        <p:nvSpPr>
          <p:cNvPr id="15" name="">
            <a:extLst xmlns:a="http://schemas.openxmlformats.org/drawingml/2006/main">
              <a:ext uri="{FF2B5EF4-FFF2-40B4-BE49-F238E27FC236}">
                <a16:creationId xmlns:a16="http://schemas.microsoft.com/office/drawing/2014/main" id="{16C811B4-5CB5-4B81-B58F-2757CDE53F16}"/>
              </a:ext>
            </a:extLst>
          </p:cNvPr>
          <p:cNvSpPr>
            <a:spLocks xmlns:a="http://schemas.openxmlformats.org/drawingml/2006/main" noGrp="1"/>
          </p:cNvSpPr>
          <p:nvPr/>
        </p:nvSpPr>
        <p:spPr>
          <a:xfrm xmlns:a="http://schemas.openxmlformats.org/drawingml/2006/main">
            <a:off x="6477000" y="1752600"/>
            <a:ext cx="5029200" cy="4057650"/>
          </a:xfrm>
          <a:prstGeom xmlns:a="http://schemas.openxmlformats.org/drawingml/2006/main" prst="roundRect">
            <a:avLst>
              <a:gd name="adj" fmla="val 1174"/>
            </a:avLst>
          </a:prstGeom>
          <a:solidFill xmlns:a="http://schemas.openxmlformats.org/drawingml/2006/main">
            <a:srgbClr val="FAFBF8"/>
          </a:solidFill>
          <a:ln xmlns:a="http://schemas.openxmlformats.org/drawingml/2006/main" w="11430">
            <a:solidFill>
              <a:srgbClr val="A9B3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06D086AC-D589-4E7E-876A-2234DD7B0A66}"/>
              </a:ext>
            </a:extLst>
          </p:cNvPr>
          <p:cNvSpPr>
            <a:spLocks xmlns:a="http://schemas.openxmlformats.org/drawingml/2006/main" noGrp="1"/>
          </p:cNvSpPr>
          <p:nvPr/>
        </p:nvSpPr>
        <p:spPr>
          <a:xfrm xmlns:a="http://schemas.openxmlformats.org/drawingml/2006/main">
            <a:off x="6762750" y="2019300"/>
            <a:ext cx="445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SAME DATA · SAME QUESTION</a:t>
            </a:r>
          </a:p>
        </p:txBody>
      </p:sp>
      <p:sp>
        <p:nvSpPr>
          <p:cNvPr id="17" name="">
            <a:extLst xmlns:a="http://schemas.openxmlformats.org/drawingml/2006/main">
              <a:ext uri="{FF2B5EF4-FFF2-40B4-BE49-F238E27FC236}">
                <a16:creationId xmlns:a16="http://schemas.microsoft.com/office/drawing/2014/main" id="{E13A453E-418E-4F81-A6D0-9D87627347C8}"/>
              </a:ext>
            </a:extLst>
          </p:cNvPr>
          <p:cNvSpPr>
            <a:spLocks xmlns:a="http://schemas.openxmlformats.org/drawingml/2006/main" noGrp="1"/>
          </p:cNvSpPr>
          <p:nvPr/>
        </p:nvSpPr>
        <p:spPr>
          <a:xfrm xmlns:a="http://schemas.openxmlformats.org/drawingml/2006/main">
            <a:off x="6762750" y="2362200"/>
            <a:ext cx="4457700" cy="0"/>
          </a:xfrm>
          <a:prstGeom xmlns:a="http://schemas.openxmlformats.org/drawingml/2006/main" prst="line">
            <a:avLst/>
          </a:prstGeom>
          <a:noFill xmlns:a="http://schemas.openxmlformats.org/drawingml/2006/main"/>
          <a:ln xmlns:a="http://schemas.openxmlformats.org/drawingml/2006/main" w="9525">
            <a:solidFill>
              <a:srgbClr val="A9B3AC"/>
            </a:solidFill>
            <a:prstDash val="solid"/>
          </a:ln>
        </p:spPr>
      </p:sp>
      <p:sp>
        <p:nvSpPr>
          <p:cNvPr id="18" name="">
            <a:extLst xmlns:a="http://schemas.openxmlformats.org/drawingml/2006/main">
              <a:ext uri="{FF2B5EF4-FFF2-40B4-BE49-F238E27FC236}">
                <a16:creationId xmlns:a16="http://schemas.microsoft.com/office/drawing/2014/main" id="{13ED6E67-313F-47B6-990A-85D2C07D6423}"/>
              </a:ext>
            </a:extLst>
          </p:cNvPr>
          <p:cNvSpPr>
            <a:spLocks xmlns:a="http://schemas.openxmlformats.org/drawingml/2006/main" noGrp="1"/>
          </p:cNvSpPr>
          <p:nvPr/>
        </p:nvSpPr>
        <p:spPr>
          <a:xfrm xmlns:a="http://schemas.openxmlformats.org/drawingml/2006/main">
            <a:off x="6762750" y="26670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9E3E36"/>
                </a:solidFill>
                <a:latin typeface="Roboto Mono"/>
                <a:ea typeface="Roboto Mono"/>
                <a:cs typeface="Roboto Mono"/>
              </a:defRPr>
            </a:pPr>
            <a:r>
              <a:rPr sz="1350" b="1">
                <a:solidFill>
                  <a:srgbClr val="9E3E36"/>
                </a:solidFill>
                <a:latin typeface="Roboto Mono"/>
                <a:ea typeface="Roboto Mono"/>
                <a:cs typeface="Roboto Mono"/>
              </a:rPr>
              <a:t>NAIVE</a:t>
            </a:r>
          </a:p>
        </p:txBody>
      </p:sp>
      <p:sp>
        <p:nvSpPr>
          <p:cNvPr id="19" name="">
            <a:extLst xmlns:a="http://schemas.openxmlformats.org/drawingml/2006/main">
              <a:ext uri="{FF2B5EF4-FFF2-40B4-BE49-F238E27FC236}">
                <a16:creationId xmlns:a16="http://schemas.microsoft.com/office/drawing/2014/main" id="{88D0A916-85EB-4BA7-9D22-15373CDEA5EE}"/>
              </a:ext>
            </a:extLst>
          </p:cNvPr>
          <p:cNvSpPr>
            <a:spLocks xmlns:a="http://schemas.openxmlformats.org/drawingml/2006/main" noGrp="1"/>
          </p:cNvSpPr>
          <p:nvPr/>
        </p:nvSpPr>
        <p:spPr>
          <a:xfrm xmlns:a="http://schemas.openxmlformats.org/drawingml/2006/main">
            <a:off x="6762750" y="30480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800" b="1">
                <a:solidFill>
                  <a:srgbClr val="9E3E36"/>
                </a:solidFill>
                <a:latin typeface="Roboto Mono"/>
                <a:ea typeface="Roboto Mono"/>
                <a:cs typeface="Roboto Mono"/>
              </a:defRPr>
            </a:pPr>
            <a:r>
              <a:rPr sz="4800" b="1">
                <a:solidFill>
                  <a:srgbClr val="9E3E36"/>
                </a:solidFill>
                <a:latin typeface="Roboto Mono"/>
                <a:ea typeface="Roboto Mono"/>
                <a:cs typeface="Roboto Mono"/>
              </a:rPr>
              <a:t>0</a:t>
            </a:r>
          </a:p>
        </p:txBody>
      </p:sp>
      <p:sp>
        <p:nvSpPr>
          <p:cNvPr id="20" name="">
            <a:extLst xmlns:a="http://schemas.openxmlformats.org/drawingml/2006/main">
              <a:ext uri="{FF2B5EF4-FFF2-40B4-BE49-F238E27FC236}">
                <a16:creationId xmlns:a16="http://schemas.microsoft.com/office/drawing/2014/main" id="{056C65B4-8229-4BCC-80BC-AC75CB9E7E2E}"/>
              </a:ext>
            </a:extLst>
          </p:cNvPr>
          <p:cNvSpPr>
            <a:spLocks xmlns:a="http://schemas.openxmlformats.org/drawingml/2006/main" noGrp="1"/>
          </p:cNvSpPr>
          <p:nvPr/>
        </p:nvSpPr>
        <p:spPr>
          <a:xfrm xmlns:a="http://schemas.openxmlformats.org/drawingml/2006/main">
            <a:off x="6762750" y="37242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444E54"/>
                </a:solidFill>
                <a:latin typeface="Arial"/>
                <a:ea typeface="Arial"/>
                <a:cs typeface="Arial"/>
              </a:defRPr>
            </a:pPr>
            <a:r>
              <a:rPr sz="1425" b="0">
                <a:solidFill>
                  <a:srgbClr val="444E54"/>
                </a:solidFill>
                <a:latin typeface="Arial"/>
                <a:ea typeface="Arial"/>
                <a:cs typeface="Arial"/>
              </a:rPr>
              <a:t>citations checked</a:t>
            </a:r>
          </a:p>
        </p:txBody>
      </p:sp>
      <p:sp>
        <p:nvSpPr>
          <p:cNvPr id="21" name="">
            <a:extLst xmlns:a="http://schemas.openxmlformats.org/drawingml/2006/main">
              <a:ext uri="{FF2B5EF4-FFF2-40B4-BE49-F238E27FC236}">
                <a16:creationId xmlns:a16="http://schemas.microsoft.com/office/drawing/2014/main" id="{F51C34AA-E289-47F2-86FE-F67931B7CA2E}"/>
              </a:ext>
            </a:extLst>
          </p:cNvPr>
          <p:cNvSpPr>
            <a:spLocks xmlns:a="http://schemas.openxmlformats.org/drawingml/2006/main" noGrp="1"/>
          </p:cNvSpPr>
          <p:nvPr/>
        </p:nvSpPr>
        <p:spPr>
          <a:xfrm xmlns:a="http://schemas.openxmlformats.org/drawingml/2006/main">
            <a:off x="8877300" y="2667000"/>
            <a:ext cx="0" cy="1524000"/>
          </a:xfrm>
          <a:prstGeom xmlns:a="http://schemas.openxmlformats.org/drawingml/2006/main" prst="line">
            <a:avLst/>
          </a:prstGeom>
          <a:noFill xmlns:a="http://schemas.openxmlformats.org/drawingml/2006/main"/>
          <a:ln xmlns:a="http://schemas.openxmlformats.org/drawingml/2006/main" w="11430">
            <a:solidFill>
              <a:srgbClr val="CBD2CA"/>
            </a:solidFill>
            <a:prstDash val="solid"/>
          </a:ln>
        </p:spPr>
      </p:sp>
      <p:sp>
        <p:nvSpPr>
          <p:cNvPr id="22" name="">
            <a:extLst xmlns:a="http://schemas.openxmlformats.org/drawingml/2006/main">
              <a:ext uri="{FF2B5EF4-FFF2-40B4-BE49-F238E27FC236}">
                <a16:creationId xmlns:a16="http://schemas.microsoft.com/office/drawing/2014/main" id="{F5041870-C15F-421D-B586-DEAC42584EB5}"/>
              </a:ext>
            </a:extLst>
          </p:cNvPr>
          <p:cNvSpPr>
            <a:spLocks xmlns:a="http://schemas.openxmlformats.org/drawingml/2006/main" noGrp="1"/>
          </p:cNvSpPr>
          <p:nvPr/>
        </p:nvSpPr>
        <p:spPr>
          <a:xfrm xmlns:a="http://schemas.openxmlformats.org/drawingml/2006/main">
            <a:off x="925830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35704A"/>
                </a:solidFill>
                <a:latin typeface="Roboto Mono"/>
                <a:ea typeface="Roboto Mono"/>
                <a:cs typeface="Roboto Mono"/>
              </a:defRPr>
            </a:pPr>
            <a:r>
              <a:rPr sz="1350" b="1">
                <a:solidFill>
                  <a:srgbClr val="35704A"/>
                </a:solidFill>
                <a:latin typeface="Roboto Mono"/>
                <a:ea typeface="Roboto Mono"/>
                <a:cs typeface="Roboto Mono"/>
              </a:rPr>
              <a:t>GROUNDED</a:t>
            </a:r>
          </a:p>
        </p:txBody>
      </p:sp>
      <p:sp>
        <p:nvSpPr>
          <p:cNvPr id="23" name="">
            <a:extLst xmlns:a="http://schemas.openxmlformats.org/drawingml/2006/main">
              <a:ext uri="{FF2B5EF4-FFF2-40B4-BE49-F238E27FC236}">
                <a16:creationId xmlns:a16="http://schemas.microsoft.com/office/drawing/2014/main" id="{240FC368-89C2-4B91-A6FF-1C1F75B943C8}"/>
              </a:ext>
            </a:extLst>
          </p:cNvPr>
          <p:cNvSpPr>
            <a:spLocks xmlns:a="http://schemas.openxmlformats.org/drawingml/2006/main" noGrp="1"/>
          </p:cNvSpPr>
          <p:nvPr/>
        </p:nvSpPr>
        <p:spPr>
          <a:xfrm xmlns:a="http://schemas.openxmlformats.org/drawingml/2006/main">
            <a:off x="9258300" y="31432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35704A"/>
                </a:solidFill>
                <a:latin typeface="Roboto Mono"/>
                <a:ea typeface="Roboto Mono"/>
                <a:cs typeface="Roboto Mono"/>
              </a:defRPr>
            </a:pPr>
            <a:r>
              <a:rPr sz="2850" b="1">
                <a:solidFill>
                  <a:srgbClr val="35704A"/>
                </a:solidFill>
                <a:latin typeface="Roboto Mono"/>
                <a:ea typeface="Roboto Mono"/>
                <a:cs typeface="Roboto Mono"/>
              </a:rPr>
              <a:t>CLICK</a:t>
            </a:r>
          </a:p>
        </p:txBody>
      </p:sp>
      <p:sp>
        <p:nvSpPr>
          <p:cNvPr id="24" name="">
            <a:extLst xmlns:a="http://schemas.openxmlformats.org/drawingml/2006/main">
              <a:ext uri="{FF2B5EF4-FFF2-40B4-BE49-F238E27FC236}">
                <a16:creationId xmlns:a16="http://schemas.microsoft.com/office/drawing/2014/main" id="{8A9ECC82-AB91-4159-B2A9-6BECBE9553CC}"/>
              </a:ext>
            </a:extLst>
          </p:cNvPr>
          <p:cNvSpPr>
            <a:spLocks xmlns:a="http://schemas.openxmlformats.org/drawingml/2006/main" noGrp="1"/>
          </p:cNvSpPr>
          <p:nvPr/>
        </p:nvSpPr>
        <p:spPr>
          <a:xfrm xmlns:a="http://schemas.openxmlformats.org/drawingml/2006/main">
            <a:off x="9258300" y="3724275"/>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444E54"/>
                </a:solidFill>
                <a:latin typeface="Arial"/>
                <a:ea typeface="Arial"/>
                <a:cs typeface="Arial"/>
              </a:defRPr>
            </a:pPr>
            <a:r>
              <a:rPr sz="1425" b="0">
                <a:solidFill>
                  <a:srgbClr val="444E54"/>
                </a:solidFill>
                <a:latin typeface="Arial"/>
                <a:ea typeface="Arial"/>
                <a:cs typeface="Arial"/>
              </a:rPr>
              <a:t>a figure to open its evidence</a:t>
            </a:r>
          </a:p>
        </p:txBody>
      </p:sp>
      <p:sp>
        <p:nvSpPr>
          <p:cNvPr id="25" name="">
            <a:extLst xmlns:a="http://schemas.openxmlformats.org/drawingml/2006/main">
              <a:ext uri="{FF2B5EF4-FFF2-40B4-BE49-F238E27FC236}">
                <a16:creationId xmlns:a16="http://schemas.microsoft.com/office/drawing/2014/main" id="{C09A92D2-9C4A-491D-96B5-C1DFDF8C17D7}"/>
              </a:ext>
            </a:extLst>
          </p:cNvPr>
          <p:cNvSpPr>
            <a:spLocks xmlns:a="http://schemas.openxmlformats.org/drawingml/2006/main" noGrp="1"/>
          </p:cNvSpPr>
          <p:nvPr/>
        </p:nvSpPr>
        <p:spPr>
          <a:xfrm xmlns:a="http://schemas.openxmlformats.org/drawingml/2006/main">
            <a:off x="6762750" y="4572000"/>
            <a:ext cx="4457700" cy="0"/>
          </a:xfrm>
          <a:prstGeom xmlns:a="http://schemas.openxmlformats.org/drawingml/2006/main" prst="line">
            <a:avLst/>
          </a:prstGeom>
          <a:noFill xmlns:a="http://schemas.openxmlformats.org/drawingml/2006/main"/>
          <a:ln xmlns:a="http://schemas.openxmlformats.org/drawingml/2006/main" w="9525">
            <a:solidFill>
              <a:srgbClr val="CBD2CA"/>
            </a:solidFill>
            <a:prstDash val="solid"/>
          </a:ln>
        </p:spPr>
      </p:sp>
      <p:sp>
        <p:nvSpPr>
          <p:cNvPr id="26" name="">
            <a:extLst xmlns:a="http://schemas.openxmlformats.org/drawingml/2006/main">
              <a:ext uri="{FF2B5EF4-FFF2-40B4-BE49-F238E27FC236}">
                <a16:creationId xmlns:a16="http://schemas.microsoft.com/office/drawing/2014/main" id="{36FA638B-9467-461A-9F20-3C644DCA7800}"/>
              </a:ext>
            </a:extLst>
          </p:cNvPr>
          <p:cNvSpPr>
            <a:spLocks xmlns:a="http://schemas.openxmlformats.org/drawingml/2006/main" noGrp="1"/>
          </p:cNvSpPr>
          <p:nvPr/>
        </p:nvSpPr>
        <p:spPr>
          <a:xfrm xmlns:a="http://schemas.openxmlformats.org/drawingml/2006/main">
            <a:off x="6762750" y="4895850"/>
            <a:ext cx="4457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4181C"/>
                </a:solidFill>
                <a:latin typeface="Arial"/>
                <a:ea typeface="Arial"/>
                <a:cs typeface="Arial"/>
              </a:defRPr>
            </a:pPr>
            <a:r>
              <a:rPr sz="2025" b="1">
                <a:solidFill>
                  <a:srgbClr val="14181C"/>
                </a:solidFill>
                <a:latin typeface="Arial"/>
                <a:ea typeface="Arial"/>
                <a:cs typeface="Arial"/>
              </a:rPr>
              <a:t>The persuasive memo is the least defensible one.</a:t>
            </a:r>
          </a:p>
        </p:txBody>
      </p:sp>
      <p:sp>
        <p:nvSpPr>
          <p:cNvPr id="27" name="">
            <a:extLst xmlns:a="http://schemas.openxmlformats.org/drawingml/2006/main">
              <a:ext uri="{FF2B5EF4-FFF2-40B4-BE49-F238E27FC236}">
                <a16:creationId xmlns:a16="http://schemas.microsoft.com/office/drawing/2014/main" id="{70B06975-385A-42D8-9394-E7E2D087A5C7}"/>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8" name="">
            <a:extLst xmlns:a="http://schemas.openxmlformats.org/drawingml/2006/main">
              <a:ext uri="{FF2B5EF4-FFF2-40B4-BE49-F238E27FC236}">
                <a16:creationId xmlns:a16="http://schemas.microsoft.com/office/drawing/2014/main" id="{774B2D02-00ED-4F4D-82B8-BC1C850E03D6}"/>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06</a:t>
            </a:r>
          </a:p>
        </p:txBody>
      </p:sp>
    </p:spTree>
    <p:extLst>
      <p:ext uri="{BB962C8B-B14F-4D97-AF65-F5344CB8AC3E}">
        <p14:creationId xmlns:p14="http://schemas.microsoft.com/office/powerpoint/2010/main" val="278081985"/>
      </p:ext>
    </p:extLst>
  </p:cSld>
</p:sld>
</file>

<file path=ppt/slides/slide7.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CDC2309-A702-4D5B-8CC2-DB1C1C3CBF15}"/>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FAILURE STORY</a:t>
            </a:r>
          </a:p>
        </p:txBody>
      </p:sp>
      <p:sp>
        <p:nvSpPr>
          <p:cNvPr id="2" name="slide-7-title">
            <a:extLst xmlns:a="http://schemas.openxmlformats.org/drawingml/2006/main">
              <a:ext uri="{FF2B5EF4-FFF2-40B4-BE49-F238E27FC236}">
                <a16:creationId xmlns:a16="http://schemas.microsoft.com/office/drawing/2014/main" id="{66AC048F-3843-4F97-80BF-2DD102DBB243}"/>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A silent boundary erased true evidence</a:t>
            </a:r>
          </a:p>
        </p:txBody>
      </p:sp>
      <p:sp>
        <p:nvSpPr>
          <p:cNvPr id="3" name="">
            <a:extLst xmlns:a="http://schemas.openxmlformats.org/drawingml/2006/main">
              <a:ext uri="{FF2B5EF4-FFF2-40B4-BE49-F238E27FC236}">
                <a16:creationId xmlns:a16="http://schemas.microsoft.com/office/drawing/2014/main" id="{DEDD545D-6449-405A-B230-D5A23F2C4C84}"/>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766F4693-EFDB-44F6-877E-B29FD3C6C9FD}"/>
              </a:ext>
            </a:extLst>
          </p:cNvPr>
          <p:cNvSpPr>
            <a:spLocks xmlns:a="http://schemas.openxmlformats.org/drawingml/2006/main" noGrp="1"/>
          </p:cNvSpPr>
          <p:nvPr/>
        </p:nvSpPr>
        <p:spPr>
          <a:xfrm xmlns:a="http://schemas.openxmlformats.org/drawingml/2006/main">
            <a:off x="685800" y="1676400"/>
            <a:ext cx="10820400" cy="781050"/>
          </a:xfrm>
          <a:prstGeom xmlns:a="http://schemas.openxmlformats.org/drawingml/2006/main" prst="rect">
            <a:avLst/>
          </a:prstGeom>
          <a:solidFill xmlns:a="http://schemas.openxmlformats.org/drawingml/2006/main">
            <a:srgbClr val="F0E7D8"/>
          </a:solidFill>
          <a:ln xmlns:a="http://schemas.openxmlformats.org/drawingml/2006/main" w="9525">
            <a:solidFill>
              <a:srgbClr val="96682A"/>
            </a:solidFill>
            <a:prstDash val="solid"/>
          </a:ln>
        </p:spPr>
      </p:sp>
      <p:sp>
        <p:nvSpPr>
          <p:cNvPr id="5" name="">
            <a:extLst xmlns:a="http://schemas.openxmlformats.org/drawingml/2006/main">
              <a:ext uri="{FF2B5EF4-FFF2-40B4-BE49-F238E27FC236}">
                <a16:creationId xmlns:a16="http://schemas.microsoft.com/office/drawing/2014/main" id="{25357C84-A285-401C-B597-B93C1C7C1B00}"/>
              </a:ext>
            </a:extLst>
          </p:cNvPr>
          <p:cNvSpPr>
            <a:spLocks xmlns:a="http://schemas.openxmlformats.org/drawingml/2006/main" noGrp="1"/>
          </p:cNvSpPr>
          <p:nvPr/>
        </p:nvSpPr>
        <p:spPr>
          <a:xfrm xmlns:a="http://schemas.openxmlformats.org/drawingml/2006/main">
            <a:off x="914400" y="18478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4181C"/>
                </a:solidFill>
                <a:latin typeface="Roboto Mono"/>
                <a:ea typeface="Roboto Mono"/>
                <a:cs typeface="Roboto Mono"/>
              </a:defRPr>
            </a:pPr>
            <a:r>
              <a:rPr sz="2550" b="1">
                <a:solidFill>
                  <a:srgbClr val="14181C"/>
                </a:solidFill>
                <a:latin typeface="Roboto Mono"/>
                <a:ea typeface="Roboto Mono"/>
                <a:cs typeface="Roboto Mono"/>
              </a:rPr>
              <a:t>$18,420.55</a:t>
            </a:r>
          </a:p>
        </p:txBody>
      </p:sp>
      <p:sp>
        <p:nvSpPr>
          <p:cNvPr id="6" name="">
            <a:extLst xmlns:a="http://schemas.openxmlformats.org/drawingml/2006/main">
              <a:ext uri="{FF2B5EF4-FFF2-40B4-BE49-F238E27FC236}">
                <a16:creationId xmlns:a16="http://schemas.microsoft.com/office/drawing/2014/main" id="{26ADBA54-292A-4855-8365-DAD34DE0F0F5}"/>
              </a:ext>
            </a:extLst>
          </p:cNvPr>
          <p:cNvSpPr>
            <a:spLocks xmlns:a="http://schemas.openxmlformats.org/drawingml/2006/main" noGrp="1"/>
          </p:cNvSpPr>
          <p:nvPr/>
        </p:nvSpPr>
        <p:spPr>
          <a:xfrm xmlns:a="http://schemas.openxmlformats.org/drawingml/2006/main">
            <a:off x="3257550" y="1885950"/>
            <a:ext cx="790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14181C"/>
                </a:solidFill>
                <a:latin typeface="Arial"/>
                <a:ea typeface="Arial"/>
                <a:cs typeface="Arial"/>
              </a:defRPr>
            </a:pPr>
            <a:r>
              <a:rPr sz="1800" b="0">
                <a:solidFill>
                  <a:srgbClr val="14181C"/>
                </a:solidFill>
                <a:latin typeface="Arial"/>
                <a:ea typeface="Arial"/>
                <a:cs typeface="Arial"/>
              </a:rPr>
              <a:t>was the real cash balance — and the verifier reported it as unsupported.</a:t>
            </a:r>
          </a:p>
        </p:txBody>
      </p:sp>
      <p:sp>
        <p:nvSpPr>
          <p:cNvPr id="7" name="">
            <a:extLst xmlns:a="http://schemas.openxmlformats.org/drawingml/2006/main">
              <a:ext uri="{FF2B5EF4-FFF2-40B4-BE49-F238E27FC236}">
                <a16:creationId xmlns:a16="http://schemas.microsoft.com/office/drawing/2014/main" id="{2C3EF7AA-31F2-4A1C-A761-019EEAB18D56}"/>
              </a:ext>
            </a:extLst>
          </p:cNvPr>
          <p:cNvSpPr>
            <a:spLocks xmlns:a="http://schemas.openxmlformats.org/drawingml/2006/main" noGrp="1"/>
          </p:cNvSpPr>
          <p:nvPr/>
        </p:nvSpPr>
        <p:spPr>
          <a:xfrm xmlns:a="http://schemas.openxmlformats.org/drawingml/2006/main">
            <a:off x="800100" y="2895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9E3E36"/>
                </a:solidFill>
                <a:latin typeface="Roboto Mono"/>
                <a:ea typeface="Roboto Mono"/>
                <a:cs typeface="Roboto Mono"/>
              </a:defRPr>
            </a:pPr>
            <a:r>
              <a:rPr sz="1200" b="1">
                <a:solidFill>
                  <a:srgbClr val="9E3E36"/>
                </a:solidFill>
                <a:latin typeface="Roboto Mono"/>
                <a:ea typeface="Roboto Mono"/>
                <a:cs typeface="Roboto Mono"/>
              </a:rPr>
              <a:t>BEFORE</a:t>
            </a:r>
          </a:p>
        </p:txBody>
      </p:sp>
      <p:sp>
        <p:nvSpPr>
          <p:cNvPr id="8" name="before-supervisor">
            <a:extLst xmlns:a="http://schemas.openxmlformats.org/drawingml/2006/main">
              <a:ext uri="{FF2B5EF4-FFF2-40B4-BE49-F238E27FC236}">
                <a16:creationId xmlns:a16="http://schemas.microsoft.com/office/drawing/2014/main" id="{F55CFD49-64F3-48D1-90DA-C2001EC715D1}"/>
              </a:ext>
            </a:extLst>
          </p:cNvPr>
          <p:cNvSpPr>
            <a:spLocks xmlns:a="http://schemas.openxmlformats.org/drawingml/2006/main" noGrp="1"/>
          </p:cNvSpPr>
          <p:nvPr/>
        </p:nvSpPr>
        <p:spPr>
          <a:xfrm xmlns:a="http://schemas.openxmlformats.org/drawingml/2006/main">
            <a:off x="800100" y="3276600"/>
            <a:ext cx="2000250" cy="685800"/>
          </a:xfrm>
          <a:prstGeom xmlns:a="http://schemas.openxmlformats.org/drawingml/2006/main" prst="roundRect">
            <a:avLst>
              <a:gd name="adj" fmla="val 9722"/>
            </a:avLst>
          </a:prstGeom>
          <a:solidFill xmlns:a="http://schemas.openxmlformats.org/drawingml/2006/main">
            <a:srgbClr val="F2E1DF"/>
          </a:solidFill>
          <a:ln xmlns:a="http://schemas.openxmlformats.org/drawingml/2006/main" w="11430">
            <a:solidFill>
              <a:srgbClr val="9E3E36"/>
            </a:solidFill>
            <a:prstDash val="solid"/>
          </a:ln>
        </p:spPr>
      </p:sp>
      <p:sp>
        <p:nvSpPr>
          <p:cNvPr id="9" name="">
            <a:extLst xmlns:a="http://schemas.openxmlformats.org/drawingml/2006/main">
              <a:ext uri="{FF2B5EF4-FFF2-40B4-BE49-F238E27FC236}">
                <a16:creationId xmlns:a16="http://schemas.microsoft.com/office/drawing/2014/main" id="{A14E08F6-9D59-4EE1-B484-0E6157B17A0A}"/>
              </a:ext>
            </a:extLst>
          </p:cNvPr>
          <p:cNvSpPr>
            <a:spLocks xmlns:a="http://schemas.openxmlformats.org/drawingml/2006/main" noGrp="1"/>
          </p:cNvSpPr>
          <p:nvPr/>
        </p:nvSpPr>
        <p:spPr>
          <a:xfrm xmlns:a="http://schemas.openxmlformats.org/drawingml/2006/main">
            <a:off x="933450" y="3400425"/>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4181C"/>
                </a:solidFill>
                <a:latin typeface="Arial"/>
                <a:ea typeface="Arial"/>
                <a:cs typeface="Arial"/>
              </a:defRPr>
            </a:pPr>
            <a:r>
              <a:rPr sz="1650" b="1">
                <a:solidFill>
                  <a:srgbClr val="14181C"/>
                </a:solidFill>
                <a:latin typeface="Arial"/>
                <a:ea typeface="Arial"/>
                <a:cs typeface="Arial"/>
              </a:rPr>
              <a:t>supervisor</a:t>
            </a:r>
          </a:p>
        </p:txBody>
      </p:sp>
      <p:sp>
        <p:nvSpPr>
          <p:cNvPr id="10" name="">
            <a:extLst xmlns:a="http://schemas.openxmlformats.org/drawingml/2006/main">
              <a:ext uri="{FF2B5EF4-FFF2-40B4-BE49-F238E27FC236}">
                <a16:creationId xmlns:a16="http://schemas.microsoft.com/office/drawing/2014/main" id="{5D834459-8768-452C-8381-BBF443A523D8}"/>
              </a:ext>
            </a:extLst>
          </p:cNvPr>
          <p:cNvSpPr>
            <a:spLocks xmlns:a="http://schemas.openxmlformats.org/drawingml/2006/main" noGrp="1"/>
          </p:cNvSpPr>
          <p:nvPr/>
        </p:nvSpPr>
        <p:spPr>
          <a:xfrm xmlns:a="http://schemas.openxmlformats.org/drawingml/2006/main">
            <a:off x="933450" y="372427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recorder installed</a:t>
            </a:r>
          </a:p>
        </p:txBody>
      </p:sp>
      <p:sp>
        <p:nvSpPr>
          <p:cNvPr id="11" name="before-subagent">
            <a:extLst xmlns:a="http://schemas.openxmlformats.org/drawingml/2006/main">
              <a:ext uri="{FF2B5EF4-FFF2-40B4-BE49-F238E27FC236}">
                <a16:creationId xmlns:a16="http://schemas.microsoft.com/office/drawing/2014/main" id="{CC06F8AD-CFB1-44F6-8A68-1E916F5AE8DD}"/>
              </a:ext>
            </a:extLst>
          </p:cNvPr>
          <p:cNvSpPr>
            <a:spLocks xmlns:a="http://schemas.openxmlformats.org/drawingml/2006/main" noGrp="1"/>
          </p:cNvSpPr>
          <p:nvPr/>
        </p:nvSpPr>
        <p:spPr>
          <a:xfrm xmlns:a="http://schemas.openxmlformats.org/drawingml/2006/main">
            <a:off x="3257550" y="3276600"/>
            <a:ext cx="2000250" cy="685800"/>
          </a:xfrm>
          <a:prstGeom xmlns:a="http://schemas.openxmlformats.org/drawingml/2006/main" prst="roundRect">
            <a:avLst>
              <a:gd name="adj" fmla="val 9722"/>
            </a:avLst>
          </a:prstGeom>
          <a:solidFill xmlns:a="http://schemas.openxmlformats.org/drawingml/2006/main">
            <a:srgbClr val="FAFBF8"/>
          </a:solidFill>
          <a:ln xmlns:a="http://schemas.openxmlformats.org/drawingml/2006/main" w="11430">
            <a:solidFill>
              <a:srgbClr val="9E3E36"/>
            </a:solidFill>
            <a:prstDash val="dash"/>
          </a:ln>
        </p:spPr>
      </p:sp>
      <p:sp>
        <p:nvSpPr>
          <p:cNvPr id="12" name="">
            <a:extLst xmlns:a="http://schemas.openxmlformats.org/drawingml/2006/main">
              <a:ext uri="{FF2B5EF4-FFF2-40B4-BE49-F238E27FC236}">
                <a16:creationId xmlns:a16="http://schemas.microsoft.com/office/drawing/2014/main" id="{7B986A66-EA07-4A55-ABA2-60D05AA6D372}"/>
              </a:ext>
            </a:extLst>
          </p:cNvPr>
          <p:cNvSpPr>
            <a:spLocks xmlns:a="http://schemas.openxmlformats.org/drawingml/2006/main" noGrp="1"/>
          </p:cNvSpPr>
          <p:nvPr/>
        </p:nvSpPr>
        <p:spPr>
          <a:xfrm xmlns:a="http://schemas.openxmlformats.org/drawingml/2006/main">
            <a:off x="3390900" y="3400425"/>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4181C"/>
                </a:solidFill>
                <a:latin typeface="Arial"/>
                <a:ea typeface="Arial"/>
                <a:cs typeface="Arial"/>
              </a:defRPr>
            </a:pPr>
            <a:r>
              <a:rPr sz="1650" b="1">
                <a:solidFill>
                  <a:srgbClr val="14181C"/>
                </a:solidFill>
                <a:latin typeface="Arial"/>
                <a:ea typeface="Arial"/>
                <a:cs typeface="Arial"/>
              </a:rPr>
              <a:t>subagent</a:t>
            </a:r>
          </a:p>
        </p:txBody>
      </p:sp>
      <p:sp>
        <p:nvSpPr>
          <p:cNvPr id="13" name="">
            <a:extLst xmlns:a="http://schemas.openxmlformats.org/drawingml/2006/main">
              <a:ext uri="{FF2B5EF4-FFF2-40B4-BE49-F238E27FC236}">
                <a16:creationId xmlns:a16="http://schemas.microsoft.com/office/drawing/2014/main" id="{027464F9-49D5-4B3E-8F90-B744D55B8CA2}"/>
              </a:ext>
            </a:extLst>
          </p:cNvPr>
          <p:cNvSpPr>
            <a:spLocks xmlns:a="http://schemas.openxmlformats.org/drawingml/2006/main" noGrp="1"/>
          </p:cNvSpPr>
          <p:nvPr/>
        </p:nvSpPr>
        <p:spPr>
          <a:xfrm xmlns:a="http://schemas.openxmlformats.org/drawingml/2006/main">
            <a:off x="3390900" y="372427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no recorder</a:t>
            </a:r>
          </a:p>
        </p:txBody>
      </p:sp>
      <p:sp>
        <p:nvSpPr>
          <p:cNvPr id="14" name="before-ledger">
            <a:extLst xmlns:a="http://schemas.openxmlformats.org/drawingml/2006/main">
              <a:ext uri="{FF2B5EF4-FFF2-40B4-BE49-F238E27FC236}">
                <a16:creationId xmlns:a16="http://schemas.microsoft.com/office/drawing/2014/main" id="{8631F722-189D-44C2-837C-34CEE52A7E4E}"/>
              </a:ext>
            </a:extLst>
          </p:cNvPr>
          <p:cNvSpPr>
            <a:spLocks xmlns:a="http://schemas.openxmlformats.org/drawingml/2006/main" noGrp="1"/>
          </p:cNvSpPr>
          <p:nvPr/>
        </p:nvSpPr>
        <p:spPr>
          <a:xfrm xmlns:a="http://schemas.openxmlformats.org/drawingml/2006/main">
            <a:off x="3257550" y="4419600"/>
            <a:ext cx="2000250" cy="685800"/>
          </a:xfrm>
          <a:prstGeom xmlns:a="http://schemas.openxmlformats.org/drawingml/2006/main" prst="roundRect">
            <a:avLst>
              <a:gd name="adj" fmla="val 9722"/>
            </a:avLst>
          </a:prstGeom>
          <a:solidFill xmlns:a="http://schemas.openxmlformats.org/drawingml/2006/main">
            <a:srgbClr val="FAFBF8"/>
          </a:solidFill>
          <a:ln xmlns:a="http://schemas.openxmlformats.org/drawingml/2006/main" w="11430">
            <a:solidFill>
              <a:srgbClr val="9E3E36"/>
            </a:solidFill>
            <a:prstDash val="solid"/>
          </a:ln>
        </p:spPr>
      </p:sp>
      <p:sp>
        <p:nvSpPr>
          <p:cNvPr id="15" name="">
            <a:extLst xmlns:a="http://schemas.openxmlformats.org/drawingml/2006/main">
              <a:ext uri="{FF2B5EF4-FFF2-40B4-BE49-F238E27FC236}">
                <a16:creationId xmlns:a16="http://schemas.microsoft.com/office/drawing/2014/main" id="{DEAA1C26-945F-4DE3-920F-C7AEF95AC63B}"/>
              </a:ext>
            </a:extLst>
          </p:cNvPr>
          <p:cNvSpPr>
            <a:spLocks xmlns:a="http://schemas.openxmlformats.org/drawingml/2006/main" noGrp="1"/>
          </p:cNvSpPr>
          <p:nvPr/>
        </p:nvSpPr>
        <p:spPr>
          <a:xfrm xmlns:a="http://schemas.openxmlformats.org/drawingml/2006/main">
            <a:off x="3390900" y="4543425"/>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9E3E36"/>
                </a:solidFill>
                <a:latin typeface="Arial"/>
                <a:ea typeface="Arial"/>
                <a:cs typeface="Arial"/>
              </a:defRPr>
            </a:pPr>
            <a:r>
              <a:rPr sz="1650" b="1">
                <a:solidFill>
                  <a:srgbClr val="9E3E36"/>
                </a:solidFill>
                <a:latin typeface="Arial"/>
                <a:ea typeface="Arial"/>
                <a:cs typeface="Arial"/>
              </a:rPr>
              <a:t>ledger</a:t>
            </a:r>
          </a:p>
        </p:txBody>
      </p:sp>
      <p:sp>
        <p:nvSpPr>
          <p:cNvPr id="16" name="">
            <a:extLst xmlns:a="http://schemas.openxmlformats.org/drawingml/2006/main">
              <a:ext uri="{FF2B5EF4-FFF2-40B4-BE49-F238E27FC236}">
                <a16:creationId xmlns:a16="http://schemas.microsoft.com/office/drawing/2014/main" id="{CFFE1C65-B812-42B9-9B62-BEB546A6F974}"/>
              </a:ext>
            </a:extLst>
          </p:cNvPr>
          <p:cNvSpPr>
            <a:spLocks xmlns:a="http://schemas.openxmlformats.org/drawingml/2006/main" noGrp="1"/>
          </p:cNvSpPr>
          <p:nvPr/>
        </p:nvSpPr>
        <p:spPr>
          <a:xfrm xmlns:a="http://schemas.openxmlformats.org/drawingml/2006/main">
            <a:off x="3390900" y="486727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evidence gap</a:t>
            </a:r>
          </a:p>
        </p:txBody>
      </p:sp>
      <p:cxnSp>
        <p:nvCxnSpPr>
          <p:cNvPr id="55" name=""/>
          <p:cNvCxnSpPr>
            <a:stCxn xmlns:a="http://schemas.openxmlformats.org/drawingml/2006/main" id="8" idx="3"/>
            <a:endCxn xmlns:a="http://schemas.openxmlformats.org/drawingml/2006/main" id="11" idx="1"/>
          </p:cNvCxnSpPr>
          <p:nvPr/>
        </p:nvCxnSpPr>
        <p:spPr>
          <a:xfrm xmlns:a="http://schemas.openxmlformats.org/drawingml/2006/main">
            <a:off x="2800350" y="3619500"/>
            <a:ext cx="457200" cy="0"/>
          </a:xfrm>
          <a:prstGeom xmlns:a="http://schemas.openxmlformats.org/drawingml/2006/main" prst="straightConnector1">
            <a:avLst/>
          </a:prstGeom>
          <a:ln xmlns:a="http://schemas.openxmlformats.org/drawingml/2006/main" w="14288">
            <a:solidFill>
              <a:srgbClr val="9E3E36"/>
            </a:solidFill>
            <a:prstDash val="solid"/>
            <a:tailEnd type="triangle" w="sm" len="sm"/>
          </a:ln>
        </p:spPr>
      </p:cxnSp>
      <p:cxnSp>
        <p:nvCxnSpPr>
          <p:cNvPr id="56" name=""/>
          <p:cNvCxnSpPr>
            <a:stCxn xmlns:a="http://schemas.openxmlformats.org/drawingml/2006/main" id="11" idx="2"/>
            <a:endCxn xmlns:a="http://schemas.openxmlformats.org/drawingml/2006/main" id="14" idx="0"/>
          </p:cNvCxnSpPr>
          <p:nvPr/>
        </p:nvCxnSpPr>
        <p:spPr>
          <a:xfrm xmlns:a="http://schemas.openxmlformats.org/drawingml/2006/main">
            <a:off x="4257675" y="3962400"/>
            <a:ext cx="0" cy="457200"/>
          </a:xfrm>
          <a:prstGeom xmlns:a="http://schemas.openxmlformats.org/drawingml/2006/main" prst="straightConnector1">
            <a:avLst/>
          </a:prstGeom>
          <a:ln xmlns:a="http://schemas.openxmlformats.org/drawingml/2006/main" w="14288">
            <a:solidFill>
              <a:srgbClr val="9E3E36"/>
            </a:solidFill>
            <a:prstDash val="dash"/>
            <a:tailEnd type="triangle" w="sm" len="sm"/>
          </a:ln>
        </p:spPr>
      </p:cxnSp>
      <p:sp>
        <p:nvSpPr>
          <p:cNvPr id="19" name="">
            <a:extLst xmlns:a="http://schemas.openxmlformats.org/drawingml/2006/main">
              <a:ext uri="{FF2B5EF4-FFF2-40B4-BE49-F238E27FC236}">
                <a16:creationId xmlns:a16="http://schemas.microsoft.com/office/drawing/2014/main" id="{DA7D1315-50D6-4404-9960-802B7D4FE01D}"/>
              </a:ext>
            </a:extLst>
          </p:cNvPr>
          <p:cNvSpPr>
            <a:spLocks xmlns:a="http://schemas.openxmlformats.org/drawingml/2006/main" noGrp="1"/>
          </p:cNvSpPr>
          <p:nvPr/>
        </p:nvSpPr>
        <p:spPr>
          <a:xfrm xmlns:a="http://schemas.openxmlformats.org/drawingml/2006/main">
            <a:off x="800100" y="44958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a:solidFill>
                  <a:srgbClr val="9E3E36"/>
                </a:solidFill>
                <a:latin typeface="Roboto Mono"/>
                <a:ea typeface="Roboto Mono"/>
                <a:cs typeface="Roboto Mono"/>
              </a:defRPr>
            </a:pPr>
            <a:r>
              <a:rPr sz="3450" b="1">
                <a:solidFill>
                  <a:srgbClr val="9E3E36"/>
                </a:solidFill>
                <a:latin typeface="Roboto Mono"/>
                <a:ea typeface="Roboto Mono"/>
                <a:cs typeface="Roboto Mono"/>
              </a:rPr>
              <a:t>76.58%</a:t>
            </a:r>
          </a:p>
        </p:txBody>
      </p:sp>
      <p:sp>
        <p:nvSpPr>
          <p:cNvPr id="20" name="">
            <a:extLst xmlns:a="http://schemas.openxmlformats.org/drawingml/2006/main">
              <a:ext uri="{FF2B5EF4-FFF2-40B4-BE49-F238E27FC236}">
                <a16:creationId xmlns:a16="http://schemas.microsoft.com/office/drawing/2014/main" id="{7A047A17-0FF0-476D-8CFD-387527F1D395}"/>
              </a:ext>
            </a:extLst>
          </p:cNvPr>
          <p:cNvSpPr>
            <a:spLocks xmlns:a="http://schemas.openxmlformats.org/drawingml/2006/main" noGrp="1"/>
          </p:cNvSpPr>
          <p:nvPr/>
        </p:nvSpPr>
        <p:spPr>
          <a:xfrm xmlns:a="http://schemas.openxmlformats.org/drawingml/2006/main">
            <a:off x="800100" y="508635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444E54"/>
                </a:solidFill>
                <a:latin typeface="Arial"/>
                <a:ea typeface="Arial"/>
                <a:cs typeface="Arial"/>
              </a:defRPr>
            </a:pPr>
            <a:r>
              <a:rPr sz="1350" b="0">
                <a:solidFill>
                  <a:srgbClr val="444E54"/>
                </a:solidFill>
                <a:latin typeface="Arial"/>
                <a:ea typeface="Arial"/>
                <a:cs typeface="Arial"/>
              </a:rPr>
              <a:t>grounding</a:t>
            </a:r>
          </a:p>
        </p:txBody>
      </p:sp>
      <p:sp>
        <p:nvSpPr>
          <p:cNvPr id="21" name="">
            <a:extLst xmlns:a="http://schemas.openxmlformats.org/drawingml/2006/main">
              <a:ext uri="{FF2B5EF4-FFF2-40B4-BE49-F238E27FC236}">
                <a16:creationId xmlns:a16="http://schemas.microsoft.com/office/drawing/2014/main" id="{336D88CD-2C86-41AD-BB94-571FC013F89C}"/>
              </a:ext>
            </a:extLst>
          </p:cNvPr>
          <p:cNvSpPr>
            <a:spLocks xmlns:a="http://schemas.openxmlformats.org/drawingml/2006/main" noGrp="1"/>
          </p:cNvSpPr>
          <p:nvPr/>
        </p:nvSpPr>
        <p:spPr>
          <a:xfrm xmlns:a="http://schemas.openxmlformats.org/drawingml/2006/main">
            <a:off x="6096000" y="2895600"/>
            <a:ext cx="0" cy="2724150"/>
          </a:xfrm>
          <a:prstGeom xmlns:a="http://schemas.openxmlformats.org/drawingml/2006/main" prst="line">
            <a:avLst/>
          </a:prstGeom>
          <a:noFill xmlns:a="http://schemas.openxmlformats.org/drawingml/2006/main"/>
          <a:ln xmlns:a="http://schemas.openxmlformats.org/drawingml/2006/main" w="14288">
            <a:solidFill>
              <a:srgbClr val="A9B3AC"/>
            </a:solidFill>
            <a:prstDash val="solid"/>
          </a:ln>
        </p:spPr>
      </p:sp>
      <p:sp>
        <p:nvSpPr>
          <p:cNvPr id="22" name="">
            <a:extLst xmlns:a="http://schemas.openxmlformats.org/drawingml/2006/main">
              <a:ext uri="{FF2B5EF4-FFF2-40B4-BE49-F238E27FC236}">
                <a16:creationId xmlns:a16="http://schemas.microsoft.com/office/drawing/2014/main" id="{E8A32971-8CB1-4880-845B-CA0746C6DB2C}"/>
              </a:ext>
            </a:extLst>
          </p:cNvPr>
          <p:cNvSpPr>
            <a:spLocks xmlns:a="http://schemas.openxmlformats.org/drawingml/2006/main" noGrp="1"/>
          </p:cNvSpPr>
          <p:nvPr/>
        </p:nvSpPr>
        <p:spPr>
          <a:xfrm xmlns:a="http://schemas.openxmlformats.org/drawingml/2006/main">
            <a:off x="6705600" y="2895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35704A"/>
                </a:solidFill>
                <a:latin typeface="Roboto Mono"/>
                <a:ea typeface="Roboto Mono"/>
                <a:cs typeface="Roboto Mono"/>
              </a:defRPr>
            </a:pPr>
            <a:r>
              <a:rPr sz="1200" b="1">
                <a:solidFill>
                  <a:srgbClr val="35704A"/>
                </a:solidFill>
                <a:latin typeface="Roboto Mono"/>
                <a:ea typeface="Roboto Mono"/>
                <a:cs typeface="Roboto Mono"/>
              </a:rPr>
              <a:t>AFTER</a:t>
            </a:r>
          </a:p>
        </p:txBody>
      </p:sp>
      <p:sp>
        <p:nvSpPr>
          <p:cNvPr id="23" name="after-supervisor">
            <a:extLst xmlns:a="http://schemas.openxmlformats.org/drawingml/2006/main">
              <a:ext uri="{FF2B5EF4-FFF2-40B4-BE49-F238E27FC236}">
                <a16:creationId xmlns:a16="http://schemas.microsoft.com/office/drawing/2014/main" id="{A797014C-42A3-4E06-8C01-9A823B1628F0}"/>
              </a:ext>
            </a:extLst>
          </p:cNvPr>
          <p:cNvSpPr>
            <a:spLocks xmlns:a="http://schemas.openxmlformats.org/drawingml/2006/main" noGrp="1"/>
          </p:cNvSpPr>
          <p:nvPr/>
        </p:nvSpPr>
        <p:spPr>
          <a:xfrm xmlns:a="http://schemas.openxmlformats.org/drawingml/2006/main">
            <a:off x="6705600" y="3276600"/>
            <a:ext cx="2000250" cy="685800"/>
          </a:xfrm>
          <a:prstGeom xmlns:a="http://schemas.openxmlformats.org/drawingml/2006/main" prst="roundRect">
            <a:avLst>
              <a:gd name="adj" fmla="val 9722"/>
            </a:avLst>
          </a:prstGeom>
          <a:solidFill xmlns:a="http://schemas.openxmlformats.org/drawingml/2006/main">
            <a:srgbClr val="E2ECE4"/>
          </a:solidFill>
          <a:ln xmlns:a="http://schemas.openxmlformats.org/drawingml/2006/main" w="11430">
            <a:solidFill>
              <a:srgbClr val="35704A"/>
            </a:solidFill>
            <a:prstDash val="solid"/>
          </a:ln>
        </p:spPr>
      </p:sp>
      <p:sp>
        <p:nvSpPr>
          <p:cNvPr id="24" name="">
            <a:extLst xmlns:a="http://schemas.openxmlformats.org/drawingml/2006/main">
              <a:ext uri="{FF2B5EF4-FFF2-40B4-BE49-F238E27FC236}">
                <a16:creationId xmlns:a16="http://schemas.microsoft.com/office/drawing/2014/main" id="{B2FDFF4B-9F99-4553-8911-F6B932F45477}"/>
              </a:ext>
            </a:extLst>
          </p:cNvPr>
          <p:cNvSpPr>
            <a:spLocks xmlns:a="http://schemas.openxmlformats.org/drawingml/2006/main" noGrp="1"/>
          </p:cNvSpPr>
          <p:nvPr/>
        </p:nvSpPr>
        <p:spPr>
          <a:xfrm xmlns:a="http://schemas.openxmlformats.org/drawingml/2006/main">
            <a:off x="6838950" y="3400425"/>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4181C"/>
                </a:solidFill>
                <a:latin typeface="Arial"/>
                <a:ea typeface="Arial"/>
                <a:cs typeface="Arial"/>
              </a:defRPr>
            </a:pPr>
            <a:r>
              <a:rPr sz="1650" b="1">
                <a:solidFill>
                  <a:srgbClr val="14181C"/>
                </a:solidFill>
                <a:latin typeface="Arial"/>
                <a:ea typeface="Arial"/>
                <a:cs typeface="Arial"/>
              </a:rPr>
              <a:t>supervisor</a:t>
            </a:r>
          </a:p>
        </p:txBody>
      </p:sp>
      <p:sp>
        <p:nvSpPr>
          <p:cNvPr id="25" name="">
            <a:extLst xmlns:a="http://schemas.openxmlformats.org/drawingml/2006/main">
              <a:ext uri="{FF2B5EF4-FFF2-40B4-BE49-F238E27FC236}">
                <a16:creationId xmlns:a16="http://schemas.microsoft.com/office/drawing/2014/main" id="{6F3210C2-93FA-47BB-9AC4-0351F403F76F}"/>
              </a:ext>
            </a:extLst>
          </p:cNvPr>
          <p:cNvSpPr>
            <a:spLocks xmlns:a="http://schemas.openxmlformats.org/drawingml/2006/main" noGrp="1"/>
          </p:cNvSpPr>
          <p:nvPr/>
        </p:nvSpPr>
        <p:spPr>
          <a:xfrm xmlns:a="http://schemas.openxmlformats.org/drawingml/2006/main">
            <a:off x="6838950" y="372427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recorder installed</a:t>
            </a:r>
          </a:p>
        </p:txBody>
      </p:sp>
      <p:sp>
        <p:nvSpPr>
          <p:cNvPr id="26" name="after-subagent">
            <a:extLst xmlns:a="http://schemas.openxmlformats.org/drawingml/2006/main">
              <a:ext uri="{FF2B5EF4-FFF2-40B4-BE49-F238E27FC236}">
                <a16:creationId xmlns:a16="http://schemas.microsoft.com/office/drawing/2014/main" id="{44F27082-684A-46D8-A393-0D2DBFE44FBF}"/>
              </a:ext>
            </a:extLst>
          </p:cNvPr>
          <p:cNvSpPr>
            <a:spLocks xmlns:a="http://schemas.openxmlformats.org/drawingml/2006/main" noGrp="1"/>
          </p:cNvSpPr>
          <p:nvPr/>
        </p:nvSpPr>
        <p:spPr>
          <a:xfrm xmlns:a="http://schemas.openxmlformats.org/drawingml/2006/main">
            <a:off x="9163050" y="3276600"/>
            <a:ext cx="2152650" cy="685800"/>
          </a:xfrm>
          <a:prstGeom xmlns:a="http://schemas.openxmlformats.org/drawingml/2006/main" prst="roundRect">
            <a:avLst>
              <a:gd name="adj" fmla="val 9722"/>
            </a:avLst>
          </a:prstGeom>
          <a:solidFill xmlns:a="http://schemas.openxmlformats.org/drawingml/2006/main">
            <a:srgbClr val="E2ECE4"/>
          </a:solidFill>
          <a:ln xmlns:a="http://schemas.openxmlformats.org/drawingml/2006/main" w="11430">
            <a:solidFill>
              <a:srgbClr val="35704A"/>
            </a:solidFill>
            <a:prstDash val="solid"/>
          </a:ln>
        </p:spPr>
      </p:sp>
      <p:sp>
        <p:nvSpPr>
          <p:cNvPr id="27" name="">
            <a:extLst xmlns:a="http://schemas.openxmlformats.org/drawingml/2006/main">
              <a:ext uri="{FF2B5EF4-FFF2-40B4-BE49-F238E27FC236}">
                <a16:creationId xmlns:a16="http://schemas.microsoft.com/office/drawing/2014/main" id="{D5654DCD-B3F0-40C4-9927-5259E154BEBD}"/>
              </a:ext>
            </a:extLst>
          </p:cNvPr>
          <p:cNvSpPr>
            <a:spLocks xmlns:a="http://schemas.openxmlformats.org/drawingml/2006/main" noGrp="1"/>
          </p:cNvSpPr>
          <p:nvPr/>
        </p:nvSpPr>
        <p:spPr>
          <a:xfrm xmlns:a="http://schemas.openxmlformats.org/drawingml/2006/main">
            <a:off x="9296400" y="3400425"/>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4181C"/>
                </a:solidFill>
                <a:latin typeface="Arial"/>
                <a:ea typeface="Arial"/>
                <a:cs typeface="Arial"/>
              </a:defRPr>
            </a:pPr>
            <a:r>
              <a:rPr sz="1650" b="1">
                <a:solidFill>
                  <a:srgbClr val="14181C"/>
                </a:solidFill>
                <a:latin typeface="Arial"/>
                <a:ea typeface="Arial"/>
                <a:cs typeface="Arial"/>
              </a:rPr>
              <a:t>subagent</a:t>
            </a:r>
          </a:p>
        </p:txBody>
      </p:sp>
      <p:sp>
        <p:nvSpPr>
          <p:cNvPr id="28" name="">
            <a:extLst xmlns:a="http://schemas.openxmlformats.org/drawingml/2006/main">
              <a:ext uri="{FF2B5EF4-FFF2-40B4-BE49-F238E27FC236}">
                <a16:creationId xmlns:a16="http://schemas.microsoft.com/office/drawing/2014/main" id="{DEF6A592-0F73-41D4-A0C1-52564BAE39EC}"/>
              </a:ext>
            </a:extLst>
          </p:cNvPr>
          <p:cNvSpPr>
            <a:spLocks xmlns:a="http://schemas.openxmlformats.org/drawingml/2006/main" noGrp="1"/>
          </p:cNvSpPr>
          <p:nvPr/>
        </p:nvSpPr>
        <p:spPr>
          <a:xfrm xmlns:a="http://schemas.openxmlformats.org/drawingml/2006/main">
            <a:off x="9296400" y="3724275"/>
            <a:ext cx="1885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recorder installed</a:t>
            </a:r>
          </a:p>
        </p:txBody>
      </p:sp>
      <p:sp>
        <p:nvSpPr>
          <p:cNvPr id="29" name="after-ledger">
            <a:extLst xmlns:a="http://schemas.openxmlformats.org/drawingml/2006/main">
              <a:ext uri="{FF2B5EF4-FFF2-40B4-BE49-F238E27FC236}">
                <a16:creationId xmlns:a16="http://schemas.microsoft.com/office/drawing/2014/main" id="{17AC2992-1BEB-4B40-AC16-59F161372327}"/>
              </a:ext>
            </a:extLst>
          </p:cNvPr>
          <p:cNvSpPr>
            <a:spLocks xmlns:a="http://schemas.openxmlformats.org/drawingml/2006/main" noGrp="1"/>
          </p:cNvSpPr>
          <p:nvPr/>
        </p:nvSpPr>
        <p:spPr>
          <a:xfrm xmlns:a="http://schemas.openxmlformats.org/drawingml/2006/main">
            <a:off x="9163050" y="4419600"/>
            <a:ext cx="2152650" cy="685800"/>
          </a:xfrm>
          <a:prstGeom xmlns:a="http://schemas.openxmlformats.org/drawingml/2006/main" prst="roundRect">
            <a:avLst>
              <a:gd name="adj" fmla="val 9722"/>
            </a:avLst>
          </a:prstGeom>
          <a:solidFill xmlns:a="http://schemas.openxmlformats.org/drawingml/2006/main">
            <a:srgbClr val="FAFBF8"/>
          </a:solidFill>
          <a:ln xmlns:a="http://schemas.openxmlformats.org/drawingml/2006/main" w="11430">
            <a:solidFill>
              <a:srgbClr val="35704A"/>
            </a:solidFill>
            <a:prstDash val="solid"/>
          </a:ln>
        </p:spPr>
      </p:sp>
      <p:sp>
        <p:nvSpPr>
          <p:cNvPr id="30" name="">
            <a:extLst xmlns:a="http://schemas.openxmlformats.org/drawingml/2006/main">
              <a:ext uri="{FF2B5EF4-FFF2-40B4-BE49-F238E27FC236}">
                <a16:creationId xmlns:a16="http://schemas.microsoft.com/office/drawing/2014/main" id="{F89A06DE-673D-403A-9471-DAD16605A47B}"/>
              </a:ext>
            </a:extLst>
          </p:cNvPr>
          <p:cNvSpPr>
            <a:spLocks xmlns:a="http://schemas.openxmlformats.org/drawingml/2006/main" noGrp="1"/>
          </p:cNvSpPr>
          <p:nvPr/>
        </p:nvSpPr>
        <p:spPr>
          <a:xfrm xmlns:a="http://schemas.openxmlformats.org/drawingml/2006/main">
            <a:off x="9296400" y="4543425"/>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35704A"/>
                </a:solidFill>
                <a:latin typeface="Arial"/>
                <a:ea typeface="Arial"/>
                <a:cs typeface="Arial"/>
              </a:defRPr>
            </a:pPr>
            <a:r>
              <a:rPr sz="1650" b="1">
                <a:solidFill>
                  <a:srgbClr val="35704A"/>
                </a:solidFill>
                <a:latin typeface="Arial"/>
                <a:ea typeface="Arial"/>
                <a:cs typeface="Arial"/>
              </a:rPr>
              <a:t>shared ledger</a:t>
            </a:r>
          </a:p>
        </p:txBody>
      </p:sp>
      <p:sp>
        <p:nvSpPr>
          <p:cNvPr id="31" name="">
            <a:extLst xmlns:a="http://schemas.openxmlformats.org/drawingml/2006/main">
              <a:ext uri="{FF2B5EF4-FFF2-40B4-BE49-F238E27FC236}">
                <a16:creationId xmlns:a16="http://schemas.microsoft.com/office/drawing/2014/main" id="{245DD3F6-0D4E-4E2E-A46A-439538A0EB76}"/>
              </a:ext>
            </a:extLst>
          </p:cNvPr>
          <p:cNvSpPr>
            <a:spLocks xmlns:a="http://schemas.openxmlformats.org/drawingml/2006/main" noGrp="1"/>
          </p:cNvSpPr>
          <p:nvPr/>
        </p:nvSpPr>
        <p:spPr>
          <a:xfrm xmlns:a="http://schemas.openxmlformats.org/drawingml/2006/main">
            <a:off x="9296400" y="4867275"/>
            <a:ext cx="1885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0">
                <a:solidFill>
                  <a:srgbClr val="6E7A80"/>
                </a:solidFill>
                <a:latin typeface="Arial"/>
                <a:ea typeface="Arial"/>
                <a:cs typeface="Arial"/>
              </a:defRPr>
            </a:pPr>
            <a:r>
              <a:rPr sz="1125" b="0">
                <a:solidFill>
                  <a:srgbClr val="6E7A80"/>
                </a:solidFill>
                <a:latin typeface="Arial"/>
                <a:ea typeface="Arial"/>
                <a:cs typeface="Arial"/>
              </a:rPr>
              <a:t>complete evidence</a:t>
            </a:r>
          </a:p>
        </p:txBody>
      </p:sp>
      <p:cxnSp>
        <p:nvCxnSpPr>
          <p:cNvPr id="70" name=""/>
          <p:cNvCxnSpPr>
            <a:stCxn xmlns:a="http://schemas.openxmlformats.org/drawingml/2006/main" id="23" idx="3"/>
            <a:endCxn xmlns:a="http://schemas.openxmlformats.org/drawingml/2006/main" id="26" idx="1"/>
          </p:cNvCxnSpPr>
          <p:nvPr/>
        </p:nvCxnSpPr>
        <p:spPr>
          <a:xfrm xmlns:a="http://schemas.openxmlformats.org/drawingml/2006/main">
            <a:off x="8705850" y="3619500"/>
            <a:ext cx="457200" cy="0"/>
          </a:xfrm>
          <a:prstGeom xmlns:a="http://schemas.openxmlformats.org/drawingml/2006/main" prst="straightConnector1">
            <a:avLst/>
          </a:prstGeom>
          <a:ln xmlns:a="http://schemas.openxmlformats.org/drawingml/2006/main" w="14288">
            <a:solidFill>
              <a:srgbClr val="35704A"/>
            </a:solidFill>
            <a:prstDash val="solid"/>
            <a:tailEnd type="triangle" w="sm" len="sm"/>
          </a:ln>
        </p:spPr>
      </p:cxnSp>
      <p:cxnSp>
        <p:nvCxnSpPr>
          <p:cNvPr id="71" name=""/>
          <p:cNvCxnSpPr>
            <a:stCxn xmlns:a="http://schemas.openxmlformats.org/drawingml/2006/main" id="26" idx="2"/>
            <a:endCxn xmlns:a="http://schemas.openxmlformats.org/drawingml/2006/main" id="29" idx="0"/>
          </p:cNvCxnSpPr>
          <p:nvPr/>
        </p:nvCxnSpPr>
        <p:spPr>
          <a:xfrm xmlns:a="http://schemas.openxmlformats.org/drawingml/2006/main">
            <a:off x="10239375" y="3962400"/>
            <a:ext cx="0" cy="457200"/>
          </a:xfrm>
          <a:prstGeom xmlns:a="http://schemas.openxmlformats.org/drawingml/2006/main" prst="straightConnector1">
            <a:avLst/>
          </a:prstGeom>
          <a:ln xmlns:a="http://schemas.openxmlformats.org/drawingml/2006/main" w="14288">
            <a:solidFill>
              <a:srgbClr val="35704A"/>
            </a:solidFill>
            <a:prstDash val="solid"/>
            <a:tailEnd type="triangle" w="sm" len="sm"/>
          </a:ln>
        </p:spPr>
      </p:cxnSp>
      <p:sp>
        <p:nvSpPr>
          <p:cNvPr id="34" name="">
            <a:extLst xmlns:a="http://schemas.openxmlformats.org/drawingml/2006/main">
              <a:ext uri="{FF2B5EF4-FFF2-40B4-BE49-F238E27FC236}">
                <a16:creationId xmlns:a16="http://schemas.microsoft.com/office/drawing/2014/main" id="{9C10C569-92D7-49C5-9EAE-62836D1E6D43}"/>
              </a:ext>
            </a:extLst>
          </p:cNvPr>
          <p:cNvSpPr>
            <a:spLocks xmlns:a="http://schemas.openxmlformats.org/drawingml/2006/main" noGrp="1"/>
          </p:cNvSpPr>
          <p:nvPr/>
        </p:nvSpPr>
        <p:spPr>
          <a:xfrm xmlns:a="http://schemas.openxmlformats.org/drawingml/2006/main">
            <a:off x="6705600" y="44958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a:solidFill>
                  <a:srgbClr val="35704A"/>
                </a:solidFill>
                <a:latin typeface="Roboto Mono"/>
                <a:ea typeface="Roboto Mono"/>
                <a:cs typeface="Roboto Mono"/>
              </a:defRPr>
            </a:pPr>
            <a:r>
              <a:rPr sz="3450" b="1">
                <a:solidFill>
                  <a:srgbClr val="35704A"/>
                </a:solidFill>
                <a:latin typeface="Roboto Mono"/>
                <a:ea typeface="Roboto Mono"/>
                <a:cs typeface="Roboto Mono"/>
              </a:rPr>
              <a:t>99.24%</a:t>
            </a:r>
          </a:p>
        </p:txBody>
      </p:sp>
      <p:sp>
        <p:nvSpPr>
          <p:cNvPr id="35" name="">
            <a:extLst xmlns:a="http://schemas.openxmlformats.org/drawingml/2006/main">
              <a:ext uri="{FF2B5EF4-FFF2-40B4-BE49-F238E27FC236}">
                <a16:creationId xmlns:a16="http://schemas.microsoft.com/office/drawing/2014/main" id="{461299AD-1EF4-4C77-A5C0-9441F1C490F3}"/>
              </a:ext>
            </a:extLst>
          </p:cNvPr>
          <p:cNvSpPr>
            <a:spLocks xmlns:a="http://schemas.openxmlformats.org/drawingml/2006/main" noGrp="1"/>
          </p:cNvSpPr>
          <p:nvPr/>
        </p:nvSpPr>
        <p:spPr>
          <a:xfrm xmlns:a="http://schemas.openxmlformats.org/drawingml/2006/main">
            <a:off x="6705600" y="508635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444E54"/>
                </a:solidFill>
                <a:latin typeface="Arial"/>
                <a:ea typeface="Arial"/>
                <a:cs typeface="Arial"/>
              </a:defRPr>
            </a:pPr>
            <a:r>
              <a:rPr sz="1350" b="0">
                <a:solidFill>
                  <a:srgbClr val="444E54"/>
                </a:solidFill>
                <a:latin typeface="Arial"/>
                <a:ea typeface="Arial"/>
                <a:cs typeface="Arial"/>
              </a:rPr>
              <a:t>grounding</a:t>
            </a:r>
          </a:p>
        </p:txBody>
      </p:sp>
      <p:sp>
        <p:nvSpPr>
          <p:cNvPr id="36" name="">
            <a:extLst xmlns:a="http://schemas.openxmlformats.org/drawingml/2006/main">
              <a:ext uri="{FF2B5EF4-FFF2-40B4-BE49-F238E27FC236}">
                <a16:creationId xmlns:a16="http://schemas.microsoft.com/office/drawing/2014/main" id="{29A2B698-3A3C-4FF4-914B-EFE547FF7328}"/>
              </a:ext>
            </a:extLst>
          </p:cNvPr>
          <p:cNvSpPr>
            <a:spLocks xmlns:a="http://schemas.openxmlformats.org/drawingml/2006/main" noGrp="1"/>
          </p:cNvSpPr>
          <p:nvPr/>
        </p:nvSpPr>
        <p:spPr>
          <a:xfrm xmlns:a="http://schemas.openxmlformats.org/drawingml/2006/main">
            <a:off x="685800" y="57721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4181C"/>
                </a:solidFill>
                <a:latin typeface="Arial"/>
                <a:ea typeface="Arial"/>
                <a:cs typeface="Arial"/>
              </a:defRPr>
            </a:pPr>
            <a:r>
              <a:rPr sz="1725" b="1">
                <a:solidFill>
                  <a:srgbClr val="14181C"/>
                </a:solidFill>
                <a:latin typeface="Arial"/>
                <a:ea typeface="Arial"/>
                <a:cs typeface="Arial"/>
              </a:rPr>
              <a:t>Cross-cutting controls must be installed per agent — otherwise they fail silently.</a:t>
            </a:r>
          </a:p>
        </p:txBody>
      </p:sp>
      <p:sp>
        <p:nvSpPr>
          <p:cNvPr id="37" name="">
            <a:extLst xmlns:a="http://schemas.openxmlformats.org/drawingml/2006/main">
              <a:ext uri="{FF2B5EF4-FFF2-40B4-BE49-F238E27FC236}">
                <a16:creationId xmlns:a16="http://schemas.microsoft.com/office/drawing/2014/main" id="{06BD8BDE-44DB-4D47-8D06-D6B6AF62A952}"/>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38" name="">
            <a:extLst xmlns:a="http://schemas.openxmlformats.org/drawingml/2006/main">
              <a:ext uri="{FF2B5EF4-FFF2-40B4-BE49-F238E27FC236}">
                <a16:creationId xmlns:a16="http://schemas.microsoft.com/office/drawing/2014/main" id="{780F4BE5-84EF-4E6F-B122-C150CD5C032A}"/>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07</a:t>
            </a:r>
          </a:p>
        </p:txBody>
      </p:sp>
    </p:spTree>
    <p:extLst>
      <p:ext uri="{BB962C8B-B14F-4D97-AF65-F5344CB8AC3E}">
        <p14:creationId xmlns:p14="http://schemas.microsoft.com/office/powerpoint/2010/main" val="78872152"/>
      </p:ext>
    </p:extLst>
  </p:cSld>
</p:sld>
</file>

<file path=ppt/slides/slide8.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9516A16-7920-40E7-95F3-DEE5C2836825}"/>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EVALUATION</a:t>
            </a:r>
          </a:p>
        </p:txBody>
      </p:sp>
      <p:sp>
        <p:nvSpPr>
          <p:cNvPr id="2" name="slide-8-title">
            <a:extLst xmlns:a="http://schemas.openxmlformats.org/drawingml/2006/main">
              <a:ext uri="{FF2B5EF4-FFF2-40B4-BE49-F238E27FC236}">
                <a16:creationId xmlns:a16="http://schemas.microsoft.com/office/drawing/2014/main" id="{4FDD8A43-ACFC-4919-8EFB-3FC6C9D9488C}"/>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Run deterministic checks before LLM judges</a:t>
            </a:r>
          </a:p>
        </p:txBody>
      </p:sp>
      <p:sp>
        <p:nvSpPr>
          <p:cNvPr id="3" name="">
            <a:extLst xmlns:a="http://schemas.openxmlformats.org/drawingml/2006/main">
              <a:ext uri="{FF2B5EF4-FFF2-40B4-BE49-F238E27FC236}">
                <a16:creationId xmlns:a16="http://schemas.microsoft.com/office/drawing/2014/main" id="{FA1B9DBD-78B4-409B-9DF6-C2160FE43E8C}"/>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5C6A7D9F-5DD3-4D9A-AA0A-FD27B2BB817B}"/>
              </a:ext>
            </a:extLst>
          </p:cNvPr>
          <p:cNvSpPr>
            <a:spLocks xmlns:a="http://schemas.openxmlformats.org/drawingml/2006/main" noGrp="1"/>
          </p:cNvSpPr>
          <p:nvPr/>
        </p:nvSpPr>
        <p:spPr>
          <a:xfrm xmlns:a="http://schemas.openxmlformats.org/drawingml/2006/main">
            <a:off x="685800" y="1924050"/>
            <a:ext cx="3238500" cy="3333750"/>
          </a:xfrm>
          <a:prstGeom xmlns:a="http://schemas.openxmlformats.org/drawingml/2006/main" prst="roundRect">
            <a:avLst>
              <a:gd name="adj" fmla="val 2353"/>
            </a:avLst>
          </a:prstGeom>
          <a:solidFill xmlns:a="http://schemas.openxmlformats.org/drawingml/2006/main">
            <a:srgbClr val="DCE8E5"/>
          </a:solidFill>
          <a:ln xmlns:a="http://schemas.openxmlformats.org/drawingml/2006/main" w="11430">
            <a:solidFill>
              <a:srgbClr val="24726A"/>
            </a:solidFill>
            <a:prstDash val="solid"/>
          </a:ln>
        </p:spPr>
      </p:sp>
      <p:sp>
        <p:nvSpPr>
          <p:cNvPr id="5" name="">
            <a:extLst xmlns:a="http://schemas.openxmlformats.org/drawingml/2006/main">
              <a:ext uri="{FF2B5EF4-FFF2-40B4-BE49-F238E27FC236}">
                <a16:creationId xmlns:a16="http://schemas.microsoft.com/office/drawing/2014/main" id="{13681192-1160-4A4C-AA38-1B3230F17FC2}"/>
              </a:ext>
            </a:extLst>
          </p:cNvPr>
          <p:cNvSpPr>
            <a:spLocks xmlns:a="http://schemas.openxmlformats.org/drawingml/2006/main" noGrp="1"/>
          </p:cNvSpPr>
          <p:nvPr/>
        </p:nvSpPr>
        <p:spPr>
          <a:xfrm xmlns:a="http://schemas.openxmlformats.org/drawingml/2006/main">
            <a:off x="914400" y="2152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01</a:t>
            </a:r>
          </a:p>
        </p:txBody>
      </p:sp>
      <p:sp>
        <p:nvSpPr>
          <p:cNvPr id="6" name="">
            <a:extLst xmlns:a="http://schemas.openxmlformats.org/drawingml/2006/main">
              <a:ext uri="{FF2B5EF4-FFF2-40B4-BE49-F238E27FC236}">
                <a16:creationId xmlns:a16="http://schemas.microsoft.com/office/drawing/2014/main" id="{031C215B-8AEE-45CB-81F2-65427FB8DB6C}"/>
              </a:ext>
            </a:extLst>
          </p:cNvPr>
          <p:cNvSpPr>
            <a:spLocks xmlns:a="http://schemas.openxmlformats.org/drawingml/2006/main" noGrp="1"/>
          </p:cNvSpPr>
          <p:nvPr/>
        </p:nvSpPr>
        <p:spPr>
          <a:xfrm xmlns:a="http://schemas.openxmlformats.org/drawingml/2006/main">
            <a:off x="914400" y="25908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14181C"/>
                </a:solidFill>
                <a:latin typeface="Arial"/>
                <a:ea typeface="Arial"/>
                <a:cs typeface="Arial"/>
              </a:defRPr>
            </a:pPr>
            <a:r>
              <a:rPr sz="2325" b="1">
                <a:solidFill>
                  <a:srgbClr val="14181C"/>
                </a:solidFill>
                <a:latin typeface="Arial"/>
                <a:ea typeface="Arial"/>
                <a:cs typeface="Arial"/>
              </a:rPr>
              <a:t>Deterministic</a:t>
            </a:r>
          </a:p>
        </p:txBody>
      </p:sp>
      <p:sp>
        <p:nvSpPr>
          <p:cNvPr id="7" name="">
            <a:extLst xmlns:a="http://schemas.openxmlformats.org/drawingml/2006/main">
              <a:ext uri="{FF2B5EF4-FFF2-40B4-BE49-F238E27FC236}">
                <a16:creationId xmlns:a16="http://schemas.microsoft.com/office/drawing/2014/main" id="{A289A4A1-9D57-40BC-8DA1-8962A22FFF7A}"/>
              </a:ext>
            </a:extLst>
          </p:cNvPr>
          <p:cNvSpPr>
            <a:spLocks xmlns:a="http://schemas.openxmlformats.org/drawingml/2006/main" noGrp="1"/>
          </p:cNvSpPr>
          <p:nvPr/>
        </p:nvSpPr>
        <p:spPr>
          <a:xfrm xmlns:a="http://schemas.openxmlformats.org/drawingml/2006/main">
            <a:off x="914400" y="3105150"/>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444E54"/>
                </a:solidFill>
                <a:latin typeface="Arial"/>
                <a:ea typeface="Arial"/>
                <a:cs typeface="Arial"/>
              </a:defRPr>
            </a:pPr>
            <a:r>
              <a:rPr sz="1575" b="0">
                <a:solidFill>
                  <a:srgbClr val="444E54"/>
                </a:solidFill>
                <a:latin typeface="Arial"/>
                <a:ea typeface="Arial"/>
                <a:cs typeface="Arial"/>
              </a:rPr>
              <a:t>Citations + numeric grounding</a:t>
            </a:r>
          </a:p>
        </p:txBody>
      </p:sp>
      <p:sp>
        <p:nvSpPr>
          <p:cNvPr id="8" name="">
            <a:extLst xmlns:a="http://schemas.openxmlformats.org/drawingml/2006/main">
              <a:ext uri="{FF2B5EF4-FFF2-40B4-BE49-F238E27FC236}">
                <a16:creationId xmlns:a16="http://schemas.microsoft.com/office/drawing/2014/main" id="{18D6860D-0986-4EBD-B999-A6464201E071}"/>
              </a:ext>
            </a:extLst>
          </p:cNvPr>
          <p:cNvSpPr>
            <a:spLocks xmlns:a="http://schemas.openxmlformats.org/drawingml/2006/main" noGrp="1"/>
          </p:cNvSpPr>
          <p:nvPr/>
        </p:nvSpPr>
        <p:spPr>
          <a:xfrm xmlns:a="http://schemas.openxmlformats.org/drawingml/2006/main">
            <a:off x="914400" y="3848100"/>
            <a:ext cx="2781300" cy="0"/>
          </a:xfrm>
          <a:prstGeom xmlns:a="http://schemas.openxmlformats.org/drawingml/2006/main" prst="line">
            <a:avLst/>
          </a:prstGeom>
          <a:noFill xmlns:a="http://schemas.openxmlformats.org/drawingml/2006/main"/>
          <a:ln xmlns:a="http://schemas.openxmlformats.org/drawingml/2006/main" w="9525">
            <a:solidFill>
              <a:srgbClr val="24726A"/>
            </a:solidFill>
            <a:prstDash val="solid"/>
          </a:ln>
        </p:spPr>
      </p:sp>
      <p:sp>
        <p:nvSpPr>
          <p:cNvPr id="9" name="">
            <a:extLst xmlns:a="http://schemas.openxmlformats.org/drawingml/2006/main">
              <a:ext uri="{FF2B5EF4-FFF2-40B4-BE49-F238E27FC236}">
                <a16:creationId xmlns:a16="http://schemas.microsoft.com/office/drawing/2014/main" id="{C6BF009D-D953-4A5B-89F5-78FE8062879E}"/>
              </a:ext>
            </a:extLst>
          </p:cNvPr>
          <p:cNvSpPr>
            <a:spLocks xmlns:a="http://schemas.openxmlformats.org/drawingml/2006/main" noGrp="1"/>
          </p:cNvSpPr>
          <p:nvPr/>
        </p:nvSpPr>
        <p:spPr>
          <a:xfrm xmlns:a="http://schemas.openxmlformats.org/drawingml/2006/main">
            <a:off x="914400" y="4095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a:solidFill>
                  <a:srgbClr val="24726A"/>
                </a:solidFill>
                <a:latin typeface="Roboto Mono"/>
                <a:ea typeface="Roboto Mono"/>
                <a:cs typeface="Roboto Mono"/>
              </a:defRPr>
            </a:pPr>
            <a:r>
              <a:rPr sz="3450" b="1">
                <a:solidFill>
                  <a:srgbClr val="24726A"/>
                </a:solidFill>
                <a:latin typeface="Roboto Mono"/>
                <a:ea typeface="Roboto Mono"/>
                <a:cs typeface="Roboto Mono"/>
              </a:rPr>
              <a:t>18 / 20</a:t>
            </a:r>
          </a:p>
        </p:txBody>
      </p:sp>
      <p:sp>
        <p:nvSpPr>
          <p:cNvPr id="10" name="">
            <a:extLst xmlns:a="http://schemas.openxmlformats.org/drawingml/2006/main">
              <a:ext uri="{FF2B5EF4-FFF2-40B4-BE49-F238E27FC236}">
                <a16:creationId xmlns:a16="http://schemas.microsoft.com/office/drawing/2014/main" id="{0F46F917-190F-4039-807C-DC92A2488C11}"/>
              </a:ext>
            </a:extLst>
          </p:cNvPr>
          <p:cNvSpPr>
            <a:spLocks xmlns:a="http://schemas.openxmlformats.org/drawingml/2006/main" noGrp="1"/>
          </p:cNvSpPr>
          <p:nvPr/>
        </p:nvSpPr>
        <p:spPr>
          <a:xfrm xmlns:a="http://schemas.openxmlformats.org/drawingml/2006/main">
            <a:off x="914400" y="47053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444E54"/>
                </a:solidFill>
                <a:latin typeface="Arial"/>
                <a:ea typeface="Arial"/>
                <a:cs typeface="Arial"/>
              </a:defRPr>
            </a:pPr>
            <a:r>
              <a:rPr sz="1275" b="0">
                <a:solidFill>
                  <a:srgbClr val="444E54"/>
                </a:solidFill>
                <a:latin typeface="Arial"/>
                <a:ea typeface="Arial"/>
                <a:cs typeface="Arial"/>
              </a:rPr>
              <a:t>labeled defects caught · $0</a:t>
            </a:r>
          </a:p>
        </p:txBody>
      </p:sp>
      <p:sp>
        <p:nvSpPr>
          <p:cNvPr id="11" name="">
            <a:extLst xmlns:a="http://schemas.openxmlformats.org/drawingml/2006/main">
              <a:ext uri="{FF2B5EF4-FFF2-40B4-BE49-F238E27FC236}">
                <a16:creationId xmlns:a16="http://schemas.microsoft.com/office/drawing/2014/main" id="{44ED91A7-DF0D-4533-AA2B-297B95E78FE3}"/>
              </a:ext>
            </a:extLst>
          </p:cNvPr>
          <p:cNvSpPr>
            <a:spLocks xmlns:a="http://schemas.openxmlformats.org/drawingml/2006/main" noGrp="1"/>
          </p:cNvSpPr>
          <p:nvPr/>
        </p:nvSpPr>
        <p:spPr>
          <a:xfrm xmlns:a="http://schemas.openxmlformats.org/drawingml/2006/main">
            <a:off x="4476750" y="1924050"/>
            <a:ext cx="3238500" cy="3333750"/>
          </a:xfrm>
          <a:prstGeom xmlns:a="http://schemas.openxmlformats.org/drawingml/2006/main" prst="roundRect">
            <a:avLst>
              <a:gd name="adj" fmla="val 2353"/>
            </a:avLst>
          </a:prstGeom>
          <a:solidFill xmlns:a="http://schemas.openxmlformats.org/drawingml/2006/main">
            <a:srgbClr val="F0E7D8"/>
          </a:solidFill>
          <a:ln xmlns:a="http://schemas.openxmlformats.org/drawingml/2006/main" w="11430">
            <a:solidFill>
              <a:srgbClr val="96682A"/>
            </a:solidFill>
            <a:prstDash val="solid"/>
          </a:ln>
        </p:spPr>
      </p:sp>
      <p:sp>
        <p:nvSpPr>
          <p:cNvPr id="12" name="">
            <a:extLst xmlns:a="http://schemas.openxmlformats.org/drawingml/2006/main">
              <a:ext uri="{FF2B5EF4-FFF2-40B4-BE49-F238E27FC236}">
                <a16:creationId xmlns:a16="http://schemas.microsoft.com/office/drawing/2014/main" id="{30B7C75E-4EB6-4826-AA05-22D5293FE94E}"/>
              </a:ext>
            </a:extLst>
          </p:cNvPr>
          <p:cNvSpPr>
            <a:spLocks xmlns:a="http://schemas.openxmlformats.org/drawingml/2006/main" noGrp="1"/>
          </p:cNvSpPr>
          <p:nvPr/>
        </p:nvSpPr>
        <p:spPr>
          <a:xfrm xmlns:a="http://schemas.openxmlformats.org/drawingml/2006/main">
            <a:off x="4705350" y="2152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96682A"/>
                </a:solidFill>
                <a:latin typeface="Roboto Mono"/>
                <a:ea typeface="Roboto Mono"/>
                <a:cs typeface="Roboto Mono"/>
              </a:defRPr>
            </a:pPr>
            <a:r>
              <a:rPr sz="1125" b="1">
                <a:solidFill>
                  <a:srgbClr val="96682A"/>
                </a:solidFill>
                <a:latin typeface="Roboto Mono"/>
                <a:ea typeface="Roboto Mono"/>
                <a:cs typeface="Roboto Mono"/>
              </a:rPr>
              <a:t>02</a:t>
            </a:r>
          </a:p>
        </p:txBody>
      </p:sp>
      <p:sp>
        <p:nvSpPr>
          <p:cNvPr id="13" name="">
            <a:extLst xmlns:a="http://schemas.openxmlformats.org/drawingml/2006/main">
              <a:ext uri="{FF2B5EF4-FFF2-40B4-BE49-F238E27FC236}">
                <a16:creationId xmlns:a16="http://schemas.microsoft.com/office/drawing/2014/main" id="{370B3E00-B528-4666-8774-0628AF8EA9F1}"/>
              </a:ext>
            </a:extLst>
          </p:cNvPr>
          <p:cNvSpPr>
            <a:spLocks xmlns:a="http://schemas.openxmlformats.org/drawingml/2006/main" noGrp="1"/>
          </p:cNvSpPr>
          <p:nvPr/>
        </p:nvSpPr>
        <p:spPr>
          <a:xfrm xmlns:a="http://schemas.openxmlformats.org/drawingml/2006/main">
            <a:off x="4705350" y="25908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14181C"/>
                </a:solidFill>
                <a:latin typeface="Arial"/>
                <a:ea typeface="Arial"/>
                <a:cs typeface="Arial"/>
              </a:defRPr>
            </a:pPr>
            <a:r>
              <a:rPr sz="2325" b="1">
                <a:solidFill>
                  <a:srgbClr val="14181C"/>
                </a:solidFill>
                <a:latin typeface="Arial"/>
                <a:ea typeface="Arial"/>
                <a:cs typeface="Arial"/>
              </a:rPr>
              <a:t>LLM judge</a:t>
            </a:r>
          </a:p>
        </p:txBody>
      </p:sp>
      <p:sp>
        <p:nvSpPr>
          <p:cNvPr id="14" name="">
            <a:extLst xmlns:a="http://schemas.openxmlformats.org/drawingml/2006/main">
              <a:ext uri="{FF2B5EF4-FFF2-40B4-BE49-F238E27FC236}">
                <a16:creationId xmlns:a16="http://schemas.microsoft.com/office/drawing/2014/main" id="{1DF7D0EA-4A86-4E35-B51E-09832457CBF2}"/>
              </a:ext>
            </a:extLst>
          </p:cNvPr>
          <p:cNvSpPr>
            <a:spLocks xmlns:a="http://schemas.openxmlformats.org/drawingml/2006/main" noGrp="1"/>
          </p:cNvSpPr>
          <p:nvPr/>
        </p:nvSpPr>
        <p:spPr>
          <a:xfrm xmlns:a="http://schemas.openxmlformats.org/drawingml/2006/main">
            <a:off x="4705350" y="3105150"/>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444E54"/>
                </a:solidFill>
                <a:latin typeface="Arial"/>
                <a:ea typeface="Arial"/>
                <a:cs typeface="Arial"/>
              </a:defRPr>
            </a:pPr>
            <a:r>
              <a:rPr sz="1575" b="0">
                <a:solidFill>
                  <a:srgbClr val="444E54"/>
                </a:solidFill>
                <a:latin typeface="Arial"/>
                <a:ea typeface="Arial"/>
                <a:cs typeface="Arial"/>
              </a:rPr>
              <a:t>Semantic support</a:t>
            </a:r>
          </a:p>
        </p:txBody>
      </p:sp>
      <p:sp>
        <p:nvSpPr>
          <p:cNvPr id="15" name="">
            <a:extLst xmlns:a="http://schemas.openxmlformats.org/drawingml/2006/main">
              <a:ext uri="{FF2B5EF4-FFF2-40B4-BE49-F238E27FC236}">
                <a16:creationId xmlns:a16="http://schemas.microsoft.com/office/drawing/2014/main" id="{32A1B717-22BF-4865-A517-C07CFA3DEE40}"/>
              </a:ext>
            </a:extLst>
          </p:cNvPr>
          <p:cNvSpPr>
            <a:spLocks xmlns:a="http://schemas.openxmlformats.org/drawingml/2006/main" noGrp="1"/>
          </p:cNvSpPr>
          <p:nvPr/>
        </p:nvSpPr>
        <p:spPr>
          <a:xfrm xmlns:a="http://schemas.openxmlformats.org/drawingml/2006/main">
            <a:off x="4705350" y="3848100"/>
            <a:ext cx="2781300" cy="0"/>
          </a:xfrm>
          <a:prstGeom xmlns:a="http://schemas.openxmlformats.org/drawingml/2006/main" prst="line">
            <a:avLst/>
          </a:prstGeom>
          <a:noFill xmlns:a="http://schemas.openxmlformats.org/drawingml/2006/main"/>
          <a:ln xmlns:a="http://schemas.openxmlformats.org/drawingml/2006/main" w="9525">
            <a:solidFill>
              <a:srgbClr val="96682A"/>
            </a:solidFill>
            <a:prstDash val="solid"/>
          </a:ln>
        </p:spPr>
      </p:sp>
      <p:sp>
        <p:nvSpPr>
          <p:cNvPr id="16" name="">
            <a:extLst xmlns:a="http://schemas.openxmlformats.org/drawingml/2006/main">
              <a:ext uri="{FF2B5EF4-FFF2-40B4-BE49-F238E27FC236}">
                <a16:creationId xmlns:a16="http://schemas.microsoft.com/office/drawing/2014/main" id="{57B80D68-AE28-44B0-A213-6D29E43CA466}"/>
              </a:ext>
            </a:extLst>
          </p:cNvPr>
          <p:cNvSpPr>
            <a:spLocks xmlns:a="http://schemas.openxmlformats.org/drawingml/2006/main" noGrp="1"/>
          </p:cNvSpPr>
          <p:nvPr/>
        </p:nvSpPr>
        <p:spPr>
          <a:xfrm xmlns:a="http://schemas.openxmlformats.org/drawingml/2006/main">
            <a:off x="4705350" y="4095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a:solidFill>
                  <a:srgbClr val="96682A"/>
                </a:solidFill>
                <a:latin typeface="Roboto Mono"/>
                <a:ea typeface="Roboto Mono"/>
                <a:cs typeface="Roboto Mono"/>
              </a:defRPr>
            </a:pPr>
            <a:r>
              <a:rPr sz="3450" b="1">
                <a:solidFill>
                  <a:srgbClr val="96682A"/>
                </a:solidFill>
                <a:latin typeface="Roboto Mono"/>
                <a:ea typeface="Roboto Mono"/>
                <a:cs typeface="Roboto Mono"/>
              </a:rPr>
              <a:t>2 gaps</a:t>
            </a:r>
          </a:p>
        </p:txBody>
      </p:sp>
      <p:sp>
        <p:nvSpPr>
          <p:cNvPr id="17" name="">
            <a:extLst xmlns:a="http://schemas.openxmlformats.org/drawingml/2006/main">
              <a:ext uri="{FF2B5EF4-FFF2-40B4-BE49-F238E27FC236}">
                <a16:creationId xmlns:a16="http://schemas.microsoft.com/office/drawing/2014/main" id="{53D220A8-ABD3-4E0E-B399-AF12008138B8}"/>
              </a:ext>
            </a:extLst>
          </p:cNvPr>
          <p:cNvSpPr>
            <a:spLocks xmlns:a="http://schemas.openxmlformats.org/drawingml/2006/main" noGrp="1"/>
          </p:cNvSpPr>
          <p:nvPr/>
        </p:nvSpPr>
        <p:spPr>
          <a:xfrm xmlns:a="http://schemas.openxmlformats.org/drawingml/2006/main">
            <a:off x="4705350" y="47053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444E54"/>
                </a:solidFill>
                <a:latin typeface="Arial"/>
                <a:ea typeface="Arial"/>
                <a:cs typeface="Arial"/>
              </a:defRPr>
            </a:pPr>
            <a:r>
              <a:rPr sz="1275" b="0">
                <a:solidFill>
                  <a:srgbClr val="444E54"/>
                </a:solidFill>
                <a:latin typeface="Arial"/>
                <a:ea typeface="Arial"/>
                <a:cs typeface="Arial"/>
              </a:rPr>
              <a:t>wrong denominator · rounding</a:t>
            </a:r>
          </a:p>
        </p:txBody>
      </p:sp>
      <p:sp>
        <p:nvSpPr>
          <p:cNvPr id="18" name="">
            <a:extLst xmlns:a="http://schemas.openxmlformats.org/drawingml/2006/main">
              <a:ext uri="{FF2B5EF4-FFF2-40B4-BE49-F238E27FC236}">
                <a16:creationId xmlns:a16="http://schemas.microsoft.com/office/drawing/2014/main" id="{AC80A18C-E0EE-4906-A1B1-2EFF94BFD7E0}"/>
              </a:ext>
            </a:extLst>
          </p:cNvPr>
          <p:cNvSpPr>
            <a:spLocks xmlns:a="http://schemas.openxmlformats.org/drawingml/2006/main" noGrp="1"/>
          </p:cNvSpPr>
          <p:nvPr/>
        </p:nvSpPr>
        <p:spPr>
          <a:xfrm xmlns:a="http://schemas.openxmlformats.org/drawingml/2006/main">
            <a:off x="8267700" y="1924050"/>
            <a:ext cx="3238500" cy="3333750"/>
          </a:xfrm>
          <a:prstGeom xmlns:a="http://schemas.openxmlformats.org/drawingml/2006/main" prst="roundRect">
            <a:avLst>
              <a:gd name="adj" fmla="val 2353"/>
            </a:avLst>
          </a:prstGeom>
          <a:solidFill xmlns:a="http://schemas.openxmlformats.org/drawingml/2006/main">
            <a:srgbClr val="E2ECE4"/>
          </a:solidFill>
          <a:ln xmlns:a="http://schemas.openxmlformats.org/drawingml/2006/main" w="11430">
            <a:solidFill>
              <a:srgbClr val="35704A"/>
            </a:solidFill>
            <a:prstDash val="solid"/>
          </a:ln>
        </p:spPr>
      </p:sp>
      <p:sp>
        <p:nvSpPr>
          <p:cNvPr id="19" name="">
            <a:extLst xmlns:a="http://schemas.openxmlformats.org/drawingml/2006/main">
              <a:ext uri="{FF2B5EF4-FFF2-40B4-BE49-F238E27FC236}">
                <a16:creationId xmlns:a16="http://schemas.microsoft.com/office/drawing/2014/main" id="{2DB4678B-1DFB-42B4-B922-63DCE0F72A38}"/>
              </a:ext>
            </a:extLst>
          </p:cNvPr>
          <p:cNvSpPr>
            <a:spLocks xmlns:a="http://schemas.openxmlformats.org/drawingml/2006/main" noGrp="1"/>
          </p:cNvSpPr>
          <p:nvPr/>
        </p:nvSpPr>
        <p:spPr>
          <a:xfrm xmlns:a="http://schemas.openxmlformats.org/drawingml/2006/main">
            <a:off x="8496300" y="2152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5704A"/>
                </a:solidFill>
                <a:latin typeface="Roboto Mono"/>
                <a:ea typeface="Roboto Mono"/>
                <a:cs typeface="Roboto Mono"/>
              </a:defRPr>
            </a:pPr>
            <a:r>
              <a:rPr sz="1125" b="1">
                <a:solidFill>
                  <a:srgbClr val="35704A"/>
                </a:solidFill>
                <a:latin typeface="Roboto Mono"/>
                <a:ea typeface="Roboto Mono"/>
                <a:cs typeface="Roboto Mono"/>
              </a:rPr>
              <a:t>03</a:t>
            </a:r>
          </a:p>
        </p:txBody>
      </p:sp>
      <p:sp>
        <p:nvSpPr>
          <p:cNvPr id="20" name="">
            <a:extLst xmlns:a="http://schemas.openxmlformats.org/drawingml/2006/main">
              <a:ext uri="{FF2B5EF4-FFF2-40B4-BE49-F238E27FC236}">
                <a16:creationId xmlns:a16="http://schemas.microsoft.com/office/drawing/2014/main" id="{2AA3C04B-7BED-469B-B5FD-146C1D98CB53}"/>
              </a:ext>
            </a:extLst>
          </p:cNvPr>
          <p:cNvSpPr>
            <a:spLocks xmlns:a="http://schemas.openxmlformats.org/drawingml/2006/main" noGrp="1"/>
          </p:cNvSpPr>
          <p:nvPr/>
        </p:nvSpPr>
        <p:spPr>
          <a:xfrm xmlns:a="http://schemas.openxmlformats.org/drawingml/2006/main">
            <a:off x="8496300" y="25908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14181C"/>
                </a:solidFill>
                <a:latin typeface="Arial"/>
                <a:ea typeface="Arial"/>
                <a:cs typeface="Arial"/>
              </a:defRPr>
            </a:pPr>
            <a:r>
              <a:rPr sz="2325" b="1">
                <a:solidFill>
                  <a:srgbClr val="14181C"/>
                </a:solidFill>
                <a:latin typeface="Arial"/>
                <a:ea typeface="Arial"/>
                <a:cs typeface="Arial"/>
              </a:rPr>
              <a:t>Trajectory</a:t>
            </a:r>
          </a:p>
        </p:txBody>
      </p:sp>
      <p:sp>
        <p:nvSpPr>
          <p:cNvPr id="21" name="">
            <a:extLst xmlns:a="http://schemas.openxmlformats.org/drawingml/2006/main">
              <a:ext uri="{FF2B5EF4-FFF2-40B4-BE49-F238E27FC236}">
                <a16:creationId xmlns:a16="http://schemas.microsoft.com/office/drawing/2014/main" id="{897D23EF-C79C-4C8B-8DB6-E01B83D50F33}"/>
              </a:ext>
            </a:extLst>
          </p:cNvPr>
          <p:cNvSpPr>
            <a:spLocks xmlns:a="http://schemas.openxmlformats.org/drawingml/2006/main" noGrp="1"/>
          </p:cNvSpPr>
          <p:nvPr/>
        </p:nvSpPr>
        <p:spPr>
          <a:xfrm xmlns:a="http://schemas.openxmlformats.org/drawingml/2006/main">
            <a:off x="8496300" y="3105150"/>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444E54"/>
                </a:solidFill>
                <a:latin typeface="Arial"/>
                <a:ea typeface="Arial"/>
                <a:cs typeface="Arial"/>
              </a:defRPr>
            </a:pPr>
            <a:r>
              <a:rPr sz="1575" b="0">
                <a:solidFill>
                  <a:srgbClr val="444E54"/>
                </a:solidFill>
                <a:latin typeface="Arial"/>
                <a:ea typeface="Arial"/>
                <a:cs typeface="Arial"/>
              </a:rPr>
              <a:t>What the agent actually did</a:t>
            </a:r>
          </a:p>
        </p:txBody>
      </p:sp>
      <p:sp>
        <p:nvSpPr>
          <p:cNvPr id="22" name="">
            <a:extLst xmlns:a="http://schemas.openxmlformats.org/drawingml/2006/main">
              <a:ext uri="{FF2B5EF4-FFF2-40B4-BE49-F238E27FC236}">
                <a16:creationId xmlns:a16="http://schemas.microsoft.com/office/drawing/2014/main" id="{EC30D789-054B-452A-B3D5-7A0BAC928DCA}"/>
              </a:ext>
            </a:extLst>
          </p:cNvPr>
          <p:cNvSpPr>
            <a:spLocks xmlns:a="http://schemas.openxmlformats.org/drawingml/2006/main" noGrp="1"/>
          </p:cNvSpPr>
          <p:nvPr/>
        </p:nvSpPr>
        <p:spPr>
          <a:xfrm xmlns:a="http://schemas.openxmlformats.org/drawingml/2006/main">
            <a:off x="8496300" y="3848100"/>
            <a:ext cx="2781300" cy="0"/>
          </a:xfrm>
          <a:prstGeom xmlns:a="http://schemas.openxmlformats.org/drawingml/2006/main" prst="line">
            <a:avLst/>
          </a:prstGeom>
          <a:noFill xmlns:a="http://schemas.openxmlformats.org/drawingml/2006/main"/>
          <a:ln xmlns:a="http://schemas.openxmlformats.org/drawingml/2006/main" w="9525">
            <a:solidFill>
              <a:srgbClr val="35704A"/>
            </a:solidFill>
            <a:prstDash val="solid"/>
          </a:ln>
        </p:spPr>
      </p:sp>
      <p:sp>
        <p:nvSpPr>
          <p:cNvPr id="23" name="">
            <a:extLst xmlns:a="http://schemas.openxmlformats.org/drawingml/2006/main">
              <a:ext uri="{FF2B5EF4-FFF2-40B4-BE49-F238E27FC236}">
                <a16:creationId xmlns:a16="http://schemas.microsoft.com/office/drawing/2014/main" id="{B3DCFCE1-B1C0-4338-A764-EB73864185E2}"/>
              </a:ext>
            </a:extLst>
          </p:cNvPr>
          <p:cNvSpPr>
            <a:spLocks xmlns:a="http://schemas.openxmlformats.org/drawingml/2006/main" noGrp="1"/>
          </p:cNvSpPr>
          <p:nvPr/>
        </p:nvSpPr>
        <p:spPr>
          <a:xfrm xmlns:a="http://schemas.openxmlformats.org/drawingml/2006/main">
            <a:off x="8496300" y="4095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a:solidFill>
                  <a:srgbClr val="35704A"/>
                </a:solidFill>
                <a:latin typeface="Roboto Mono"/>
                <a:ea typeface="Roboto Mono"/>
                <a:cs typeface="Roboto Mono"/>
              </a:defRPr>
            </a:pPr>
            <a:r>
              <a:rPr sz="3450" b="1">
                <a:solidFill>
                  <a:srgbClr val="35704A"/>
                </a:solidFill>
                <a:latin typeface="Roboto Mono"/>
                <a:ea typeface="Roboto Mono"/>
                <a:cs typeface="Roboto Mono"/>
              </a:rPr>
              <a:t>required</a:t>
            </a:r>
          </a:p>
        </p:txBody>
      </p:sp>
      <p:sp>
        <p:nvSpPr>
          <p:cNvPr id="24" name="">
            <a:extLst xmlns:a="http://schemas.openxmlformats.org/drawingml/2006/main">
              <a:ext uri="{FF2B5EF4-FFF2-40B4-BE49-F238E27FC236}">
                <a16:creationId xmlns:a16="http://schemas.microsoft.com/office/drawing/2014/main" id="{4D6BE7D4-C404-4C49-AFDE-5914EBDFE73A}"/>
              </a:ext>
            </a:extLst>
          </p:cNvPr>
          <p:cNvSpPr>
            <a:spLocks xmlns:a="http://schemas.openxmlformats.org/drawingml/2006/main" noGrp="1"/>
          </p:cNvSpPr>
          <p:nvPr/>
        </p:nvSpPr>
        <p:spPr>
          <a:xfrm xmlns:a="http://schemas.openxmlformats.org/drawingml/2006/main">
            <a:off x="8496300" y="47053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444E54"/>
                </a:solidFill>
                <a:latin typeface="Arial"/>
                <a:ea typeface="Arial"/>
                <a:cs typeface="Arial"/>
              </a:defRPr>
            </a:pPr>
            <a:r>
              <a:rPr sz="1275" b="0">
                <a:solidFill>
                  <a:srgbClr val="444E54"/>
                </a:solidFill>
                <a:latin typeface="Arial"/>
                <a:ea typeface="Arial"/>
                <a:cs typeface="Arial"/>
              </a:rPr>
              <a:t>tools · approvals · budgets</a:t>
            </a:r>
          </a:p>
        </p:txBody>
      </p:sp>
      <p:sp>
        <p:nvSpPr>
          <p:cNvPr id="25" name="">
            <a:extLst xmlns:a="http://schemas.openxmlformats.org/drawingml/2006/main">
              <a:ext uri="{FF2B5EF4-FFF2-40B4-BE49-F238E27FC236}">
                <a16:creationId xmlns:a16="http://schemas.microsoft.com/office/drawing/2014/main" id="{FC1628DB-3419-4A4F-9CA7-045ECD0DF433}"/>
              </a:ext>
            </a:extLst>
          </p:cNvPr>
          <p:cNvSpPr>
            <a:spLocks xmlns:a="http://schemas.openxmlformats.org/drawingml/2006/main" noGrp="1"/>
          </p:cNvSpPr>
          <p:nvPr/>
        </p:nvSpPr>
        <p:spPr>
          <a:xfrm xmlns:a="http://schemas.openxmlformats.org/drawingml/2006/main">
            <a:off x="933450" y="5657850"/>
            <a:ext cx="1032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14181C"/>
                </a:solidFill>
                <a:latin typeface="Arial"/>
                <a:ea typeface="Arial"/>
                <a:cs typeface="Arial"/>
              </a:defRPr>
            </a:pPr>
            <a:r>
              <a:rPr sz="1875" b="1">
                <a:solidFill>
                  <a:srgbClr val="14181C"/>
                </a:solidFill>
                <a:latin typeface="Arial"/>
                <a:ea typeface="Arial"/>
                <a:cs typeface="Arial"/>
              </a:rPr>
              <a:t>A correct final answer is necessary — but an unsafe or wasteful trajectory is still a failed agent.</a:t>
            </a:r>
          </a:p>
        </p:txBody>
      </p:sp>
      <p:sp>
        <p:nvSpPr>
          <p:cNvPr id="26" name="">
            <a:extLst xmlns:a="http://schemas.openxmlformats.org/drawingml/2006/main">
              <a:ext uri="{FF2B5EF4-FFF2-40B4-BE49-F238E27FC236}">
                <a16:creationId xmlns:a16="http://schemas.microsoft.com/office/drawing/2014/main" id="{B433C6EB-F7E5-4FD0-997A-1B8278549335}"/>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7" name="">
            <a:extLst xmlns:a="http://schemas.openxmlformats.org/drawingml/2006/main">
              <a:ext uri="{FF2B5EF4-FFF2-40B4-BE49-F238E27FC236}">
                <a16:creationId xmlns:a16="http://schemas.microsoft.com/office/drawing/2014/main" id="{2B3196B9-482F-4EC5-9F00-3245012BDA57}"/>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08</a:t>
            </a:r>
          </a:p>
        </p:txBody>
      </p:sp>
    </p:spTree>
    <p:extLst>
      <p:ext uri="{BB962C8B-B14F-4D97-AF65-F5344CB8AC3E}">
        <p14:creationId xmlns:p14="http://schemas.microsoft.com/office/powerpoint/2010/main" val="1454713476"/>
      </p:ext>
    </p:extLst>
  </p:cSld>
</p:sld>
</file>

<file path=ppt/slides/slide9.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B504D8F-B05C-46D1-A84D-17E9825A5539}"/>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EVALUATE THE EVALUATOR</a:t>
            </a:r>
          </a:p>
        </p:txBody>
      </p:sp>
      <p:sp>
        <p:nvSpPr>
          <p:cNvPr id="2" name="slide-9-title">
            <a:extLst xmlns:a="http://schemas.openxmlformats.org/drawingml/2006/main">
              <a:ext uri="{FF2B5EF4-FFF2-40B4-BE49-F238E27FC236}">
                <a16:creationId xmlns:a16="http://schemas.microsoft.com/office/drawing/2014/main" id="{1E95C366-7424-47A5-89F2-8ADB5B200FBD}"/>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Measure error direction, not one score</a:t>
            </a:r>
          </a:p>
        </p:txBody>
      </p:sp>
      <p:sp>
        <p:nvSpPr>
          <p:cNvPr id="3" name="">
            <a:extLst xmlns:a="http://schemas.openxmlformats.org/drawingml/2006/main">
              <a:ext uri="{FF2B5EF4-FFF2-40B4-BE49-F238E27FC236}">
                <a16:creationId xmlns:a16="http://schemas.microsoft.com/office/drawing/2014/main" id="{3C854279-4510-4856-8D41-F1315F12D096}"/>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
            <a:extLst xmlns:a="http://schemas.openxmlformats.org/drawingml/2006/main">
              <a:ext uri="{FF2B5EF4-FFF2-40B4-BE49-F238E27FC236}">
                <a16:creationId xmlns:a16="http://schemas.microsoft.com/office/drawing/2014/main" id="{29DF65BA-F8BE-4F69-99BA-834B065EB75A}"/>
              </a:ext>
            </a:extLst>
          </p:cNvPr>
          <p:cNvSpPr>
            <a:spLocks xmlns:a="http://schemas.openxmlformats.org/drawingml/2006/main" noGrp="1"/>
          </p:cNvSpPr>
          <p:nvPr/>
        </p:nvSpPr>
        <p:spPr>
          <a:xfrm xmlns:a="http://schemas.openxmlformats.org/drawingml/2006/main">
            <a:off x="876300" y="17716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JUDGE PROMPT</a:t>
            </a:r>
          </a:p>
        </p:txBody>
      </p:sp>
      <p:sp>
        <p:nvSpPr>
          <p:cNvPr id="5" name="">
            <a:extLst xmlns:a="http://schemas.openxmlformats.org/drawingml/2006/main">
              <a:ext uri="{FF2B5EF4-FFF2-40B4-BE49-F238E27FC236}">
                <a16:creationId xmlns:a16="http://schemas.microsoft.com/office/drawing/2014/main" id="{8B9E76E4-D359-496A-9C8A-2FB9B942C059}"/>
              </a:ext>
            </a:extLst>
          </p:cNvPr>
          <p:cNvSpPr>
            <a:spLocks xmlns:a="http://schemas.openxmlformats.org/drawingml/2006/main" noGrp="1"/>
          </p:cNvSpPr>
          <p:nvPr/>
        </p:nvSpPr>
        <p:spPr>
          <a:xfrm xmlns:a="http://schemas.openxmlformats.org/drawingml/2006/main">
            <a:off x="5143500" y="17716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6E7A80"/>
                </a:solidFill>
                <a:latin typeface="Roboto Mono"/>
                <a:ea typeface="Roboto Mono"/>
                <a:cs typeface="Roboto Mono"/>
              </a:defRPr>
            </a:pPr>
            <a:r>
              <a:rPr sz="1050" b="1">
                <a:solidFill>
                  <a:srgbClr val="6E7A80"/>
                </a:solidFill>
                <a:latin typeface="Roboto Mono"/>
                <a:ea typeface="Roboto Mono"/>
                <a:cs typeface="Roboto Mono"/>
              </a:rPr>
              <a:t>AGREEMENT</a:t>
            </a:r>
          </a:p>
        </p:txBody>
      </p:sp>
      <p:sp>
        <p:nvSpPr>
          <p:cNvPr id="6" name="">
            <a:extLst xmlns:a="http://schemas.openxmlformats.org/drawingml/2006/main">
              <a:ext uri="{FF2B5EF4-FFF2-40B4-BE49-F238E27FC236}">
                <a16:creationId xmlns:a16="http://schemas.microsoft.com/office/drawing/2014/main" id="{1E10EDC1-D8B7-4B91-8A17-90520E6ECEE3}"/>
              </a:ext>
            </a:extLst>
          </p:cNvPr>
          <p:cNvSpPr>
            <a:spLocks xmlns:a="http://schemas.openxmlformats.org/drawingml/2006/main" noGrp="1"/>
          </p:cNvSpPr>
          <p:nvPr/>
        </p:nvSpPr>
        <p:spPr>
          <a:xfrm xmlns:a="http://schemas.openxmlformats.org/drawingml/2006/main">
            <a:off x="7334250" y="17716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9E3E36"/>
                </a:solidFill>
                <a:latin typeface="Roboto Mono"/>
                <a:ea typeface="Roboto Mono"/>
                <a:cs typeface="Roboto Mono"/>
              </a:defRPr>
            </a:pPr>
            <a:r>
              <a:rPr sz="1050" b="1">
                <a:solidFill>
                  <a:srgbClr val="9E3E36"/>
                </a:solidFill>
                <a:latin typeface="Roboto Mono"/>
                <a:ea typeface="Roboto Mono"/>
                <a:cs typeface="Roboto Mono"/>
              </a:rPr>
              <a:t>BLESSED BAD</a:t>
            </a:r>
          </a:p>
        </p:txBody>
      </p:sp>
      <p:sp>
        <p:nvSpPr>
          <p:cNvPr id="7" name="">
            <a:extLst xmlns:a="http://schemas.openxmlformats.org/drawingml/2006/main">
              <a:ext uri="{FF2B5EF4-FFF2-40B4-BE49-F238E27FC236}">
                <a16:creationId xmlns:a16="http://schemas.microsoft.com/office/drawing/2014/main" id="{C2351AD8-06BA-420F-8867-3C3F172FF1A0}"/>
              </a:ext>
            </a:extLst>
          </p:cNvPr>
          <p:cNvSpPr>
            <a:spLocks xmlns:a="http://schemas.openxmlformats.org/drawingml/2006/main" noGrp="1"/>
          </p:cNvSpPr>
          <p:nvPr/>
        </p:nvSpPr>
        <p:spPr>
          <a:xfrm xmlns:a="http://schemas.openxmlformats.org/drawingml/2006/main">
            <a:off x="9572625" y="1771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96682A"/>
                </a:solidFill>
                <a:latin typeface="Roboto Mono"/>
                <a:ea typeface="Roboto Mono"/>
                <a:cs typeface="Roboto Mono"/>
              </a:defRPr>
            </a:pPr>
            <a:r>
              <a:rPr sz="1050" b="1">
                <a:solidFill>
                  <a:srgbClr val="96682A"/>
                </a:solidFill>
                <a:latin typeface="Roboto Mono"/>
                <a:ea typeface="Roboto Mono"/>
                <a:cs typeface="Roboto Mono"/>
              </a:rPr>
              <a:t>FLAGGED GOOD</a:t>
            </a:r>
          </a:p>
        </p:txBody>
      </p:sp>
      <p:sp>
        <p:nvSpPr>
          <p:cNvPr id="8" name="">
            <a:extLst xmlns:a="http://schemas.openxmlformats.org/drawingml/2006/main">
              <a:ext uri="{FF2B5EF4-FFF2-40B4-BE49-F238E27FC236}">
                <a16:creationId xmlns:a16="http://schemas.microsoft.com/office/drawing/2014/main" id="{5AAA9DEC-E50A-452F-901B-4201C551EC24}"/>
              </a:ext>
            </a:extLst>
          </p:cNvPr>
          <p:cNvSpPr>
            <a:spLocks xmlns:a="http://schemas.openxmlformats.org/drawingml/2006/main" noGrp="1"/>
          </p:cNvSpPr>
          <p:nvPr/>
        </p:nvSpPr>
        <p:spPr>
          <a:xfrm xmlns:a="http://schemas.openxmlformats.org/drawingml/2006/main">
            <a:off x="685800" y="2190750"/>
            <a:ext cx="10820400" cy="742950"/>
          </a:xfrm>
          <a:prstGeom xmlns:a="http://schemas.openxmlformats.org/drawingml/2006/main" prst="rect">
            <a:avLst/>
          </a:prstGeom>
          <a:solidFill xmlns:a="http://schemas.openxmlformats.org/drawingml/2006/main">
            <a:srgbClr val="FAFBF8"/>
          </a:solidFill>
          <a:ln xmlns:a="http://schemas.openxmlformats.org/drawingml/2006/main" w="9525">
            <a:solidFill>
              <a:srgbClr val="CBD2CA"/>
            </a:solidFill>
            <a:prstDash val="solid"/>
          </a:ln>
        </p:spPr>
      </p:sp>
      <p:sp>
        <p:nvSpPr>
          <p:cNvPr id="9" name="">
            <a:extLst xmlns:a="http://schemas.openxmlformats.org/drawingml/2006/main">
              <a:ext uri="{FF2B5EF4-FFF2-40B4-BE49-F238E27FC236}">
                <a16:creationId xmlns:a16="http://schemas.microsoft.com/office/drawing/2014/main" id="{51DC2FBB-740C-40B0-9FD6-3E002A32A93E}"/>
              </a:ext>
            </a:extLst>
          </p:cNvPr>
          <p:cNvSpPr>
            <a:spLocks xmlns:a="http://schemas.openxmlformats.org/drawingml/2006/main" noGrp="1"/>
          </p:cNvSpPr>
          <p:nvPr/>
        </p:nvSpPr>
        <p:spPr>
          <a:xfrm xmlns:a="http://schemas.openxmlformats.org/drawingml/2006/main">
            <a:off x="876300" y="240982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4181C"/>
                </a:solidFill>
                <a:latin typeface="Arial"/>
                <a:ea typeface="Arial"/>
                <a:cs typeface="Arial"/>
              </a:defRPr>
            </a:pPr>
            <a:r>
              <a:rPr sz="1725" b="1">
                <a:solidFill>
                  <a:srgbClr val="14181C"/>
                </a:solidFill>
                <a:latin typeface="Arial"/>
                <a:ea typeface="Arial"/>
                <a:cs typeface="Arial"/>
              </a:rPr>
              <a:t>v1 · reasonable first draft</a:t>
            </a:r>
          </a:p>
        </p:txBody>
      </p:sp>
      <p:sp>
        <p:nvSpPr>
          <p:cNvPr id="10" name="">
            <a:extLst xmlns:a="http://schemas.openxmlformats.org/drawingml/2006/main">
              <a:ext uri="{FF2B5EF4-FFF2-40B4-BE49-F238E27FC236}">
                <a16:creationId xmlns:a16="http://schemas.microsoft.com/office/drawing/2014/main" id="{F4ED79A0-40F3-404D-96C7-5FEF119DE50B}"/>
              </a:ext>
            </a:extLst>
          </p:cNvPr>
          <p:cNvSpPr>
            <a:spLocks xmlns:a="http://schemas.openxmlformats.org/drawingml/2006/main" noGrp="1"/>
          </p:cNvSpPr>
          <p:nvPr/>
        </p:nvSpPr>
        <p:spPr>
          <a:xfrm xmlns:a="http://schemas.openxmlformats.org/drawingml/2006/main">
            <a:off x="5143500" y="23717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14181C"/>
                </a:solidFill>
                <a:latin typeface="Roboto Mono"/>
                <a:ea typeface="Roboto Mono"/>
                <a:cs typeface="Roboto Mono"/>
              </a:defRPr>
            </a:pPr>
            <a:r>
              <a:rPr sz="2175" b="1">
                <a:solidFill>
                  <a:srgbClr val="14181C"/>
                </a:solidFill>
                <a:latin typeface="Roboto Mono"/>
                <a:ea typeface="Roboto Mono"/>
                <a:cs typeface="Roboto Mono"/>
              </a:rPr>
              <a:t>85%</a:t>
            </a:r>
          </a:p>
        </p:txBody>
      </p:sp>
      <p:sp>
        <p:nvSpPr>
          <p:cNvPr id="11" name="">
            <a:extLst xmlns:a="http://schemas.openxmlformats.org/drawingml/2006/main">
              <a:ext uri="{FF2B5EF4-FFF2-40B4-BE49-F238E27FC236}">
                <a16:creationId xmlns:a16="http://schemas.microsoft.com/office/drawing/2014/main" id="{169AA91F-3588-4C60-925D-BC78D99832EB}"/>
              </a:ext>
            </a:extLst>
          </p:cNvPr>
          <p:cNvSpPr>
            <a:spLocks xmlns:a="http://schemas.openxmlformats.org/drawingml/2006/main" noGrp="1"/>
          </p:cNvSpPr>
          <p:nvPr/>
        </p:nvSpPr>
        <p:spPr>
          <a:xfrm xmlns:a="http://schemas.openxmlformats.org/drawingml/2006/main">
            <a:off x="7334250" y="23717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9E3E36"/>
                </a:solidFill>
                <a:latin typeface="Roboto Mono"/>
                <a:ea typeface="Roboto Mono"/>
                <a:cs typeface="Roboto Mono"/>
              </a:defRPr>
            </a:pPr>
            <a:r>
              <a:rPr sz="2175" b="1">
                <a:solidFill>
                  <a:srgbClr val="9E3E36"/>
                </a:solidFill>
                <a:latin typeface="Roboto Mono"/>
                <a:ea typeface="Roboto Mono"/>
                <a:cs typeface="Roboto Mono"/>
              </a:rPr>
              <a:t>2</a:t>
            </a:r>
          </a:p>
        </p:txBody>
      </p:sp>
      <p:sp>
        <p:nvSpPr>
          <p:cNvPr id="12" name="">
            <a:extLst xmlns:a="http://schemas.openxmlformats.org/drawingml/2006/main">
              <a:ext uri="{FF2B5EF4-FFF2-40B4-BE49-F238E27FC236}">
                <a16:creationId xmlns:a16="http://schemas.microsoft.com/office/drawing/2014/main" id="{9C81F8D2-5C15-4D0D-A5F2-91A3BD06E1AF}"/>
              </a:ext>
            </a:extLst>
          </p:cNvPr>
          <p:cNvSpPr>
            <a:spLocks xmlns:a="http://schemas.openxmlformats.org/drawingml/2006/main" noGrp="1"/>
          </p:cNvSpPr>
          <p:nvPr/>
        </p:nvSpPr>
        <p:spPr>
          <a:xfrm xmlns:a="http://schemas.openxmlformats.org/drawingml/2006/main">
            <a:off x="9572625" y="23717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14181C"/>
                </a:solidFill>
                <a:latin typeface="Roboto Mono"/>
                <a:ea typeface="Roboto Mono"/>
                <a:cs typeface="Roboto Mono"/>
              </a:defRPr>
            </a:pPr>
            <a:r>
              <a:rPr sz="2175" b="1">
                <a:solidFill>
                  <a:srgbClr val="14181C"/>
                </a:solidFill>
                <a:latin typeface="Roboto Mono"/>
                <a:ea typeface="Roboto Mono"/>
                <a:cs typeface="Roboto Mono"/>
              </a:rPr>
              <a:t>1</a:t>
            </a:r>
          </a:p>
        </p:txBody>
      </p:sp>
      <p:sp>
        <p:nvSpPr>
          <p:cNvPr id="13" name="">
            <a:extLst xmlns:a="http://schemas.openxmlformats.org/drawingml/2006/main">
              <a:ext uri="{FF2B5EF4-FFF2-40B4-BE49-F238E27FC236}">
                <a16:creationId xmlns:a16="http://schemas.microsoft.com/office/drawing/2014/main" id="{4B31727E-82DB-409E-9A01-79373716E558}"/>
              </a:ext>
            </a:extLst>
          </p:cNvPr>
          <p:cNvSpPr>
            <a:spLocks xmlns:a="http://schemas.openxmlformats.org/drawingml/2006/main" noGrp="1"/>
          </p:cNvSpPr>
          <p:nvPr/>
        </p:nvSpPr>
        <p:spPr>
          <a:xfrm xmlns:a="http://schemas.openxmlformats.org/drawingml/2006/main">
            <a:off x="685800" y="3143250"/>
            <a:ext cx="10820400" cy="742950"/>
          </a:xfrm>
          <a:prstGeom xmlns:a="http://schemas.openxmlformats.org/drawingml/2006/main" prst="rect">
            <a:avLst/>
          </a:prstGeom>
          <a:solidFill xmlns:a="http://schemas.openxmlformats.org/drawingml/2006/main">
            <a:srgbClr val="F0E7D8"/>
          </a:solidFill>
          <a:ln xmlns:a="http://schemas.openxmlformats.org/drawingml/2006/main" w="9525">
            <a:solidFill>
              <a:srgbClr val="CBD2CA"/>
            </a:solidFill>
            <a:prstDash val="solid"/>
          </a:ln>
        </p:spPr>
      </p:sp>
      <p:sp>
        <p:nvSpPr>
          <p:cNvPr id="14" name="">
            <a:extLst xmlns:a="http://schemas.openxmlformats.org/drawingml/2006/main">
              <a:ext uri="{FF2B5EF4-FFF2-40B4-BE49-F238E27FC236}">
                <a16:creationId xmlns:a16="http://schemas.microsoft.com/office/drawing/2014/main" id="{A8468DB0-E651-4158-974E-0BC8C4911864}"/>
              </a:ext>
            </a:extLst>
          </p:cNvPr>
          <p:cNvSpPr>
            <a:spLocks xmlns:a="http://schemas.openxmlformats.org/drawingml/2006/main" noGrp="1"/>
          </p:cNvSpPr>
          <p:nvPr/>
        </p:nvSpPr>
        <p:spPr>
          <a:xfrm xmlns:a="http://schemas.openxmlformats.org/drawingml/2006/main">
            <a:off x="876300" y="336232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4181C"/>
                </a:solidFill>
                <a:latin typeface="Arial"/>
                <a:ea typeface="Arial"/>
                <a:cs typeface="Arial"/>
              </a:defRPr>
            </a:pPr>
            <a:r>
              <a:rPr sz="1725" b="1">
                <a:solidFill>
                  <a:srgbClr val="14181C"/>
                </a:solidFill>
                <a:latin typeface="Arial"/>
                <a:ea typeface="Arial"/>
                <a:cs typeface="Arial"/>
              </a:rPr>
              <a:t>v2 · strict after reading misses</a:t>
            </a:r>
          </a:p>
        </p:txBody>
      </p:sp>
      <p:sp>
        <p:nvSpPr>
          <p:cNvPr id="15" name="">
            <a:extLst xmlns:a="http://schemas.openxmlformats.org/drawingml/2006/main">
              <a:ext uri="{FF2B5EF4-FFF2-40B4-BE49-F238E27FC236}">
                <a16:creationId xmlns:a16="http://schemas.microsoft.com/office/drawing/2014/main" id="{1A359D98-4414-4D26-A238-529B633AF05D}"/>
              </a:ext>
            </a:extLst>
          </p:cNvPr>
          <p:cNvSpPr>
            <a:spLocks xmlns:a="http://schemas.openxmlformats.org/drawingml/2006/main" noGrp="1"/>
          </p:cNvSpPr>
          <p:nvPr/>
        </p:nvSpPr>
        <p:spPr>
          <a:xfrm xmlns:a="http://schemas.openxmlformats.org/drawingml/2006/main">
            <a:off x="5143500" y="3324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14181C"/>
                </a:solidFill>
                <a:latin typeface="Roboto Mono"/>
                <a:ea typeface="Roboto Mono"/>
                <a:cs typeface="Roboto Mono"/>
              </a:defRPr>
            </a:pPr>
            <a:r>
              <a:rPr sz="2175" b="1">
                <a:solidFill>
                  <a:srgbClr val="14181C"/>
                </a:solidFill>
                <a:latin typeface="Roboto Mono"/>
                <a:ea typeface="Roboto Mono"/>
                <a:cs typeface="Roboto Mono"/>
              </a:rPr>
              <a:t>85%</a:t>
            </a:r>
          </a:p>
        </p:txBody>
      </p:sp>
      <p:sp>
        <p:nvSpPr>
          <p:cNvPr id="16" name="">
            <a:extLst xmlns:a="http://schemas.openxmlformats.org/drawingml/2006/main">
              <a:ext uri="{FF2B5EF4-FFF2-40B4-BE49-F238E27FC236}">
                <a16:creationId xmlns:a16="http://schemas.microsoft.com/office/drawing/2014/main" id="{94EB7465-7D52-4A54-B9D7-CE615B976EEC}"/>
              </a:ext>
            </a:extLst>
          </p:cNvPr>
          <p:cNvSpPr>
            <a:spLocks xmlns:a="http://schemas.openxmlformats.org/drawingml/2006/main" noGrp="1"/>
          </p:cNvSpPr>
          <p:nvPr/>
        </p:nvSpPr>
        <p:spPr>
          <a:xfrm xmlns:a="http://schemas.openxmlformats.org/drawingml/2006/main">
            <a:off x="7334250" y="3324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35704A"/>
                </a:solidFill>
                <a:latin typeface="Roboto Mono"/>
                <a:ea typeface="Roboto Mono"/>
                <a:cs typeface="Roboto Mono"/>
              </a:defRPr>
            </a:pPr>
            <a:r>
              <a:rPr sz="2175" b="1">
                <a:solidFill>
                  <a:srgbClr val="35704A"/>
                </a:solidFill>
                <a:latin typeface="Roboto Mono"/>
                <a:ea typeface="Roboto Mono"/>
                <a:cs typeface="Roboto Mono"/>
              </a:rPr>
              <a:t>0</a:t>
            </a:r>
          </a:p>
        </p:txBody>
      </p:sp>
      <p:sp>
        <p:nvSpPr>
          <p:cNvPr id="17" name="">
            <a:extLst xmlns:a="http://schemas.openxmlformats.org/drawingml/2006/main">
              <a:ext uri="{FF2B5EF4-FFF2-40B4-BE49-F238E27FC236}">
                <a16:creationId xmlns:a16="http://schemas.microsoft.com/office/drawing/2014/main" id="{6171CFB3-706C-4DC5-B6E1-94FF048563AA}"/>
              </a:ext>
            </a:extLst>
          </p:cNvPr>
          <p:cNvSpPr>
            <a:spLocks xmlns:a="http://schemas.openxmlformats.org/drawingml/2006/main" noGrp="1"/>
          </p:cNvSpPr>
          <p:nvPr/>
        </p:nvSpPr>
        <p:spPr>
          <a:xfrm xmlns:a="http://schemas.openxmlformats.org/drawingml/2006/main">
            <a:off x="9572625" y="33242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96682A"/>
                </a:solidFill>
                <a:latin typeface="Roboto Mono"/>
                <a:ea typeface="Roboto Mono"/>
                <a:cs typeface="Roboto Mono"/>
              </a:defRPr>
            </a:pPr>
            <a:r>
              <a:rPr sz="2175" b="1">
                <a:solidFill>
                  <a:srgbClr val="96682A"/>
                </a:solidFill>
                <a:latin typeface="Roboto Mono"/>
                <a:ea typeface="Roboto Mono"/>
                <a:cs typeface="Roboto Mono"/>
              </a:rPr>
              <a:t>3</a:t>
            </a:r>
          </a:p>
        </p:txBody>
      </p:sp>
      <p:sp>
        <p:nvSpPr>
          <p:cNvPr id="18" name="">
            <a:extLst xmlns:a="http://schemas.openxmlformats.org/drawingml/2006/main">
              <a:ext uri="{FF2B5EF4-FFF2-40B4-BE49-F238E27FC236}">
                <a16:creationId xmlns:a16="http://schemas.microsoft.com/office/drawing/2014/main" id="{D8E02E71-3DDE-48C1-8718-4C6405973264}"/>
              </a:ext>
            </a:extLst>
          </p:cNvPr>
          <p:cNvSpPr>
            <a:spLocks xmlns:a="http://schemas.openxmlformats.org/drawingml/2006/main" noGrp="1"/>
          </p:cNvSpPr>
          <p:nvPr/>
        </p:nvSpPr>
        <p:spPr>
          <a:xfrm xmlns:a="http://schemas.openxmlformats.org/drawingml/2006/main">
            <a:off x="685800" y="4095750"/>
            <a:ext cx="10820400" cy="742950"/>
          </a:xfrm>
          <a:prstGeom xmlns:a="http://schemas.openxmlformats.org/drawingml/2006/main" prst="rect">
            <a:avLst/>
          </a:prstGeom>
          <a:solidFill xmlns:a="http://schemas.openxmlformats.org/drawingml/2006/main">
            <a:srgbClr val="E2ECE4"/>
          </a:solidFill>
          <a:ln xmlns:a="http://schemas.openxmlformats.org/drawingml/2006/main" w="9525">
            <a:solidFill>
              <a:srgbClr val="CBD2CA"/>
            </a:solidFill>
            <a:prstDash val="solid"/>
          </a:ln>
        </p:spPr>
      </p:sp>
      <p:sp>
        <p:nvSpPr>
          <p:cNvPr id="19" name="">
            <a:extLst xmlns:a="http://schemas.openxmlformats.org/drawingml/2006/main">
              <a:ext uri="{FF2B5EF4-FFF2-40B4-BE49-F238E27FC236}">
                <a16:creationId xmlns:a16="http://schemas.microsoft.com/office/drawing/2014/main" id="{A8458C57-DD43-4ECC-A8EA-2419FE33502E}"/>
              </a:ext>
            </a:extLst>
          </p:cNvPr>
          <p:cNvSpPr>
            <a:spLocks xmlns:a="http://schemas.openxmlformats.org/drawingml/2006/main" noGrp="1"/>
          </p:cNvSpPr>
          <p:nvPr/>
        </p:nvSpPr>
        <p:spPr>
          <a:xfrm xmlns:a="http://schemas.openxmlformats.org/drawingml/2006/main">
            <a:off x="876300" y="431482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4181C"/>
                </a:solidFill>
                <a:latin typeface="Arial"/>
                <a:ea typeface="Arial"/>
                <a:cs typeface="Arial"/>
              </a:defRPr>
            </a:pPr>
            <a:r>
              <a:rPr sz="1725" b="1">
                <a:solidFill>
                  <a:srgbClr val="14181C"/>
                </a:solidFill>
                <a:latin typeface="Arial"/>
                <a:ea typeface="Arial"/>
                <a:cs typeface="Arial"/>
              </a:rPr>
              <a:t>v3 · calibrated</a:t>
            </a:r>
          </a:p>
        </p:txBody>
      </p:sp>
      <p:sp>
        <p:nvSpPr>
          <p:cNvPr id="20" name="">
            <a:extLst xmlns:a="http://schemas.openxmlformats.org/drawingml/2006/main">
              <a:ext uri="{FF2B5EF4-FFF2-40B4-BE49-F238E27FC236}">
                <a16:creationId xmlns:a16="http://schemas.microsoft.com/office/drawing/2014/main" id="{6B37BA7A-378A-4153-8C15-C2C35786FA80}"/>
              </a:ext>
            </a:extLst>
          </p:cNvPr>
          <p:cNvSpPr>
            <a:spLocks xmlns:a="http://schemas.openxmlformats.org/drawingml/2006/main" noGrp="1"/>
          </p:cNvSpPr>
          <p:nvPr/>
        </p:nvSpPr>
        <p:spPr>
          <a:xfrm xmlns:a="http://schemas.openxmlformats.org/drawingml/2006/main">
            <a:off x="5143500" y="42767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14181C"/>
                </a:solidFill>
                <a:latin typeface="Roboto Mono"/>
                <a:ea typeface="Roboto Mono"/>
                <a:cs typeface="Roboto Mono"/>
              </a:defRPr>
            </a:pPr>
            <a:r>
              <a:rPr sz="2175" b="1">
                <a:solidFill>
                  <a:srgbClr val="14181C"/>
                </a:solidFill>
                <a:latin typeface="Roboto Mono"/>
                <a:ea typeface="Roboto Mono"/>
                <a:cs typeface="Roboto Mono"/>
              </a:rPr>
              <a:t>95%</a:t>
            </a:r>
          </a:p>
        </p:txBody>
      </p:sp>
      <p:sp>
        <p:nvSpPr>
          <p:cNvPr id="21" name="">
            <a:extLst xmlns:a="http://schemas.openxmlformats.org/drawingml/2006/main">
              <a:ext uri="{FF2B5EF4-FFF2-40B4-BE49-F238E27FC236}">
                <a16:creationId xmlns:a16="http://schemas.microsoft.com/office/drawing/2014/main" id="{B54C0993-DD55-4CB8-B508-23535C936B58}"/>
              </a:ext>
            </a:extLst>
          </p:cNvPr>
          <p:cNvSpPr>
            <a:spLocks xmlns:a="http://schemas.openxmlformats.org/drawingml/2006/main" noGrp="1"/>
          </p:cNvSpPr>
          <p:nvPr/>
        </p:nvSpPr>
        <p:spPr>
          <a:xfrm xmlns:a="http://schemas.openxmlformats.org/drawingml/2006/main">
            <a:off x="7334250" y="42767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35704A"/>
                </a:solidFill>
                <a:latin typeface="Roboto Mono"/>
                <a:ea typeface="Roboto Mono"/>
                <a:cs typeface="Roboto Mono"/>
              </a:defRPr>
            </a:pPr>
            <a:r>
              <a:rPr sz="2175" b="1">
                <a:solidFill>
                  <a:srgbClr val="35704A"/>
                </a:solidFill>
                <a:latin typeface="Roboto Mono"/>
                <a:ea typeface="Roboto Mono"/>
                <a:cs typeface="Roboto Mono"/>
              </a:rPr>
              <a:t>0</a:t>
            </a:r>
          </a:p>
        </p:txBody>
      </p:sp>
      <p:sp>
        <p:nvSpPr>
          <p:cNvPr id="22" name="">
            <a:extLst xmlns:a="http://schemas.openxmlformats.org/drawingml/2006/main">
              <a:ext uri="{FF2B5EF4-FFF2-40B4-BE49-F238E27FC236}">
                <a16:creationId xmlns:a16="http://schemas.microsoft.com/office/drawing/2014/main" id="{ECC5F5B9-B66E-4434-BAFF-80282E8F3C13}"/>
              </a:ext>
            </a:extLst>
          </p:cNvPr>
          <p:cNvSpPr>
            <a:spLocks xmlns:a="http://schemas.openxmlformats.org/drawingml/2006/main" noGrp="1"/>
          </p:cNvSpPr>
          <p:nvPr/>
        </p:nvSpPr>
        <p:spPr>
          <a:xfrm xmlns:a="http://schemas.openxmlformats.org/drawingml/2006/main">
            <a:off x="9572625" y="42767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75" b="1">
                <a:solidFill>
                  <a:srgbClr val="14181C"/>
                </a:solidFill>
                <a:latin typeface="Roboto Mono"/>
                <a:ea typeface="Roboto Mono"/>
                <a:cs typeface="Roboto Mono"/>
              </a:defRPr>
            </a:pPr>
            <a:r>
              <a:rPr sz="2175" b="1">
                <a:solidFill>
                  <a:srgbClr val="14181C"/>
                </a:solidFill>
                <a:latin typeface="Roboto Mono"/>
                <a:ea typeface="Roboto Mono"/>
                <a:cs typeface="Roboto Mono"/>
              </a:rPr>
              <a:t>1</a:t>
            </a:r>
          </a:p>
        </p:txBody>
      </p:sp>
      <p:sp>
        <p:nvSpPr>
          <p:cNvPr id="23" name="">
            <a:extLst xmlns:a="http://schemas.openxmlformats.org/drawingml/2006/main">
              <a:ext uri="{FF2B5EF4-FFF2-40B4-BE49-F238E27FC236}">
                <a16:creationId xmlns:a16="http://schemas.microsoft.com/office/drawing/2014/main" id="{235CE574-8415-430C-908A-E48041D666FF}"/>
              </a:ext>
            </a:extLst>
          </p:cNvPr>
          <p:cNvSpPr>
            <a:spLocks xmlns:a="http://schemas.openxmlformats.org/drawingml/2006/main" noGrp="1"/>
          </p:cNvSpPr>
          <p:nvPr/>
        </p:nvSpPr>
        <p:spPr>
          <a:xfrm xmlns:a="http://schemas.openxmlformats.org/drawingml/2006/main">
            <a:off x="685800" y="5219700"/>
            <a:ext cx="10820400" cy="895350"/>
          </a:xfrm>
          <a:prstGeom xmlns:a="http://schemas.openxmlformats.org/drawingml/2006/main" prst="rect">
            <a:avLst/>
          </a:prstGeom>
          <a:solidFill xmlns:a="http://schemas.openxmlformats.org/drawingml/2006/main">
            <a:srgbClr val="DCE8E5"/>
          </a:solidFill>
          <a:ln xmlns:a="http://schemas.openxmlformats.org/drawingml/2006/main" w="11430">
            <a:solidFill>
              <a:srgbClr val="24726A"/>
            </a:solidFill>
            <a:prstDash val="solid"/>
          </a:ln>
        </p:spPr>
      </p:sp>
      <p:sp>
        <p:nvSpPr>
          <p:cNvPr id="24" name="">
            <a:extLst xmlns:a="http://schemas.openxmlformats.org/drawingml/2006/main">
              <a:ext uri="{FF2B5EF4-FFF2-40B4-BE49-F238E27FC236}">
                <a16:creationId xmlns:a16="http://schemas.microsoft.com/office/drawing/2014/main" id="{E7F35F89-AB58-4A30-AE77-6D0DD272AAA4}"/>
              </a:ext>
            </a:extLst>
          </p:cNvPr>
          <p:cNvSpPr>
            <a:spLocks xmlns:a="http://schemas.openxmlformats.org/drawingml/2006/main" noGrp="1"/>
          </p:cNvSpPr>
          <p:nvPr/>
        </p:nvSpPr>
        <p:spPr>
          <a:xfrm xmlns:a="http://schemas.openxmlformats.org/drawingml/2006/main">
            <a:off x="933450" y="53911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4181C"/>
                </a:solidFill>
                <a:latin typeface="Arial"/>
                <a:ea typeface="Arial"/>
                <a:cs typeface="Arial"/>
              </a:defRPr>
            </a:pPr>
            <a:r>
              <a:rPr sz="1875" b="1">
                <a:solidFill>
                  <a:srgbClr val="14181C"/>
                </a:solidFill>
                <a:latin typeface="Arial"/>
                <a:ea typeface="Arial"/>
                <a:cs typeface="Arial"/>
              </a:rPr>
              <a:t>v1 and v2 have the same headline score.</a:t>
            </a:r>
          </a:p>
        </p:txBody>
      </p:sp>
      <p:sp>
        <p:nvSpPr>
          <p:cNvPr id="25" name="">
            <a:extLst xmlns:a="http://schemas.openxmlformats.org/drawingml/2006/main">
              <a:ext uri="{FF2B5EF4-FFF2-40B4-BE49-F238E27FC236}">
                <a16:creationId xmlns:a16="http://schemas.microsoft.com/office/drawing/2014/main" id="{BC3097A1-3AA3-448E-BF5E-C89F40F26D46}"/>
              </a:ext>
            </a:extLst>
          </p:cNvPr>
          <p:cNvSpPr>
            <a:spLocks xmlns:a="http://schemas.openxmlformats.org/drawingml/2006/main" noGrp="1"/>
          </p:cNvSpPr>
          <p:nvPr/>
        </p:nvSpPr>
        <p:spPr>
          <a:xfrm xmlns:a="http://schemas.openxmlformats.org/drawingml/2006/main">
            <a:off x="5905500" y="5372100"/>
            <a:ext cx="533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14181C"/>
                </a:solidFill>
                <a:latin typeface="Arial"/>
                <a:ea typeface="Arial"/>
                <a:cs typeface="Arial"/>
              </a:defRPr>
            </a:pPr>
            <a:r>
              <a:rPr sz="1650" b="0">
                <a:solidFill>
                  <a:srgbClr val="14181C"/>
                </a:solidFill>
                <a:latin typeface="Arial"/>
                <a:ea typeface="Arial"/>
                <a:cs typeface="Arial"/>
              </a:rPr>
              <a:t>Only the error direction shows that v2 eliminated the dangerous false accepts.</a:t>
            </a:r>
          </a:p>
        </p:txBody>
      </p:sp>
      <p:sp>
        <p:nvSpPr>
          <p:cNvPr id="26" name="">
            <a:extLst xmlns:a="http://schemas.openxmlformats.org/drawingml/2006/main">
              <a:ext uri="{FF2B5EF4-FFF2-40B4-BE49-F238E27FC236}">
                <a16:creationId xmlns:a16="http://schemas.microsoft.com/office/drawing/2014/main" id="{4ACF7BE6-BD8F-404C-9475-54B5C0E17F10}"/>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7" name="">
            <a:extLst xmlns:a="http://schemas.openxmlformats.org/drawingml/2006/main">
              <a:ext uri="{FF2B5EF4-FFF2-40B4-BE49-F238E27FC236}">
                <a16:creationId xmlns:a16="http://schemas.microsoft.com/office/drawing/2014/main" id="{07F13552-40BB-4A19-891E-743B9EAA7D7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09</a:t>
            </a:r>
          </a:p>
        </p:txBody>
      </p:sp>
    </p:spTree>
    <p:extLst>
      <p:ext uri="{BB962C8B-B14F-4D97-AF65-F5344CB8AC3E}">
        <p14:creationId xmlns:p14="http://schemas.microsoft.com/office/powerpoint/2010/main" val="1474314763"/>
      </p:ext>
    </p:extLst>
  </p:cSld>
</p:sld>
</file>

<file path=ppt/slides/slide10.xml><?xml version="1.0" encoding="utf-8"?>
<p:sld xmlns:p="http://schemas.openxmlformats.org/presentationml/2006/main">
  <p:cSld>
    <p:bg>
      <p:bgPr>
        <a:solidFill xmlns:a="http://schemas.openxmlformats.org/drawingml/2006/main">
          <a:srgbClr val="F1F3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E15469F-C424-4633-86A0-EDB24FD2C351}"/>
              </a:ext>
            </a:extLst>
          </p:cNvPr>
          <p:cNvSpPr>
            <a:spLocks xmlns:a="http://schemas.openxmlformats.org/drawingml/2006/main" noGrp="1"/>
          </p:cNvSpPr>
          <p:nvPr/>
        </p:nvSpPr>
        <p:spPr>
          <a:xfrm xmlns:a="http://schemas.openxmlformats.org/drawingml/2006/main">
            <a:off x="685800" y="419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ENTERPRISE CONTROLS</a:t>
            </a:r>
          </a:p>
        </p:txBody>
      </p:sp>
      <p:sp>
        <p:nvSpPr>
          <p:cNvPr id="2" name="slide-10-title">
            <a:extLst xmlns:a="http://schemas.openxmlformats.org/drawingml/2006/main">
              <a:ext uri="{FF2B5EF4-FFF2-40B4-BE49-F238E27FC236}">
                <a16:creationId xmlns:a16="http://schemas.microsoft.com/office/drawing/2014/main" id="{4A6B8974-4D94-4AC2-8A8D-D6B5464358D4}"/>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a:solidFill>
                  <a:srgbClr val="14181C"/>
                </a:solidFill>
                <a:latin typeface="Arial"/>
                <a:ea typeface="Arial"/>
                <a:cs typeface="Arial"/>
              </a:defRPr>
            </a:pPr>
            <a:r>
              <a:rPr sz="3600" b="1">
                <a:solidFill>
                  <a:srgbClr val="14181C"/>
                </a:solidFill>
                <a:latin typeface="Arial"/>
                <a:ea typeface="Arial"/>
                <a:cs typeface="Arial"/>
              </a:rPr>
              <a:t>Production safety needs explicit boundaries</a:t>
            </a:r>
          </a:p>
        </p:txBody>
      </p:sp>
      <p:sp>
        <p:nvSpPr>
          <p:cNvPr id="3" name="">
            <a:extLst xmlns:a="http://schemas.openxmlformats.org/drawingml/2006/main">
              <a:ext uri="{FF2B5EF4-FFF2-40B4-BE49-F238E27FC236}">
                <a16:creationId xmlns:a16="http://schemas.microsoft.com/office/drawing/2014/main" id="{70D5DA7D-3A5A-48E9-908E-433316BE7F86}"/>
              </a:ext>
            </a:extLst>
          </p:cNvPr>
          <p:cNvSpPr>
            <a:spLocks xmlns:a="http://schemas.openxmlformats.org/drawingml/2006/main" noGrp="1"/>
          </p:cNvSpPr>
          <p:nvPr/>
        </p:nvSpPr>
        <p:spPr>
          <a:xfrm xmlns:a="http://schemas.openxmlformats.org/drawingml/2006/main">
            <a:off x="685800" y="1371600"/>
            <a:ext cx="10820400" cy="0"/>
          </a:xfrm>
          <a:prstGeom xmlns:a="http://schemas.openxmlformats.org/drawingml/2006/main" prst="line">
            <a:avLst/>
          </a:prstGeom>
          <a:noFill xmlns:a="http://schemas.openxmlformats.org/drawingml/2006/main"/>
          <a:ln xmlns:a="http://schemas.openxmlformats.org/drawingml/2006/main" w="14288">
            <a:solidFill>
              <a:srgbClr val="14181C"/>
            </a:solidFill>
            <a:prstDash val="solid"/>
          </a:ln>
        </p:spPr>
      </p:sp>
      <p:sp>
        <p:nvSpPr>
          <p:cNvPr id="4" name="mcp-tools">
            <a:extLst xmlns:a="http://schemas.openxmlformats.org/drawingml/2006/main">
              <a:ext uri="{FF2B5EF4-FFF2-40B4-BE49-F238E27FC236}">
                <a16:creationId xmlns:a16="http://schemas.microsoft.com/office/drawing/2014/main" id="{621D0170-F6BF-404D-9B82-CF8270A7F493}"/>
              </a:ext>
            </a:extLst>
          </p:cNvPr>
          <p:cNvSpPr>
            <a:spLocks xmlns:a="http://schemas.openxmlformats.org/drawingml/2006/main" noGrp="1"/>
          </p:cNvSpPr>
          <p:nvPr/>
        </p:nvSpPr>
        <p:spPr>
          <a:xfrm xmlns:a="http://schemas.openxmlformats.org/drawingml/2006/main">
            <a:off x="685800" y="2266950"/>
            <a:ext cx="2095500" cy="838200"/>
          </a:xfrm>
          <a:prstGeom xmlns:a="http://schemas.openxmlformats.org/drawingml/2006/main" prst="roundRect">
            <a:avLst>
              <a:gd name="adj" fmla="val 7955"/>
            </a:avLst>
          </a:prstGeom>
          <a:solidFill xmlns:a="http://schemas.openxmlformats.org/drawingml/2006/main">
            <a:srgbClr val="E7EAE4"/>
          </a:solidFill>
          <a:ln xmlns:a="http://schemas.openxmlformats.org/drawingml/2006/main" w="11430">
            <a:solidFill>
              <a:srgbClr val="A9B3AC"/>
            </a:solidFill>
            <a:prstDash val="solid"/>
          </a:ln>
        </p:spPr>
      </p:sp>
      <p:sp>
        <p:nvSpPr>
          <p:cNvPr id="5" name="">
            <a:extLst xmlns:a="http://schemas.openxmlformats.org/drawingml/2006/main">
              <a:ext uri="{FF2B5EF4-FFF2-40B4-BE49-F238E27FC236}">
                <a16:creationId xmlns:a16="http://schemas.microsoft.com/office/drawing/2014/main" id="{6AC44BA1-0274-407F-B767-992FC6A78DAC}"/>
              </a:ext>
            </a:extLst>
          </p:cNvPr>
          <p:cNvSpPr>
            <a:spLocks xmlns:a="http://schemas.openxmlformats.org/drawingml/2006/main" noGrp="1"/>
          </p:cNvSpPr>
          <p:nvPr/>
        </p:nvSpPr>
        <p:spPr>
          <a:xfrm xmlns:a="http://schemas.openxmlformats.org/drawingml/2006/main">
            <a:off x="819150" y="2390775"/>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4181C"/>
                </a:solidFill>
                <a:latin typeface="Arial"/>
                <a:ea typeface="Arial"/>
                <a:cs typeface="Arial"/>
              </a:defRPr>
            </a:pPr>
            <a:r>
              <a:rPr sz="1800" b="1">
                <a:solidFill>
                  <a:srgbClr val="14181C"/>
                </a:solidFill>
                <a:latin typeface="Arial"/>
                <a:ea typeface="Arial"/>
                <a:cs typeface="Arial"/>
              </a:rPr>
              <a:t>MCP tools</a:t>
            </a:r>
          </a:p>
        </p:txBody>
      </p:sp>
      <p:sp>
        <p:nvSpPr>
          <p:cNvPr id="6" name="">
            <a:extLst xmlns:a="http://schemas.openxmlformats.org/drawingml/2006/main">
              <a:ext uri="{FF2B5EF4-FFF2-40B4-BE49-F238E27FC236}">
                <a16:creationId xmlns:a16="http://schemas.microsoft.com/office/drawing/2014/main" id="{6A811BB0-EBB2-42FF-AFA1-FDD6F9C1A495}"/>
              </a:ext>
            </a:extLst>
          </p:cNvPr>
          <p:cNvSpPr>
            <a:spLocks xmlns:a="http://schemas.openxmlformats.org/drawingml/2006/main" noGrp="1"/>
          </p:cNvSpPr>
          <p:nvPr/>
        </p:nvSpPr>
        <p:spPr>
          <a:xfrm xmlns:a="http://schemas.openxmlformats.org/drawingml/2006/main">
            <a:off x="819150" y="2714625"/>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75" b="0">
                <a:solidFill>
                  <a:srgbClr val="6E7A80"/>
                </a:solidFill>
                <a:latin typeface="Arial"/>
                <a:ea typeface="Arial"/>
                <a:cs typeface="Arial"/>
              </a:defRPr>
            </a:pPr>
            <a:r>
              <a:rPr sz="1275" b="0">
                <a:solidFill>
                  <a:srgbClr val="6E7A80"/>
                </a:solidFill>
                <a:latin typeface="Arial"/>
                <a:ea typeface="Arial"/>
                <a:cs typeface="Arial"/>
              </a:rPr>
              <a:t>Trading + banking</a:t>
            </a:r>
          </a:p>
        </p:txBody>
      </p:sp>
      <p:sp>
        <p:nvSpPr>
          <p:cNvPr id="7" name="classifier">
            <a:extLst xmlns:a="http://schemas.openxmlformats.org/drawingml/2006/main">
              <a:ext uri="{FF2B5EF4-FFF2-40B4-BE49-F238E27FC236}">
                <a16:creationId xmlns:a16="http://schemas.microsoft.com/office/drawing/2014/main" id="{326458F2-0D73-4C41-9349-489E38E226C0}"/>
              </a:ext>
            </a:extLst>
          </p:cNvPr>
          <p:cNvSpPr>
            <a:spLocks xmlns:a="http://schemas.openxmlformats.org/drawingml/2006/main" noGrp="1"/>
          </p:cNvSpPr>
          <p:nvPr/>
        </p:nvSpPr>
        <p:spPr>
          <a:xfrm xmlns:a="http://schemas.openxmlformats.org/drawingml/2006/main">
            <a:off x="3371850" y="2266950"/>
            <a:ext cx="2667000" cy="838200"/>
          </a:xfrm>
          <a:prstGeom xmlns:a="http://schemas.openxmlformats.org/drawingml/2006/main" prst="roundRect">
            <a:avLst>
              <a:gd name="adj" fmla="val 7955"/>
            </a:avLst>
          </a:prstGeom>
          <a:solidFill xmlns:a="http://schemas.openxmlformats.org/drawingml/2006/main">
            <a:srgbClr val="DCE8E5"/>
          </a:solidFill>
          <a:ln xmlns:a="http://schemas.openxmlformats.org/drawingml/2006/main" w="11430">
            <a:solidFill>
              <a:srgbClr val="24726A"/>
            </a:solidFill>
            <a:prstDash val="solid"/>
          </a:ln>
        </p:spPr>
      </p:sp>
      <p:sp>
        <p:nvSpPr>
          <p:cNvPr id="8" name="">
            <a:extLst xmlns:a="http://schemas.openxmlformats.org/drawingml/2006/main">
              <a:ext uri="{FF2B5EF4-FFF2-40B4-BE49-F238E27FC236}">
                <a16:creationId xmlns:a16="http://schemas.microsoft.com/office/drawing/2014/main" id="{3D53C0F9-26A3-4F5F-A5E6-388AB0DDBEB9}"/>
              </a:ext>
            </a:extLst>
          </p:cNvPr>
          <p:cNvSpPr>
            <a:spLocks xmlns:a="http://schemas.openxmlformats.org/drawingml/2006/main" noGrp="1"/>
          </p:cNvSpPr>
          <p:nvPr/>
        </p:nvSpPr>
        <p:spPr>
          <a:xfrm xmlns:a="http://schemas.openxmlformats.org/drawingml/2006/main">
            <a:off x="3505200" y="23907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4181C"/>
                </a:solidFill>
                <a:latin typeface="Arial"/>
                <a:ea typeface="Arial"/>
                <a:cs typeface="Arial"/>
              </a:defRPr>
            </a:pPr>
            <a:r>
              <a:rPr sz="1800" b="1">
                <a:solidFill>
                  <a:srgbClr val="14181C"/>
                </a:solidFill>
                <a:latin typeface="Arial"/>
                <a:ea typeface="Arial"/>
                <a:cs typeface="Arial"/>
              </a:rPr>
              <a:t>blast-radius classifier</a:t>
            </a:r>
          </a:p>
        </p:txBody>
      </p:sp>
      <p:sp>
        <p:nvSpPr>
          <p:cNvPr id="9" name="">
            <a:extLst xmlns:a="http://schemas.openxmlformats.org/drawingml/2006/main">
              <a:ext uri="{FF2B5EF4-FFF2-40B4-BE49-F238E27FC236}">
                <a16:creationId xmlns:a16="http://schemas.microsoft.com/office/drawing/2014/main" id="{0F6278EE-5C86-4255-A736-A74DA565B6EA}"/>
              </a:ext>
            </a:extLst>
          </p:cNvPr>
          <p:cNvSpPr>
            <a:spLocks xmlns:a="http://schemas.openxmlformats.org/drawingml/2006/main" noGrp="1"/>
          </p:cNvSpPr>
          <p:nvPr/>
        </p:nvSpPr>
        <p:spPr>
          <a:xfrm xmlns:a="http://schemas.openxmlformats.org/drawingml/2006/main">
            <a:off x="3505200" y="2714625"/>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75" b="0">
                <a:solidFill>
                  <a:srgbClr val="6E7A80"/>
                </a:solidFill>
                <a:latin typeface="Arial"/>
                <a:ea typeface="Arial"/>
                <a:cs typeface="Arial"/>
              </a:defRPr>
            </a:pPr>
            <a:r>
              <a:rPr sz="1275" b="0">
                <a:solidFill>
                  <a:srgbClr val="6E7A80"/>
                </a:solidFill>
                <a:latin typeface="Arial"/>
                <a:ea typeface="Arial"/>
                <a:cs typeface="Arial"/>
              </a:rPr>
              <a:t>verb rules · fail closed</a:t>
            </a:r>
          </a:p>
        </p:txBody>
      </p:sp>
      <p:sp>
        <p:nvSpPr>
          <p:cNvPr id="10" name="read-tools">
            <a:extLst xmlns:a="http://schemas.openxmlformats.org/drawingml/2006/main">
              <a:ext uri="{FF2B5EF4-FFF2-40B4-BE49-F238E27FC236}">
                <a16:creationId xmlns:a16="http://schemas.microsoft.com/office/drawing/2014/main" id="{8EF97046-B682-40BE-BA88-8C8017459970}"/>
              </a:ext>
            </a:extLst>
          </p:cNvPr>
          <p:cNvSpPr>
            <a:spLocks xmlns:a="http://schemas.openxmlformats.org/drawingml/2006/main" noGrp="1"/>
          </p:cNvSpPr>
          <p:nvPr/>
        </p:nvSpPr>
        <p:spPr>
          <a:xfrm xmlns:a="http://schemas.openxmlformats.org/drawingml/2006/main">
            <a:off x="7086600" y="1809750"/>
            <a:ext cx="2095500" cy="838200"/>
          </a:xfrm>
          <a:prstGeom xmlns:a="http://schemas.openxmlformats.org/drawingml/2006/main" prst="roundRect">
            <a:avLst>
              <a:gd name="adj" fmla="val 7955"/>
            </a:avLst>
          </a:prstGeom>
          <a:solidFill xmlns:a="http://schemas.openxmlformats.org/drawingml/2006/main">
            <a:srgbClr val="E2ECE4"/>
          </a:solidFill>
          <a:ln xmlns:a="http://schemas.openxmlformats.org/drawingml/2006/main" w="11430">
            <a:solidFill>
              <a:srgbClr val="35704A"/>
            </a:solidFill>
            <a:prstDash val="solid"/>
          </a:ln>
        </p:spPr>
      </p:sp>
      <p:sp>
        <p:nvSpPr>
          <p:cNvPr id="11" name="">
            <a:extLst xmlns:a="http://schemas.openxmlformats.org/drawingml/2006/main">
              <a:ext uri="{FF2B5EF4-FFF2-40B4-BE49-F238E27FC236}">
                <a16:creationId xmlns:a16="http://schemas.microsoft.com/office/drawing/2014/main" id="{FFBCE7BD-FA52-49FA-8444-13CF6ACEB85C}"/>
              </a:ext>
            </a:extLst>
          </p:cNvPr>
          <p:cNvSpPr>
            <a:spLocks xmlns:a="http://schemas.openxmlformats.org/drawingml/2006/main" noGrp="1"/>
          </p:cNvSpPr>
          <p:nvPr/>
        </p:nvSpPr>
        <p:spPr>
          <a:xfrm xmlns:a="http://schemas.openxmlformats.org/drawingml/2006/main">
            <a:off x="7219950" y="1933575"/>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00" b="1">
                <a:solidFill>
                  <a:srgbClr val="35704A"/>
                </a:solidFill>
                <a:latin typeface="Arial"/>
                <a:ea typeface="Arial"/>
                <a:cs typeface="Arial"/>
              </a:defRPr>
            </a:pPr>
            <a:r>
              <a:rPr sz="2100" b="1">
                <a:solidFill>
                  <a:srgbClr val="35704A"/>
                </a:solidFill>
                <a:latin typeface="Arial"/>
                <a:ea typeface="Arial"/>
                <a:cs typeface="Arial"/>
              </a:rPr>
              <a:t>READ</a:t>
            </a:r>
          </a:p>
        </p:txBody>
      </p:sp>
      <p:sp>
        <p:nvSpPr>
          <p:cNvPr id="12" name="">
            <a:extLst xmlns:a="http://schemas.openxmlformats.org/drawingml/2006/main">
              <a:ext uri="{FF2B5EF4-FFF2-40B4-BE49-F238E27FC236}">
                <a16:creationId xmlns:a16="http://schemas.microsoft.com/office/drawing/2014/main" id="{D4107187-65D3-418F-84DF-9393813913D9}"/>
              </a:ext>
            </a:extLst>
          </p:cNvPr>
          <p:cNvSpPr>
            <a:spLocks xmlns:a="http://schemas.openxmlformats.org/drawingml/2006/main" noGrp="1"/>
          </p:cNvSpPr>
          <p:nvPr/>
        </p:nvSpPr>
        <p:spPr>
          <a:xfrm xmlns:a="http://schemas.openxmlformats.org/drawingml/2006/main">
            <a:off x="7219950" y="2257425"/>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75" b="0">
                <a:solidFill>
                  <a:srgbClr val="6E7A80"/>
                </a:solidFill>
                <a:latin typeface="Arial"/>
                <a:ea typeface="Arial"/>
                <a:cs typeface="Arial"/>
              </a:defRPr>
            </a:pPr>
            <a:r>
              <a:rPr sz="1275" b="0">
                <a:solidFill>
                  <a:srgbClr val="6E7A80"/>
                </a:solidFill>
                <a:latin typeface="Arial"/>
                <a:ea typeface="Arial"/>
                <a:cs typeface="Arial"/>
              </a:rPr>
              <a:t>Visible to the model</a:t>
            </a:r>
          </a:p>
        </p:txBody>
      </p:sp>
      <p:sp>
        <p:nvSpPr>
          <p:cNvPr id="13" name="write-tools">
            <a:extLst xmlns:a="http://schemas.openxmlformats.org/drawingml/2006/main">
              <a:ext uri="{FF2B5EF4-FFF2-40B4-BE49-F238E27FC236}">
                <a16:creationId xmlns:a16="http://schemas.microsoft.com/office/drawing/2014/main" id="{DFFAC878-4EDA-47EB-8389-9C6BA5F6B9CA}"/>
              </a:ext>
            </a:extLst>
          </p:cNvPr>
          <p:cNvSpPr>
            <a:spLocks xmlns:a="http://schemas.openxmlformats.org/drawingml/2006/main" noGrp="1"/>
          </p:cNvSpPr>
          <p:nvPr/>
        </p:nvSpPr>
        <p:spPr>
          <a:xfrm xmlns:a="http://schemas.openxmlformats.org/drawingml/2006/main">
            <a:off x="7086600" y="2914650"/>
            <a:ext cx="3238500" cy="838200"/>
          </a:xfrm>
          <a:prstGeom xmlns:a="http://schemas.openxmlformats.org/drawingml/2006/main" prst="roundRect">
            <a:avLst>
              <a:gd name="adj" fmla="val 7955"/>
            </a:avLst>
          </a:prstGeom>
          <a:solidFill xmlns:a="http://schemas.openxmlformats.org/drawingml/2006/main">
            <a:srgbClr val="F0E7D8"/>
          </a:solidFill>
          <a:ln xmlns:a="http://schemas.openxmlformats.org/drawingml/2006/main" w="11430">
            <a:solidFill>
              <a:srgbClr val="96682A"/>
            </a:solidFill>
            <a:prstDash val="solid"/>
          </a:ln>
        </p:spPr>
      </p:sp>
      <p:sp>
        <p:nvSpPr>
          <p:cNvPr id="14" name="">
            <a:extLst xmlns:a="http://schemas.openxmlformats.org/drawingml/2006/main">
              <a:ext uri="{FF2B5EF4-FFF2-40B4-BE49-F238E27FC236}">
                <a16:creationId xmlns:a16="http://schemas.microsoft.com/office/drawing/2014/main" id="{14BD97B1-0C44-4D76-8FCB-BAC00B172260}"/>
              </a:ext>
            </a:extLst>
          </p:cNvPr>
          <p:cNvSpPr>
            <a:spLocks xmlns:a="http://schemas.openxmlformats.org/drawingml/2006/main" noGrp="1"/>
          </p:cNvSpPr>
          <p:nvPr/>
        </p:nvSpPr>
        <p:spPr>
          <a:xfrm xmlns:a="http://schemas.openxmlformats.org/drawingml/2006/main">
            <a:off x="7219950" y="3038475"/>
            <a:ext cx="297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00" b="1">
                <a:solidFill>
                  <a:srgbClr val="96682A"/>
                </a:solidFill>
                <a:latin typeface="Arial"/>
                <a:ea typeface="Arial"/>
                <a:cs typeface="Arial"/>
              </a:defRPr>
            </a:pPr>
            <a:r>
              <a:rPr sz="2100" b="1">
                <a:solidFill>
                  <a:srgbClr val="96682A"/>
                </a:solidFill>
                <a:latin typeface="Arial"/>
                <a:ea typeface="Arial"/>
                <a:cs typeface="Arial"/>
              </a:rPr>
              <a:t>WRITE</a:t>
            </a:r>
          </a:p>
        </p:txBody>
      </p:sp>
      <p:sp>
        <p:nvSpPr>
          <p:cNvPr id="15" name="">
            <a:extLst xmlns:a="http://schemas.openxmlformats.org/drawingml/2006/main">
              <a:ext uri="{FF2B5EF4-FFF2-40B4-BE49-F238E27FC236}">
                <a16:creationId xmlns:a16="http://schemas.microsoft.com/office/drawing/2014/main" id="{ECEE27C0-8C84-4A75-880D-175175AF9D0C}"/>
              </a:ext>
            </a:extLst>
          </p:cNvPr>
          <p:cNvSpPr>
            <a:spLocks xmlns:a="http://schemas.openxmlformats.org/drawingml/2006/main" noGrp="1"/>
          </p:cNvSpPr>
          <p:nvPr/>
        </p:nvSpPr>
        <p:spPr>
          <a:xfrm xmlns:a="http://schemas.openxmlformats.org/drawingml/2006/main">
            <a:off x="7219950" y="3362325"/>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75" b="0">
                <a:solidFill>
                  <a:srgbClr val="6E7A80"/>
                </a:solidFill>
                <a:latin typeface="Arial"/>
                <a:ea typeface="Arial"/>
                <a:cs typeface="Arial"/>
              </a:defRPr>
            </a:pPr>
            <a:r>
              <a:rPr sz="1275" b="0">
                <a:solidFill>
                  <a:srgbClr val="6E7A80"/>
                </a:solidFill>
                <a:latin typeface="Arial"/>
                <a:ea typeface="Arial"/>
                <a:cs typeface="Arial"/>
              </a:rPr>
              <a:t>Hidden by default · HITL if enabled</a:t>
            </a:r>
          </a:p>
        </p:txBody>
      </p:sp>
      <p:sp>
        <p:nvSpPr>
          <p:cNvPr id="16" name="secret-tools">
            <a:extLst xmlns:a="http://schemas.openxmlformats.org/drawingml/2006/main">
              <a:ext uri="{FF2B5EF4-FFF2-40B4-BE49-F238E27FC236}">
                <a16:creationId xmlns:a16="http://schemas.microsoft.com/office/drawing/2014/main" id="{24078EAD-2BB7-412E-8637-4072CDD99BB7}"/>
              </a:ext>
            </a:extLst>
          </p:cNvPr>
          <p:cNvSpPr>
            <a:spLocks xmlns:a="http://schemas.openxmlformats.org/drawingml/2006/main" noGrp="1"/>
          </p:cNvSpPr>
          <p:nvPr/>
        </p:nvSpPr>
        <p:spPr>
          <a:xfrm xmlns:a="http://schemas.openxmlformats.org/drawingml/2006/main">
            <a:off x="7086600" y="4019550"/>
            <a:ext cx="2095500" cy="838200"/>
          </a:xfrm>
          <a:prstGeom xmlns:a="http://schemas.openxmlformats.org/drawingml/2006/main" prst="roundRect">
            <a:avLst>
              <a:gd name="adj" fmla="val 7955"/>
            </a:avLst>
          </a:prstGeom>
          <a:solidFill xmlns:a="http://schemas.openxmlformats.org/drawingml/2006/main">
            <a:srgbClr val="F2E1DF"/>
          </a:solidFill>
          <a:ln xmlns:a="http://schemas.openxmlformats.org/drawingml/2006/main" w="11430">
            <a:solidFill>
              <a:srgbClr val="9E3E36"/>
            </a:solidFill>
            <a:prstDash val="solid"/>
          </a:ln>
        </p:spPr>
      </p:sp>
      <p:sp>
        <p:nvSpPr>
          <p:cNvPr id="17" name="">
            <a:extLst xmlns:a="http://schemas.openxmlformats.org/drawingml/2006/main">
              <a:ext uri="{FF2B5EF4-FFF2-40B4-BE49-F238E27FC236}">
                <a16:creationId xmlns:a16="http://schemas.microsoft.com/office/drawing/2014/main" id="{58D92B85-2D26-4A24-A5E2-93D33776B765}"/>
              </a:ext>
            </a:extLst>
          </p:cNvPr>
          <p:cNvSpPr>
            <a:spLocks xmlns:a="http://schemas.openxmlformats.org/drawingml/2006/main" noGrp="1"/>
          </p:cNvSpPr>
          <p:nvPr/>
        </p:nvSpPr>
        <p:spPr>
          <a:xfrm xmlns:a="http://schemas.openxmlformats.org/drawingml/2006/main">
            <a:off x="7219950" y="4143375"/>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00" b="1">
                <a:solidFill>
                  <a:srgbClr val="9E3E36"/>
                </a:solidFill>
                <a:latin typeface="Arial"/>
                <a:ea typeface="Arial"/>
                <a:cs typeface="Arial"/>
              </a:defRPr>
            </a:pPr>
            <a:r>
              <a:rPr sz="2100" b="1">
                <a:solidFill>
                  <a:srgbClr val="9E3E36"/>
                </a:solidFill>
                <a:latin typeface="Arial"/>
                <a:ea typeface="Arial"/>
                <a:cs typeface="Arial"/>
              </a:rPr>
              <a:t>SECRET</a:t>
            </a:r>
          </a:p>
        </p:txBody>
      </p:sp>
      <p:sp>
        <p:nvSpPr>
          <p:cNvPr id="18" name="">
            <a:extLst xmlns:a="http://schemas.openxmlformats.org/drawingml/2006/main">
              <a:ext uri="{FF2B5EF4-FFF2-40B4-BE49-F238E27FC236}">
                <a16:creationId xmlns:a16="http://schemas.microsoft.com/office/drawing/2014/main" id="{BB5C914B-EF24-4929-BF2F-5F80C18E63C0}"/>
              </a:ext>
            </a:extLst>
          </p:cNvPr>
          <p:cNvSpPr>
            <a:spLocks xmlns:a="http://schemas.openxmlformats.org/drawingml/2006/main" noGrp="1"/>
          </p:cNvSpPr>
          <p:nvPr/>
        </p:nvSpPr>
        <p:spPr>
          <a:xfrm xmlns:a="http://schemas.openxmlformats.org/drawingml/2006/main">
            <a:off x="7219950" y="4467225"/>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75" b="0">
                <a:solidFill>
                  <a:srgbClr val="6E7A80"/>
                </a:solidFill>
                <a:latin typeface="Arial"/>
                <a:ea typeface="Arial"/>
                <a:cs typeface="Arial"/>
              </a:defRPr>
            </a:pPr>
            <a:r>
              <a:rPr sz="1275" b="0">
                <a:solidFill>
                  <a:srgbClr val="6E7A80"/>
                </a:solidFill>
                <a:latin typeface="Arial"/>
                <a:ea typeface="Arial"/>
                <a:cs typeface="Arial"/>
              </a:rPr>
              <a:t>Never exposed</a:t>
            </a:r>
          </a:p>
        </p:txBody>
      </p:sp>
      <p:cxnSp>
        <p:nvCxnSpPr>
          <p:cNvPr id="47" name=""/>
          <p:cNvCxnSpPr>
            <a:stCxn xmlns:a="http://schemas.openxmlformats.org/drawingml/2006/main" id="4" idx="3"/>
            <a:endCxn xmlns:a="http://schemas.openxmlformats.org/drawingml/2006/main" id="7" idx="1"/>
          </p:cNvCxnSpPr>
          <p:nvPr/>
        </p:nvCxnSpPr>
        <p:spPr>
          <a:xfrm xmlns:a="http://schemas.openxmlformats.org/drawingml/2006/main">
            <a:off x="2781300" y="2686050"/>
            <a:ext cx="590550" cy="0"/>
          </a:xfrm>
          <a:prstGeom xmlns:a="http://schemas.openxmlformats.org/drawingml/2006/main" prst="straightConnector1">
            <a:avLst/>
          </a:prstGeom>
          <a:ln xmlns:a="http://schemas.openxmlformats.org/drawingml/2006/main" w="15240">
            <a:solidFill>
              <a:srgbClr val="444E54"/>
            </a:solidFill>
            <a:prstDash val="solid"/>
            <a:tailEnd type="triangle" w="sm" len="sm"/>
          </a:ln>
        </p:spPr>
      </p:cxnSp>
      <p:cxnSp>
        <p:nvCxnSpPr>
          <p:cNvPr id="48" name=""/>
          <p:cNvCxnSpPr>
            <a:stCxn xmlns:a="http://schemas.openxmlformats.org/drawingml/2006/main" id="7" idx="3"/>
            <a:endCxn xmlns:a="http://schemas.openxmlformats.org/drawingml/2006/main" id="10" idx="1"/>
          </p:cNvCxnSpPr>
          <p:nvPr/>
        </p:nvCxnSpPr>
        <p:spPr>
          <a:xfrm xmlns:a="http://schemas.openxmlformats.org/drawingml/2006/main" flipV="1">
            <a:off x="6038850" y="2228850"/>
            <a:ext cx="1047750" cy="457200"/>
          </a:xfrm>
          <a:prstGeom xmlns:a="http://schemas.openxmlformats.org/drawingml/2006/main" prst="bentConnector3">
            <a:avLst>
              <a:gd name="adj1" fmla="val 50000"/>
            </a:avLst>
          </a:prstGeom>
          <a:ln xmlns:a="http://schemas.openxmlformats.org/drawingml/2006/main" w="13335">
            <a:solidFill>
              <a:srgbClr val="A9B3AC"/>
            </a:solidFill>
            <a:prstDash val="solid"/>
            <a:tailEnd type="triangle" w="sm" len="sm"/>
          </a:ln>
        </p:spPr>
      </p:cxnSp>
      <p:cxnSp>
        <p:nvCxnSpPr>
          <p:cNvPr id="49" name=""/>
          <p:cNvCxnSpPr>
            <a:stCxn xmlns:a="http://schemas.openxmlformats.org/drawingml/2006/main" id="7" idx="3"/>
            <a:endCxn xmlns:a="http://schemas.openxmlformats.org/drawingml/2006/main" id="13" idx="1"/>
          </p:cNvCxnSpPr>
          <p:nvPr/>
        </p:nvCxnSpPr>
        <p:spPr>
          <a:xfrm xmlns:a="http://schemas.openxmlformats.org/drawingml/2006/main">
            <a:off x="6038850" y="2686050"/>
            <a:ext cx="1047750" cy="647700"/>
          </a:xfrm>
          <a:prstGeom xmlns:a="http://schemas.openxmlformats.org/drawingml/2006/main" prst="bentConnector3">
            <a:avLst>
              <a:gd name="adj1" fmla="val 50000"/>
            </a:avLst>
          </a:prstGeom>
          <a:ln xmlns:a="http://schemas.openxmlformats.org/drawingml/2006/main" w="13335">
            <a:solidFill>
              <a:srgbClr val="A9B3AC"/>
            </a:solidFill>
            <a:prstDash val="solid"/>
            <a:tailEnd type="triangle" w="sm" len="sm"/>
          </a:ln>
        </p:spPr>
      </p:cxnSp>
      <p:cxnSp>
        <p:nvCxnSpPr>
          <p:cNvPr id="50" name=""/>
          <p:cNvCxnSpPr>
            <a:stCxn xmlns:a="http://schemas.openxmlformats.org/drawingml/2006/main" id="7" idx="3"/>
            <a:endCxn xmlns:a="http://schemas.openxmlformats.org/drawingml/2006/main" id="16" idx="1"/>
          </p:cNvCxnSpPr>
          <p:nvPr/>
        </p:nvCxnSpPr>
        <p:spPr>
          <a:xfrm xmlns:a="http://schemas.openxmlformats.org/drawingml/2006/main">
            <a:off x="6038850" y="2686050"/>
            <a:ext cx="1047750" cy="1752600"/>
          </a:xfrm>
          <a:prstGeom xmlns:a="http://schemas.openxmlformats.org/drawingml/2006/main" prst="bentConnector3">
            <a:avLst>
              <a:gd name="adj1" fmla="val 50000"/>
            </a:avLst>
          </a:prstGeom>
          <a:ln xmlns:a="http://schemas.openxmlformats.org/drawingml/2006/main" w="13335">
            <a:solidFill>
              <a:srgbClr val="A9B3AC"/>
            </a:solidFill>
            <a:prstDash val="solid"/>
            <a:tailEnd type="triangle" w="sm" len="sm"/>
          </a:ln>
        </p:spPr>
      </p:cxnSp>
      <p:sp>
        <p:nvSpPr>
          <p:cNvPr id="23" name="">
            <a:extLst xmlns:a="http://schemas.openxmlformats.org/drawingml/2006/main">
              <a:ext uri="{FF2B5EF4-FFF2-40B4-BE49-F238E27FC236}">
                <a16:creationId xmlns:a16="http://schemas.microsoft.com/office/drawing/2014/main" id="{4DCD6DF0-6C27-4A3A-A8E5-BE564338ACFD}"/>
              </a:ext>
            </a:extLst>
          </p:cNvPr>
          <p:cNvSpPr>
            <a:spLocks xmlns:a="http://schemas.openxmlformats.org/drawingml/2006/main" noGrp="1"/>
          </p:cNvSpPr>
          <p:nvPr/>
        </p:nvSpPr>
        <p:spPr>
          <a:xfrm xmlns:a="http://schemas.openxmlformats.org/drawingml/2006/main">
            <a:off x="685800" y="41529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4726A"/>
                </a:solidFill>
                <a:latin typeface="Roboto Mono"/>
                <a:ea typeface="Roboto Mono"/>
                <a:cs typeface="Roboto Mono"/>
              </a:defRPr>
            </a:pPr>
            <a:r>
              <a:rPr sz="1125" b="1">
                <a:solidFill>
                  <a:srgbClr val="24726A"/>
                </a:solidFill>
                <a:latin typeface="Roboto Mono"/>
                <a:ea typeface="Roboto Mono"/>
                <a:cs typeface="Roboto Mono"/>
              </a:rPr>
              <a:t>DEMO</a:t>
            </a:r>
          </a:p>
        </p:txBody>
      </p:sp>
      <p:sp>
        <p:nvSpPr>
          <p:cNvPr id="24" name="">
            <a:extLst xmlns:a="http://schemas.openxmlformats.org/drawingml/2006/main">
              <a:ext uri="{FF2B5EF4-FFF2-40B4-BE49-F238E27FC236}">
                <a16:creationId xmlns:a16="http://schemas.microsoft.com/office/drawing/2014/main" id="{A884DD7C-5302-41F9-A93D-AEAE831E8435}"/>
              </a:ext>
            </a:extLst>
          </p:cNvPr>
          <p:cNvSpPr>
            <a:spLocks xmlns:a="http://schemas.openxmlformats.org/drawingml/2006/main" noGrp="1"/>
          </p:cNvSpPr>
          <p:nvPr/>
        </p:nvSpPr>
        <p:spPr>
          <a:xfrm xmlns:a="http://schemas.openxmlformats.org/drawingml/2006/main">
            <a:off x="685800" y="449580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4181C"/>
                </a:solidFill>
                <a:latin typeface="Arial"/>
                <a:ea typeface="Arial"/>
                <a:cs typeface="Arial"/>
              </a:defRPr>
            </a:pPr>
            <a:r>
              <a:rPr sz="1800" b="1">
                <a:solidFill>
                  <a:srgbClr val="14181C"/>
                </a:solidFill>
                <a:latin typeface="Arial"/>
                <a:ea typeface="Arial"/>
                <a:cs typeface="Arial"/>
              </a:rPr>
              <a:t>Synthetic data · offline replay server · InMemorySaver</a:t>
            </a:r>
          </a:p>
        </p:txBody>
      </p:sp>
      <p:sp>
        <p:nvSpPr>
          <p:cNvPr id="25" name="">
            <a:extLst xmlns:a="http://schemas.openxmlformats.org/drawingml/2006/main">
              <a:ext uri="{FF2B5EF4-FFF2-40B4-BE49-F238E27FC236}">
                <a16:creationId xmlns:a16="http://schemas.microsoft.com/office/drawing/2014/main" id="{F032115B-54E5-4491-AB60-321CB9DF4406}"/>
              </a:ext>
            </a:extLst>
          </p:cNvPr>
          <p:cNvSpPr>
            <a:spLocks xmlns:a="http://schemas.openxmlformats.org/drawingml/2006/main" noGrp="1"/>
          </p:cNvSpPr>
          <p:nvPr/>
        </p:nvSpPr>
        <p:spPr>
          <a:xfrm xmlns:a="http://schemas.openxmlformats.org/drawingml/2006/main">
            <a:off x="685800" y="52768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5704A"/>
                </a:solidFill>
                <a:latin typeface="Roboto Mono"/>
                <a:ea typeface="Roboto Mono"/>
                <a:cs typeface="Roboto Mono"/>
              </a:defRPr>
            </a:pPr>
            <a:r>
              <a:rPr sz="1125" b="1">
                <a:solidFill>
                  <a:srgbClr val="35704A"/>
                </a:solidFill>
                <a:latin typeface="Roboto Mono"/>
                <a:ea typeface="Roboto Mono"/>
                <a:cs typeface="Roboto Mono"/>
              </a:rPr>
              <a:t>PRODUCTION</a:t>
            </a:r>
          </a:p>
        </p:txBody>
      </p:sp>
      <p:sp>
        <p:nvSpPr>
          <p:cNvPr id="26" name="">
            <a:extLst xmlns:a="http://schemas.openxmlformats.org/drawingml/2006/main">
              <a:ext uri="{FF2B5EF4-FFF2-40B4-BE49-F238E27FC236}">
                <a16:creationId xmlns:a16="http://schemas.microsoft.com/office/drawing/2014/main" id="{713BA060-1E86-4B12-82D4-52286FB99947}"/>
              </a:ext>
            </a:extLst>
          </p:cNvPr>
          <p:cNvSpPr>
            <a:spLocks xmlns:a="http://schemas.openxmlformats.org/drawingml/2006/main" noGrp="1"/>
          </p:cNvSpPr>
          <p:nvPr/>
        </p:nvSpPr>
        <p:spPr>
          <a:xfrm xmlns:a="http://schemas.openxmlformats.org/drawingml/2006/main">
            <a:off x="685800" y="56007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a:solidFill>
                  <a:srgbClr val="14181C"/>
                </a:solidFill>
                <a:latin typeface="Arial"/>
                <a:ea typeface="Arial"/>
                <a:cs typeface="Arial"/>
              </a:defRPr>
            </a:pPr>
            <a:r>
              <a:rPr sz="1650" b="1">
                <a:solidFill>
                  <a:srgbClr val="14181C"/>
                </a:solidFill>
                <a:latin typeface="Arial"/>
                <a:ea typeface="Arial"/>
                <a:cs typeface="Arial"/>
              </a:rPr>
              <a:t>Durable checkpoint store · idempotency keys · tenant isolation · append-only audit</a:t>
            </a:r>
          </a:p>
        </p:txBody>
      </p:sp>
      <p:sp>
        <p:nvSpPr>
          <p:cNvPr id="27" name="">
            <a:extLst xmlns:a="http://schemas.openxmlformats.org/drawingml/2006/main">
              <a:ext uri="{FF2B5EF4-FFF2-40B4-BE49-F238E27FC236}">
                <a16:creationId xmlns:a16="http://schemas.microsoft.com/office/drawing/2014/main" id="{E6092C5C-1959-423A-9EBA-F187372DDF35}"/>
              </a:ext>
            </a:extLst>
          </p:cNvPr>
          <p:cNvSpPr>
            <a:spLocks xmlns:a="http://schemas.openxmlformats.org/drawingml/2006/main" noGrp="1"/>
          </p:cNvSpPr>
          <p:nvPr/>
        </p:nvSpPr>
        <p:spPr>
          <a:xfrm xmlns:a="http://schemas.openxmlformats.org/drawingml/2006/main">
            <a:off x="6858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TRUST, BUT VERIFY</a:t>
            </a:r>
          </a:p>
        </p:txBody>
      </p:sp>
      <p:sp>
        <p:nvSpPr>
          <p:cNvPr id="28" name="">
            <a:extLst xmlns:a="http://schemas.openxmlformats.org/drawingml/2006/main">
              <a:ext uri="{FF2B5EF4-FFF2-40B4-BE49-F238E27FC236}">
                <a16:creationId xmlns:a16="http://schemas.microsoft.com/office/drawing/2014/main" id="{E6C5D6DC-AC1D-47F5-BD46-9027F8E9BF5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6E7A80"/>
                </a:solidFill>
                <a:latin typeface="Roboto Mono"/>
                <a:ea typeface="Roboto Mono"/>
                <a:cs typeface="Roboto Mono"/>
              </a:defRPr>
            </a:pPr>
            <a:r>
              <a:rPr sz="975" b="0">
                <a:solidFill>
                  <a:srgbClr val="6E7A80"/>
                </a:solidFill>
                <a:latin typeface="Roboto Mono"/>
                <a:ea typeface="Roboto Mono"/>
                <a:cs typeface="Roboto Mono"/>
              </a:rPr>
              <a:t>10</a:t>
            </a:r>
          </a:p>
        </p:txBody>
      </p:sp>
    </p:spTree>
    <p:extLst>
      <p:ext uri="{BB962C8B-B14F-4D97-AF65-F5344CB8AC3E}">
        <p14:creationId xmlns:p14="http://schemas.microsoft.com/office/powerpoint/2010/main" val="1792793814"/>
      </p:ext>
    </p:extLst>
  </p:cSld>
</p:sld>
</file>

<file path=ppt/slides/slide11.xml><?xml version="1.0" encoding="utf-8"?>
<p:sld xmlns:p="http://schemas.openxmlformats.org/presentationml/2006/main">
  <p:cSld>
    <p:bg>
      <p:bgPr>
        <a:solidFill xmlns:a="http://schemas.openxmlformats.org/drawingml/2006/main">
          <a:srgbClr val="1418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4A3071-9D69-4C6C-A826-828E5A926D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726A"/>
          </a:solidFill>
          <a:ln xmlns:a="http://schemas.openxmlformats.org/drawingml/2006/main" w="0">
            <a:solidFill>
              <a:srgbClr val="24726A"/>
            </a:solidFill>
            <a:prstDash val="solid"/>
          </a:ln>
        </p:spPr>
      </p:sp>
      <p:sp>
        <p:nvSpPr>
          <p:cNvPr id="2" name="">
            <a:extLst xmlns:a="http://schemas.openxmlformats.org/drawingml/2006/main">
              <a:ext uri="{FF2B5EF4-FFF2-40B4-BE49-F238E27FC236}">
                <a16:creationId xmlns:a16="http://schemas.microsoft.com/office/drawing/2014/main" id="{562FB331-C906-439B-9FB1-148C83F7BDC6}"/>
              </a:ext>
            </a:extLst>
          </p:cNvPr>
          <p:cNvSpPr>
            <a:spLocks xmlns:a="http://schemas.openxmlformats.org/drawingml/2006/main" noGrp="1"/>
          </p:cNvSpPr>
          <p:nvPr/>
        </p:nvSpPr>
        <p:spPr>
          <a:xfrm xmlns:a="http://schemas.openxmlformats.org/drawingml/2006/main">
            <a:off x="800100" y="6286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63B5A8"/>
                </a:solidFill>
                <a:latin typeface="Roboto Mono"/>
                <a:ea typeface="Roboto Mono"/>
                <a:cs typeface="Roboto Mono"/>
              </a:defRPr>
            </a:pPr>
            <a:r>
              <a:rPr sz="1125" b="1">
                <a:solidFill>
                  <a:srgbClr val="63B5A8"/>
                </a:solidFill>
                <a:latin typeface="Roboto Mono"/>
                <a:ea typeface="Roboto Mono"/>
                <a:cs typeface="Roboto Mono"/>
              </a:rPr>
              <a:t>TWO PRACTICES SURVIVE EVERY FRAMEWORK CHOICE</a:t>
            </a:r>
          </a:p>
        </p:txBody>
      </p:sp>
      <p:sp>
        <p:nvSpPr>
          <p:cNvPr id="3" name="">
            <a:extLst xmlns:a="http://schemas.openxmlformats.org/drawingml/2006/main">
              <a:ext uri="{FF2B5EF4-FFF2-40B4-BE49-F238E27FC236}">
                <a16:creationId xmlns:a16="http://schemas.microsoft.com/office/drawing/2014/main" id="{12C4E6AE-0CA4-41CA-AF4E-23DC510FC165}"/>
              </a:ext>
            </a:extLst>
          </p:cNvPr>
          <p:cNvSpPr>
            <a:spLocks xmlns:a="http://schemas.openxmlformats.org/drawingml/2006/main" noGrp="1"/>
          </p:cNvSpPr>
          <p:nvPr/>
        </p:nvSpPr>
        <p:spPr>
          <a:xfrm xmlns:a="http://schemas.openxmlformats.org/drawingml/2006/main">
            <a:off x="800100" y="142875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63B5A8"/>
                </a:solidFill>
                <a:latin typeface="Roboto Mono"/>
                <a:ea typeface="Roboto Mono"/>
                <a:cs typeface="Roboto Mono"/>
              </a:defRPr>
            </a:pPr>
            <a:r>
              <a:rPr sz="3900" b="1">
                <a:solidFill>
                  <a:srgbClr val="63B5A8"/>
                </a:solidFill>
                <a:latin typeface="Roboto Mono"/>
                <a:ea typeface="Roboto Mono"/>
                <a:cs typeface="Roboto Mono"/>
              </a:rPr>
              <a:t>1</a:t>
            </a:r>
          </a:p>
        </p:txBody>
      </p:sp>
      <p:sp>
        <p:nvSpPr>
          <p:cNvPr id="4" name="">
            <a:extLst xmlns:a="http://schemas.openxmlformats.org/drawingml/2006/main">
              <a:ext uri="{FF2B5EF4-FFF2-40B4-BE49-F238E27FC236}">
                <a16:creationId xmlns:a16="http://schemas.microsoft.com/office/drawing/2014/main" id="{B556A50C-AD8F-4936-BA45-3E05595BAE4B}"/>
              </a:ext>
            </a:extLst>
          </p:cNvPr>
          <p:cNvSpPr>
            <a:spLocks xmlns:a="http://schemas.openxmlformats.org/drawingml/2006/main" noGrp="1"/>
          </p:cNvSpPr>
          <p:nvPr/>
        </p:nvSpPr>
        <p:spPr>
          <a:xfrm xmlns:a="http://schemas.openxmlformats.org/drawingml/2006/main">
            <a:off x="1714500" y="14097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Record evidence at the moment it arrives.</a:t>
            </a:r>
          </a:p>
        </p:txBody>
      </p:sp>
      <p:sp>
        <p:nvSpPr>
          <p:cNvPr id="5" name="">
            <a:extLst xmlns:a="http://schemas.openxmlformats.org/drawingml/2006/main">
              <a:ext uri="{FF2B5EF4-FFF2-40B4-BE49-F238E27FC236}">
                <a16:creationId xmlns:a16="http://schemas.microsoft.com/office/drawing/2014/main" id="{9C4EDF3A-5081-4304-A4FD-1761F32BB897}"/>
              </a:ext>
            </a:extLst>
          </p:cNvPr>
          <p:cNvSpPr>
            <a:spLocks xmlns:a="http://schemas.openxmlformats.org/drawingml/2006/main" noGrp="1"/>
          </p:cNvSpPr>
          <p:nvPr/>
        </p:nvSpPr>
        <p:spPr>
          <a:xfrm xmlns:a="http://schemas.openxmlformats.org/drawingml/2006/main">
            <a:off x="1714500" y="2095500"/>
            <a:ext cx="857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EB9B7"/>
                </a:solidFill>
                <a:latin typeface="Arial"/>
                <a:ea typeface="Arial"/>
                <a:cs typeface="Arial"/>
              </a:defRPr>
            </a:pPr>
            <a:r>
              <a:rPr sz="1725" b="0">
                <a:solidFill>
                  <a:srgbClr val="AEB9B7"/>
                </a:solidFill>
                <a:latin typeface="Arial"/>
                <a:ea typeface="Arial"/>
                <a:cs typeface="Arial"/>
              </a:rPr>
              <a:t>Middleware makes the audit trail the default, not an optional habit in every tool.</a:t>
            </a:r>
          </a:p>
        </p:txBody>
      </p:sp>
      <p:sp>
        <p:nvSpPr>
          <p:cNvPr id="6" name="">
            <a:extLst xmlns:a="http://schemas.openxmlformats.org/drawingml/2006/main">
              <a:ext uri="{FF2B5EF4-FFF2-40B4-BE49-F238E27FC236}">
                <a16:creationId xmlns:a16="http://schemas.microsoft.com/office/drawing/2014/main" id="{874C6430-1866-43D7-9EF8-FD778E6B6FE6}"/>
              </a:ext>
            </a:extLst>
          </p:cNvPr>
          <p:cNvSpPr>
            <a:spLocks xmlns:a="http://schemas.openxmlformats.org/drawingml/2006/main" noGrp="1"/>
          </p:cNvSpPr>
          <p:nvPr/>
        </p:nvSpPr>
        <p:spPr>
          <a:xfrm xmlns:a="http://schemas.openxmlformats.org/drawingml/2006/main">
            <a:off x="800100" y="3162300"/>
            <a:ext cx="10572750" cy="0"/>
          </a:xfrm>
          <a:prstGeom xmlns:a="http://schemas.openxmlformats.org/drawingml/2006/main" prst="line">
            <a:avLst/>
          </a:prstGeom>
          <a:noFill xmlns:a="http://schemas.openxmlformats.org/drawingml/2006/main"/>
          <a:ln xmlns:a="http://schemas.openxmlformats.org/drawingml/2006/main" w="13335">
            <a:solidFill>
              <a:srgbClr val="3D4A50"/>
            </a:solidFill>
            <a:prstDash val="solid"/>
          </a:ln>
        </p:spPr>
      </p:sp>
      <p:sp>
        <p:nvSpPr>
          <p:cNvPr id="7" name="">
            <a:extLst xmlns:a="http://schemas.openxmlformats.org/drawingml/2006/main">
              <a:ext uri="{FF2B5EF4-FFF2-40B4-BE49-F238E27FC236}">
                <a16:creationId xmlns:a16="http://schemas.microsoft.com/office/drawing/2014/main" id="{A6F1047A-6D48-4DF0-A829-813FB99AE233}"/>
              </a:ext>
            </a:extLst>
          </p:cNvPr>
          <p:cNvSpPr>
            <a:spLocks xmlns:a="http://schemas.openxmlformats.org/drawingml/2006/main" noGrp="1"/>
          </p:cNvSpPr>
          <p:nvPr/>
        </p:nvSpPr>
        <p:spPr>
          <a:xfrm xmlns:a="http://schemas.openxmlformats.org/drawingml/2006/main">
            <a:off x="800100" y="36576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63B5A8"/>
                </a:solidFill>
                <a:latin typeface="Roboto Mono"/>
                <a:ea typeface="Roboto Mono"/>
                <a:cs typeface="Roboto Mono"/>
              </a:defRPr>
            </a:pPr>
            <a:r>
              <a:rPr sz="3900" b="1">
                <a:solidFill>
                  <a:srgbClr val="63B5A8"/>
                </a:solidFill>
                <a:latin typeface="Roboto Mono"/>
                <a:ea typeface="Roboto Mono"/>
                <a:cs typeface="Roboto Mono"/>
              </a:rPr>
              <a:t>2</a:t>
            </a:r>
          </a:p>
        </p:txBody>
      </p:sp>
      <p:sp>
        <p:nvSpPr>
          <p:cNvPr id="8" name="">
            <a:extLst xmlns:a="http://schemas.openxmlformats.org/drawingml/2006/main">
              <a:ext uri="{FF2B5EF4-FFF2-40B4-BE49-F238E27FC236}">
                <a16:creationId xmlns:a16="http://schemas.microsoft.com/office/drawing/2014/main" id="{807746E2-E8C4-4CA5-BBB2-AA2FF827A384}"/>
              </a:ext>
            </a:extLst>
          </p:cNvPr>
          <p:cNvSpPr>
            <a:spLocks xmlns:a="http://schemas.openxmlformats.org/drawingml/2006/main" noGrp="1"/>
          </p:cNvSpPr>
          <p:nvPr/>
        </p:nvSpPr>
        <p:spPr>
          <a:xfrm xmlns:a="http://schemas.openxmlformats.org/drawingml/2006/main">
            <a:off x="1714500" y="36385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Measure the judge before you trust it.</a:t>
            </a:r>
          </a:p>
        </p:txBody>
      </p:sp>
      <p:sp>
        <p:nvSpPr>
          <p:cNvPr id="9" name="">
            <a:extLst xmlns:a="http://schemas.openxmlformats.org/drawingml/2006/main">
              <a:ext uri="{FF2B5EF4-FFF2-40B4-BE49-F238E27FC236}">
                <a16:creationId xmlns:a16="http://schemas.microsoft.com/office/drawing/2014/main" id="{D4936E93-9605-4E2A-9FB1-B6E9FE87D54B}"/>
              </a:ext>
            </a:extLst>
          </p:cNvPr>
          <p:cNvSpPr>
            <a:spLocks xmlns:a="http://schemas.openxmlformats.org/drawingml/2006/main" noGrp="1"/>
          </p:cNvSpPr>
          <p:nvPr/>
        </p:nvSpPr>
        <p:spPr>
          <a:xfrm xmlns:a="http://schemas.openxmlformats.org/drawingml/2006/main">
            <a:off x="1714500" y="4324350"/>
            <a:ext cx="857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EB9B7"/>
                </a:solidFill>
                <a:latin typeface="Arial"/>
                <a:ea typeface="Arial"/>
                <a:cs typeface="Arial"/>
              </a:defRPr>
            </a:pPr>
            <a:r>
              <a:rPr sz="1725" b="0">
                <a:solidFill>
                  <a:srgbClr val="AEB9B7"/>
                </a:solidFill>
                <a:latin typeface="Arial"/>
                <a:ea typeface="Arial"/>
                <a:cs typeface="Arial"/>
              </a:rPr>
              <a:t>A score is only useful when you understand the evaluator’s own error distribution.</a:t>
            </a:r>
          </a:p>
        </p:txBody>
      </p:sp>
      <p:sp>
        <p:nvSpPr>
          <p:cNvPr id="10" name="">
            <a:extLst xmlns:a="http://schemas.openxmlformats.org/drawingml/2006/main">
              <a:ext uri="{FF2B5EF4-FFF2-40B4-BE49-F238E27FC236}">
                <a16:creationId xmlns:a16="http://schemas.microsoft.com/office/drawing/2014/main" id="{BB96CADA-81FA-4BD6-B6B5-0863EDEF42DE}"/>
              </a:ext>
            </a:extLst>
          </p:cNvPr>
          <p:cNvSpPr>
            <a:spLocks xmlns:a="http://schemas.openxmlformats.org/drawingml/2006/main" noGrp="1"/>
          </p:cNvSpPr>
          <p:nvPr/>
        </p:nvSpPr>
        <p:spPr>
          <a:xfrm xmlns:a="http://schemas.openxmlformats.org/drawingml/2006/main">
            <a:off x="800100" y="58674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1">
                <a:solidFill>
                  <a:srgbClr val="63B5A8"/>
                </a:solidFill>
                <a:latin typeface="Roboto Mono"/>
                <a:ea typeface="Roboto Mono"/>
                <a:cs typeface="Roboto Mono"/>
              </a:defRPr>
            </a:pPr>
            <a:r>
              <a:rPr sz="1200" b="1">
                <a:solidFill>
                  <a:srgbClr val="63B5A8"/>
                </a:solidFill>
                <a:latin typeface="Roboto Mono"/>
                <a:ea typeface="Roboto Mono"/>
                <a:cs typeface="Roboto Mono"/>
              </a:rPr>
              <a:t>AGENT FUNDAMENTALS  →  TRUSTWORTHY AGENTS  →  DEPLOYMENT + ONLINE EVALS</a:t>
            </a:r>
          </a:p>
        </p:txBody>
      </p:sp>
      <p:sp>
        <p:nvSpPr>
          <p:cNvPr id="11" name="">
            <a:extLst xmlns:a="http://schemas.openxmlformats.org/drawingml/2006/main">
              <a:ext uri="{FF2B5EF4-FFF2-40B4-BE49-F238E27FC236}">
                <a16:creationId xmlns:a16="http://schemas.microsoft.com/office/drawing/2014/main" id="{7839C126-510F-4527-9947-817904A7DAA2}"/>
              </a:ext>
            </a:extLst>
          </p:cNvPr>
          <p:cNvSpPr>
            <a:spLocks xmlns:a="http://schemas.openxmlformats.org/drawingml/2006/main" noGrp="1"/>
          </p:cNvSpPr>
          <p:nvPr/>
        </p:nvSpPr>
        <p:spPr>
          <a:xfrm xmlns:a="http://schemas.openxmlformats.org/drawingml/2006/main">
            <a:off x="10668000" y="6286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FFFFFF"/>
                </a:solidFill>
                <a:latin typeface="Roboto Mono"/>
                <a:ea typeface="Roboto Mono"/>
                <a:cs typeface="Roboto Mono"/>
              </a:defRPr>
            </a:pPr>
            <a:r>
              <a:rPr sz="1200" b="1">
                <a:solidFill>
                  <a:srgbClr val="FFFFFF"/>
                </a:solidFill>
                <a:latin typeface="Roboto Mono"/>
                <a:ea typeface="Roboto Mono"/>
                <a:cs typeface="Roboto Mono"/>
              </a:rPr>
              <a:t>Q&amp;A</a:t>
            </a:r>
          </a:p>
        </p:txBody>
      </p:sp>
    </p:spTree>
    <p:extLst>
      <p:ext uri="{BB962C8B-B14F-4D97-AF65-F5344CB8AC3E}">
        <p14:creationId xmlns:p14="http://schemas.microsoft.com/office/powerpoint/2010/main" val="976782861"/>
      </p:ext>
    </p:extLst>
  </p:cSld>
</p:sld>
</file>

<file path=ppt/theme/theme1.xml><?xml version="1.0" encoding="utf-8"?>
<a:theme xmlns:a="http://schemas.openxmlformats.org/drawingml/2006/main"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Calibri Light"/>
        <a:ea typeface="Calibri Light"/>
        <a:cs typeface="Calibri Light"/>
      </a:majorFont>
      <a:minorFont>
        <a:latin typeface="Calibri"/>
        <a:ea typeface="Calibri"/>
        <a:cs typeface="Calibri"/>
      </a:minorFont>
    </a:fontScheme>
    <a:fmtScheme name="Trust but Verif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2026-08-18T17:32:25.1190000Z</dcterms:created>
  <dcterms:modified xsi:type="dcterms:W3CDTF">2026-08-18T17:32:25.1190000Z</dcterms:modified>
</coreProperties>
</file>