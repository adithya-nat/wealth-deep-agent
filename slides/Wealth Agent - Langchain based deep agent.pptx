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Roboto Mon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RobotoMono-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RobotoMono-bold.fntdata"/><Relationship Id="rId6" Type="http://schemas.openxmlformats.org/officeDocument/2006/relationships/notesMaster" Target="notesMasters/notesMaster1.xml"/><Relationship Id="rId18" Type="http://schemas.openxmlformats.org/officeDocument/2006/relationships/font" Target="fonts/RobotoMon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75f2bbabb_2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g3f75f2bbabb_2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Timing: 1 minute.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Open with the customer context: the audience is a platform or AI engineering team in a regulated company. They already know what a tool-calling agent is; no LangChain experience is required.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Position the session as the bridge from “the agent works” to “we can defend the agent’s output.”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/Users/anatarajan9/dev/wealth-deep-agent/WORKSHOP_BRIEF.md</a:t>
            </a:r>
            <a:endParaRPr/>
          </a:p>
          <a:p>
            <a:pPr indent="0" lvl="0" marL="0" rtl="0" algn="l">
              <a:spcBef>
                <a:spcPts val="0"/>
              </a:spcBef>
              <a:spcAft>
                <a:spcPts val="0"/>
              </a:spcAft>
              <a:buNone/>
            </a:pPr>
            <a:r>
              <a:rPr lang="en" sz="1200"/>
              <a:t>- /Users/anatarajan9/Downloads/Customer Engineer Take-Home Assignment 9c65946e550e8367ade181b89945582f.md</a:t>
            </a:r>
            <a:endParaRPr/>
          </a:p>
        </p:txBody>
      </p:sp>
      <p:sp>
        <p:nvSpPr>
          <p:cNvPr id="55" name="Google Shape;55;g3f75f2bbabb_2_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75f2bbabb_2_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g3f75f2bbabb_2_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Timing: 4 minutes, including the opening question.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Ask the panel to play the customer team: “Compliance signs off Monday. What would you need before you say yes?” Take answers before revealing the three questions.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Learning objectives to state aloud: locate a failure in a trace; design claims to be mechanically checkable; choose deterministic vs LLM evaluators; measure a judge before trusting it; turn a score into a gate.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/Users/anatarajan9/dev/wealth-deep-agent/WORKSHOP_BRIEF.md</a:t>
            </a:r>
            <a:endParaRPr/>
          </a:p>
          <a:p>
            <a:pPr indent="0" lvl="0" marL="0" rtl="0" algn="l">
              <a:spcBef>
                <a:spcPts val="0"/>
              </a:spcBef>
              <a:spcAft>
                <a:spcPts val="0"/>
              </a:spcAft>
              <a:buNone/>
            </a:pPr>
            <a:r>
              <a:rPr lang="en" sz="1200"/>
              <a:t>- /Users/anatarajan9/dev/wealth-deep-agent/README.md</a:t>
            </a:r>
            <a:endParaRPr/>
          </a:p>
        </p:txBody>
      </p:sp>
      <p:sp>
        <p:nvSpPr>
          <p:cNvPr id="69" name="Google Shape;69;g3f75f2bbabb_2_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75f2bbabb_2_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g3f75f2bbabb_2_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Timing: 4 minutes.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Explain the taxonomy in customer language. LangChain supplies reusable agent abstractions. LangGraph is the lower-level runtime. Deep Agents is the batteries-included harness for complex work. LangSmith closes the build–observe–evaluate loop.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Senior-engineer judgment: do not start with the most capable layer. Start with the simplest architecture that satisfies the task, then add autonomy only where uncertainty requires 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https://docs.langchain.com/oss/python/concepts/products</a:t>
            </a:r>
            <a:endParaRPr/>
          </a:p>
          <a:p>
            <a:pPr indent="0" lvl="0" marL="0" rtl="0" algn="l">
              <a:spcBef>
                <a:spcPts val="0"/>
              </a:spcBef>
              <a:spcAft>
                <a:spcPts val="0"/>
              </a:spcAft>
              <a:buNone/>
            </a:pPr>
            <a:r>
              <a:rPr lang="en" sz="1200"/>
              <a:t>- https://docs.langchain.com/oss/python/deepagents/overview</a:t>
            </a:r>
            <a:endParaRPr/>
          </a:p>
          <a:p>
            <a:pPr indent="0" lvl="0" marL="0" rtl="0" algn="l">
              <a:spcBef>
                <a:spcPts val="0"/>
              </a:spcBef>
              <a:spcAft>
                <a:spcPts val="0"/>
              </a:spcAft>
              <a:buNone/>
            </a:pPr>
            <a:r>
              <a:rPr lang="en" sz="1200"/>
              <a:t>- https://docs.langchain.com/oss/python/langgraph/overview</a:t>
            </a:r>
            <a:endParaRPr/>
          </a:p>
          <a:p>
            <a:pPr indent="0" lvl="0" marL="0" rtl="0" algn="l">
              <a:spcBef>
                <a:spcPts val="0"/>
              </a:spcBef>
              <a:spcAft>
                <a:spcPts val="0"/>
              </a:spcAft>
              <a:buNone/>
            </a:pPr>
            <a:r>
              <a:rPr lang="en" sz="1200"/>
              <a:t>- /Users/anatarajan9/dev/wealth-deep-agent/src/wealth_agent/agents/supervisor.py</a:t>
            </a:r>
            <a:endParaRPr/>
          </a:p>
        </p:txBody>
      </p:sp>
      <p:sp>
        <p:nvSpPr>
          <p:cNvPr id="99" name="Google Shape;99;g3f75f2bbabb_2_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75f2bbabb_2_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g3f75f2bbabb_2_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Timing: 5 minutes, then open src/wealth_agent/agents/ in the editor.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Walk left to right. The portfolio, spend, and market tasks are open-ended and context-heavy, so they get the deep-agent harness. The allocation strategist and verifier are bounded and have one correct output shape, so they use plain create_agent loops.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allocation strategist is intentionally shown as shallow: its arithmetic comes from deterministic tools; the model contributes judgment about which drift matters and returns a validated RecommendationSet.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/Users/anatarajan9/dev/wealth-deep-agent/src/wealth_agent/agents/supervisor.py</a:t>
            </a:r>
            <a:endParaRPr/>
          </a:p>
          <a:p>
            <a:pPr indent="0" lvl="0" marL="0" rtl="0" algn="l">
              <a:spcBef>
                <a:spcPts val="0"/>
              </a:spcBef>
              <a:spcAft>
                <a:spcPts val="0"/>
              </a:spcAft>
              <a:buNone/>
            </a:pPr>
            <a:r>
              <a:rPr lang="en" sz="1200"/>
              <a:t>- /Users/anatarajan9/dev/wealth-deep-agent/src/wealth_agent/agents/registry.py</a:t>
            </a:r>
            <a:endParaRPr/>
          </a:p>
          <a:p>
            <a:pPr indent="0" lvl="0" marL="0" rtl="0" algn="l">
              <a:spcBef>
                <a:spcPts val="0"/>
              </a:spcBef>
              <a:spcAft>
                <a:spcPts val="0"/>
              </a:spcAft>
              <a:buNone/>
            </a:pPr>
            <a:r>
              <a:rPr lang="en" sz="1200"/>
              <a:t>- /Users/anatarajan9/dev/wealth-deep-agent/src/wealth_agent/agents/allocation_strategist.py</a:t>
            </a:r>
            <a:endParaRPr/>
          </a:p>
          <a:p>
            <a:pPr indent="0" lvl="0" marL="0" rtl="0" algn="l">
              <a:spcBef>
                <a:spcPts val="0"/>
              </a:spcBef>
              <a:spcAft>
                <a:spcPts val="0"/>
              </a:spcAft>
              <a:buNone/>
            </a:pPr>
            <a:r>
              <a:rPr lang="en" sz="1200"/>
              <a:t>- /Users/anatarajan9/dev/wealth-deep-agent/src/wealth_agent/agents/verifier.py</a:t>
            </a:r>
            <a:endParaRPr/>
          </a:p>
          <a:p>
            <a:pPr indent="0" lvl="0" marL="0" rtl="0" algn="l">
              <a:spcBef>
                <a:spcPts val="0"/>
              </a:spcBef>
              <a:spcAft>
                <a:spcPts val="0"/>
              </a:spcAft>
              <a:buNone/>
            </a:pPr>
            <a:r>
              <a:rPr lang="en" sz="1200"/>
              <a:t>- https://docs.langchain.com/oss/python/deepagents/overview</a:t>
            </a:r>
            <a:endParaRPr/>
          </a:p>
        </p:txBody>
      </p:sp>
      <p:sp>
        <p:nvSpPr>
          <p:cNvPr id="129" name="Google Shape;129;g3f75f2bbabb_2_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75f2bbabb_2_1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g3f75f2bbabb_2_1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Timing: 4 minutes.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This slide is the architecture thesis. Any figure that reaches the memo comes from a function, not from the model. The model decides which evidence matters and how to explain 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Point out that deterministic does not mean “no AI.” It means the invariant has one answer, so ordinary software is the correct enforcement mechanism.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/Users/anatarajan9/dev/wealth-deep-agent/AGENTS.md</a:t>
            </a:r>
            <a:endParaRPr/>
          </a:p>
          <a:p>
            <a:pPr indent="0" lvl="0" marL="0" rtl="0" algn="l">
              <a:spcBef>
                <a:spcPts val="0"/>
              </a:spcBef>
              <a:spcAft>
                <a:spcPts val="0"/>
              </a:spcAft>
              <a:buNone/>
            </a:pPr>
            <a:r>
              <a:rPr lang="en" sz="1200"/>
              <a:t>- /Users/anatarajan9/dev/wealth-deep-agent/src/wealth_agent/agents/allocation_strategist.py</a:t>
            </a:r>
            <a:endParaRPr/>
          </a:p>
          <a:p>
            <a:pPr indent="0" lvl="0" marL="0" rtl="0" algn="l">
              <a:spcBef>
                <a:spcPts val="0"/>
              </a:spcBef>
              <a:spcAft>
                <a:spcPts val="0"/>
              </a:spcAft>
              <a:buNone/>
            </a:pPr>
            <a:r>
              <a:rPr lang="en" sz="1200"/>
              <a:t>- /Users/anatarajan9/dev/wealth-deep-agent/src/wealth_agent/tools/allocation.py</a:t>
            </a:r>
            <a:endParaRPr/>
          </a:p>
        </p:txBody>
      </p:sp>
      <p:sp>
        <p:nvSpPr>
          <p:cNvPr id="171" name="Google Shape;171;g3f75f2bbabb_2_1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75f2bbabb_2_1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g3f75f2bbabb_2_1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Timing: 8 minutes, mostly live demo.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Commands:</a:t>
            </a:r>
            <a:endParaRPr/>
          </a:p>
          <a:p>
            <a:pPr indent="0" lvl="0" marL="0" rtl="0" algn="l">
              <a:spcBef>
                <a:spcPts val="0"/>
              </a:spcBef>
              <a:spcAft>
                <a:spcPts val="0"/>
              </a:spcAft>
              <a:buNone/>
            </a:pPr>
            <a:r>
              <a:rPr lang="en" sz="1200"/>
              <a:t>1. uv run wealth report --artifact naive</a:t>
            </a:r>
            <a:endParaRPr/>
          </a:p>
          <a:p>
            <a:pPr indent="0" lvl="0" marL="0" rtl="0" algn="l">
              <a:spcBef>
                <a:spcPts val="0"/>
              </a:spcBef>
              <a:spcAft>
                <a:spcPts val="0"/>
              </a:spcAft>
              <a:buNone/>
            </a:pPr>
            <a:r>
              <a:rPr lang="en" sz="1200"/>
              <a:t>2. uv run wealth report --artifact recommended</a:t>
            </a:r>
            <a:endParaRPr/>
          </a:p>
          <a:p>
            <a:pPr indent="0" lvl="0" marL="0" rtl="0" algn="l">
              <a:spcBef>
                <a:spcPts val="0"/>
              </a:spcBef>
              <a:spcAft>
                <a:spcPts val="0"/>
              </a:spcAft>
              <a:buNone/>
            </a:pPr>
            <a:r>
              <a:rPr lang="en" sz="1200"/>
              <a:t>3. uv run wealth compare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If the current checkout lacks frozen memo artifacts, use the checked-in HTML workshop page as the visual backup and state clearly that the deck is an initial version. Before the interview, refresh artifacts/runs/ and rehearse the click-through.</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Do not begin by explaining the framework. Begin with the decision the customer must make.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/Users/anatarajan9/dev/wealth-deep-agent/FACILITATOR.md</a:t>
            </a:r>
            <a:endParaRPr/>
          </a:p>
          <a:p>
            <a:pPr indent="0" lvl="0" marL="0" rtl="0" algn="l">
              <a:spcBef>
                <a:spcPts val="0"/>
              </a:spcBef>
              <a:spcAft>
                <a:spcPts val="0"/>
              </a:spcAft>
              <a:buNone/>
            </a:pPr>
            <a:r>
              <a:rPr lang="en" sz="1200"/>
              <a:t>- /Users/anatarajan9/dev/wealth-deep-agent/src/wealth_agent/cli/demo.py</a:t>
            </a:r>
            <a:endParaRPr/>
          </a:p>
          <a:p>
            <a:pPr indent="0" lvl="0" marL="0" rtl="0" algn="l">
              <a:spcBef>
                <a:spcPts val="0"/>
              </a:spcBef>
              <a:spcAft>
                <a:spcPts val="0"/>
              </a:spcAft>
              <a:buNone/>
            </a:pPr>
            <a:r>
              <a:rPr lang="en" sz="1200"/>
              <a:t>- /Users/anatarajan9/dev/wealth-deep-agent/slides/trust-but-verify.html</a:t>
            </a:r>
            <a:endParaRPr/>
          </a:p>
        </p:txBody>
      </p:sp>
      <p:sp>
        <p:nvSpPr>
          <p:cNvPr id="198" name="Google Shape;198;g3f75f2bbabb_2_1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75f2bbabb_2_1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g3f75f2bbabb_2_1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Timing: 5 minutes. This is the strongest failure story in the workshop.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Pause after presenting the unsupported cash balance and ask the audience to diagnose it. Then reveal: declarative subagents compile their own middleware stacks. The recorder was installed only on the supervisor, so subagent tool calls never reached the ledger. Nothing crashed.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Open src/wealth_agent/agents/common.py and the regression test. Emphasize the general lesson rather than the one-line patch.</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/Users/anatarajan9/dev/wealth-deep-agent/README.md</a:t>
            </a:r>
            <a:endParaRPr/>
          </a:p>
          <a:p>
            <a:pPr indent="0" lvl="0" marL="0" rtl="0" algn="l">
              <a:spcBef>
                <a:spcPts val="0"/>
              </a:spcBef>
              <a:spcAft>
                <a:spcPts val="0"/>
              </a:spcAft>
              <a:buNone/>
            </a:pPr>
            <a:r>
              <a:rPr lang="en" sz="1200"/>
              <a:t>- /Users/anatarajan9/dev/wealth-deep-agent/FACILITATOR.md</a:t>
            </a:r>
            <a:endParaRPr/>
          </a:p>
          <a:p>
            <a:pPr indent="0" lvl="0" marL="0" rtl="0" algn="l">
              <a:spcBef>
                <a:spcPts val="0"/>
              </a:spcBef>
              <a:spcAft>
                <a:spcPts val="0"/>
              </a:spcAft>
              <a:buNone/>
            </a:pPr>
            <a:r>
              <a:rPr lang="en" sz="1200"/>
              <a:t>- /Users/anatarajan9/dev/wealth-deep-agent/src/wealth_agent/agents/common.py</a:t>
            </a:r>
            <a:endParaRPr/>
          </a:p>
          <a:p>
            <a:pPr indent="0" lvl="0" marL="0" rtl="0" algn="l">
              <a:spcBef>
                <a:spcPts val="0"/>
              </a:spcBef>
              <a:spcAft>
                <a:spcPts val="0"/>
              </a:spcAft>
              <a:buNone/>
            </a:pPr>
            <a:r>
              <a:rPr lang="en" sz="1200"/>
              <a:t>- /Users/anatarajan9/dev/wealth-deep-agent/tests/test_ledger_middleware.py</a:t>
            </a:r>
            <a:endParaRPr/>
          </a:p>
        </p:txBody>
      </p:sp>
      <p:sp>
        <p:nvSpPr>
          <p:cNvPr id="231" name="Google Shape;231;g3f75f2bbabb_2_1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75f2bbabb_2_2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g3f75f2bbabb_2_2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Timing: 5 minutes.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Start with the deterministic checker because it is free, repeatable, and catches 18 of 20 labeled defects. Then explain the two misses: a real 34.71% attributed to the wrong denominator, and an invented 12% that passes because 11.88% rounds to 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LLM judge earns its place only for semantic questions that code cannot settle. Trajectory checks protect against a vacuous, grounded memo that simply skipped required analysis.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/Users/anatarajan9/dev/wealth-deep-agent/src/wealth_agent/evals/evaluators.py</a:t>
            </a:r>
            <a:endParaRPr/>
          </a:p>
          <a:p>
            <a:pPr indent="0" lvl="0" marL="0" rtl="0" algn="l">
              <a:spcBef>
                <a:spcPts val="0"/>
              </a:spcBef>
              <a:spcAft>
                <a:spcPts val="0"/>
              </a:spcAft>
              <a:buNone/>
            </a:pPr>
            <a:r>
              <a:rPr lang="en" sz="1200"/>
              <a:t>- /Users/anatarajan9/dev/wealth-deep-agent/WORKSHOP_BRIEF.md</a:t>
            </a:r>
            <a:endParaRPr/>
          </a:p>
          <a:p>
            <a:pPr indent="0" lvl="0" marL="0" rtl="0" algn="l">
              <a:spcBef>
                <a:spcPts val="0"/>
              </a:spcBef>
              <a:spcAft>
                <a:spcPts val="0"/>
              </a:spcAft>
              <a:buNone/>
            </a:pPr>
            <a:r>
              <a:rPr lang="en" sz="1200"/>
              <a:t>- https://docs.langchain.com/langsmith/evaluate-complex-agent</a:t>
            </a:r>
            <a:endParaRPr/>
          </a:p>
        </p:txBody>
      </p:sp>
      <p:sp>
        <p:nvSpPr>
          <p:cNvPr id="274" name="Google Shape;274;g3f75f2bbabb_2_2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f75f2bbabb_2_2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g3f75f2bbabb_2_2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Timing: 5 minutes.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Read the columns, not only the agreement score. v2 looked unchanged at 85%, yet it eliminated false accepts and introduced false rejects. In this domain those error classes have different business costs.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lesson is not “write a better prompt.” The lesson is “an evaluator is an application and must be evaluated against human labels.”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/Users/anatarajan9/dev/wealth-deep-agent/WORKSHOP_BRIEF.md</a:t>
            </a:r>
            <a:endParaRPr/>
          </a:p>
          <a:p>
            <a:pPr indent="0" lvl="0" marL="0" rtl="0" algn="l">
              <a:spcBef>
                <a:spcPts val="0"/>
              </a:spcBef>
              <a:spcAft>
                <a:spcPts val="0"/>
              </a:spcAft>
              <a:buNone/>
            </a:pPr>
            <a:r>
              <a:rPr lang="en" sz="1200"/>
              <a:t>- /Users/anatarajan9/dev/wealth-deep-agent/src/wealth_agent/evals/evaluators.py</a:t>
            </a:r>
            <a:endParaRPr/>
          </a:p>
          <a:p>
            <a:pPr indent="0" lvl="0" marL="0" rtl="0" algn="l">
              <a:spcBef>
                <a:spcPts val="0"/>
              </a:spcBef>
              <a:spcAft>
                <a:spcPts val="0"/>
              </a:spcAft>
              <a:buNone/>
            </a:pPr>
            <a:r>
              <a:rPr lang="en" sz="1200"/>
              <a:t>- /Users/anatarajan9/dev/wealth-deep-agent/src/wealth_agent/evals/fixtures.py</a:t>
            </a:r>
            <a:endParaRPr/>
          </a:p>
        </p:txBody>
      </p:sp>
      <p:sp>
        <p:nvSpPr>
          <p:cNvPr id="306" name="Google Shape;306;g3f75f2bbabb_2_24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75f2bbabb_2_2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g3f75f2bbabb_2_2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Timing: 4 minutes.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Explain the two independent switches: visibility and execution. ALLOW_WRITE_TOOLS controls whether writes are shown to the model; interrupt_on controls whether an enabled write can execute without human approval. Secret-bearing tools are excluded entirely.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Be explicit that this demo uses an in-memory checkpointer. A production version needs a durable checkpointer and stable thread IDs. Durable execution preserves progress; it does not make external actions exactly once, so side effects still need idempotency.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/Users/anatarajan9/dev/wealth-deep-agent/src/wealth_agent/mcp_servers/clients.py</a:t>
            </a:r>
            <a:endParaRPr/>
          </a:p>
          <a:p>
            <a:pPr indent="0" lvl="0" marL="0" rtl="0" algn="l">
              <a:spcBef>
                <a:spcPts val="0"/>
              </a:spcBef>
              <a:spcAft>
                <a:spcPts val="0"/>
              </a:spcAft>
              <a:buNone/>
            </a:pPr>
            <a:r>
              <a:rPr lang="en" sz="1200"/>
              <a:t>- /Users/anatarajan9/dev/wealth-deep-agent/src/wealth_agent/agents/supervisor.py</a:t>
            </a:r>
            <a:endParaRPr/>
          </a:p>
          <a:p>
            <a:pPr indent="0" lvl="0" marL="0" rtl="0" algn="l">
              <a:spcBef>
                <a:spcPts val="0"/>
              </a:spcBef>
              <a:spcAft>
                <a:spcPts val="0"/>
              </a:spcAft>
              <a:buNone/>
            </a:pPr>
            <a:r>
              <a:rPr lang="en" sz="1200"/>
              <a:t>- https://docs.langchain.com/oss/python/langgraph/persistence</a:t>
            </a:r>
            <a:endParaRPr/>
          </a:p>
          <a:p>
            <a:pPr indent="0" lvl="0" marL="0" rtl="0" algn="l">
              <a:spcBef>
                <a:spcPts val="0"/>
              </a:spcBef>
              <a:spcAft>
                <a:spcPts val="0"/>
              </a:spcAft>
              <a:buNone/>
            </a:pPr>
            <a:r>
              <a:rPr lang="en" sz="1200"/>
              <a:t>- https://docs.langchain.com/oss/python/langgraph/interrupts</a:t>
            </a:r>
            <a:endParaRPr/>
          </a:p>
        </p:txBody>
      </p:sp>
      <p:sp>
        <p:nvSpPr>
          <p:cNvPr id="338" name="Google Shape;338;g3f75f2bbabb_2_2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f75f2bbabb_2_30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g3f75f2bbabb_2_3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Timing: 2 minutes, then Q&amp;A.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Close by returning to the opening decision. The agent does not earn trust because the prose is polished. It earns trust because claims link to recorded evidence, risky actions cross explicit boundaries, and every evaluator is calibrated.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Likely Q&amp;A anchors:</a:t>
            </a:r>
            <a:endParaRPr/>
          </a:p>
          <a:p>
            <a:pPr indent="0" lvl="0" marL="0" rtl="0" algn="l">
              <a:spcBef>
                <a:spcPts val="0"/>
              </a:spcBef>
              <a:spcAft>
                <a:spcPts val="0"/>
              </a:spcAft>
              <a:buNone/>
            </a:pPr>
            <a:r>
              <a:rPr lang="en" sz="1200"/>
              <a:t>- Why Deep Agents instead of plain create_agent?</a:t>
            </a:r>
            <a:endParaRPr/>
          </a:p>
          <a:p>
            <a:pPr indent="0" lvl="0" marL="0" rtl="0" algn="l">
              <a:spcBef>
                <a:spcPts val="0"/>
              </a:spcBef>
              <a:spcAft>
                <a:spcPts val="0"/>
              </a:spcAft>
              <a:buNone/>
            </a:pPr>
            <a:r>
              <a:rPr lang="en" sz="1200"/>
              <a:t>- Why not just unit test everything?</a:t>
            </a:r>
            <a:endParaRPr/>
          </a:p>
          <a:p>
            <a:pPr indent="0" lvl="0" marL="0" rtl="0" algn="l">
              <a:spcBef>
                <a:spcPts val="0"/>
              </a:spcBef>
              <a:spcAft>
                <a:spcPts val="0"/>
              </a:spcAft>
              <a:buNone/>
            </a:pPr>
            <a:r>
              <a:rPr lang="en" sz="1200"/>
              <a:t>- Why are the verifier and strategist shallow?</a:t>
            </a:r>
            <a:endParaRPr/>
          </a:p>
          <a:p>
            <a:pPr indent="0" lvl="0" marL="0" rtl="0" algn="l">
              <a:spcBef>
                <a:spcPts val="0"/>
              </a:spcBef>
              <a:spcAft>
                <a:spcPts val="0"/>
              </a:spcAft>
              <a:buNone/>
            </a:pPr>
            <a:r>
              <a:rPr lang="en" sz="1200"/>
              <a:t>- What changes for a production checkpointer and side effects?</a:t>
            </a:r>
            <a:endParaRPr/>
          </a:p>
          <a:p>
            <a:pPr indent="0" lvl="0" marL="0" rtl="0" algn="l">
              <a:spcBef>
                <a:spcPts val="0"/>
              </a:spcBef>
              <a:spcAft>
                <a:spcPts val="0"/>
              </a:spcAft>
              <a:buNone/>
            </a:pPr>
            <a:r>
              <a:rPr lang="en" sz="1200"/>
              <a:t>- How would you extend this with online evaluation and alerting?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a:t>
            </a:r>
            <a:endParaRPr/>
          </a:p>
          <a:p>
            <a:pPr indent="0" lvl="0" marL="0" rtl="0" algn="l">
              <a:spcBef>
                <a:spcPts val="0"/>
              </a:spcBef>
              <a:spcAft>
                <a:spcPts val="0"/>
              </a:spcAft>
              <a:buNone/>
            </a:pPr>
            <a:r>
              <a:rPr lang="en" sz="1200"/>
              <a:t>- /Users/anatarajan9/dev/wealth-deep-agent/WORKSHOP_BRIEF.md</a:t>
            </a:r>
            <a:endParaRPr/>
          </a:p>
          <a:p>
            <a:pPr indent="0" lvl="0" marL="0" rtl="0" algn="l">
              <a:spcBef>
                <a:spcPts val="0"/>
              </a:spcBef>
              <a:spcAft>
                <a:spcPts val="0"/>
              </a:spcAft>
              <a:buNone/>
            </a:pPr>
            <a:r>
              <a:rPr lang="en" sz="1200"/>
              <a:t>- /Users/anatarajan9/dev/wealth-deep-agent/FACILITATOR.md</a:t>
            </a:r>
            <a:endParaRPr/>
          </a:p>
        </p:txBody>
      </p:sp>
      <p:sp>
        <p:nvSpPr>
          <p:cNvPr id="371" name="Google Shape;371;g3f75f2bbabb_2_30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81C"/>
        </a:solidFill>
      </p:bgPr>
    </p:bg>
    <p:spTree>
      <p:nvGrpSpPr>
        <p:cNvPr id="56" name="Shape 56"/>
        <p:cNvGrpSpPr/>
        <p:nvPr/>
      </p:nvGrpSpPr>
      <p:grpSpPr>
        <a:xfrm>
          <a:off x="0" y="0"/>
          <a:ext cx="0" cy="0"/>
          <a:chOff x="0" y="0"/>
          <a:chExt cx="0" cy="0"/>
        </a:xfrm>
      </p:grpSpPr>
      <p:sp>
        <p:nvSpPr>
          <p:cNvPr id="57" name="Google Shape;57;p15"/>
          <p:cNvSpPr/>
          <p:nvPr/>
        </p:nvSpPr>
        <p:spPr>
          <a:xfrm>
            <a:off x="0" y="0"/>
            <a:ext cx="100013" cy="5143500"/>
          </a:xfrm>
          <a:prstGeom prst="rect">
            <a:avLst/>
          </a:prstGeom>
          <a:solidFill>
            <a:srgbClr val="24726A"/>
          </a:solidFill>
          <a:ln cap="flat" cmpd="sng" w="95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15"/>
          <p:cNvSpPr/>
          <p:nvPr/>
        </p:nvSpPr>
        <p:spPr>
          <a:xfrm>
            <a:off x="585788" y="500063"/>
            <a:ext cx="400050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3B5A8"/>
              </a:buClr>
              <a:buSzPts val="800"/>
              <a:buFont typeface="Roboto Mono"/>
              <a:buNone/>
            </a:pPr>
            <a:r>
              <a:rPr b="1" lang="en" sz="800">
                <a:solidFill>
                  <a:srgbClr val="63B5A8"/>
                </a:solidFill>
                <a:latin typeface="Roboto Mono"/>
                <a:ea typeface="Roboto Mono"/>
                <a:cs typeface="Roboto Mono"/>
                <a:sym typeface="Roboto Mono"/>
              </a:rPr>
              <a:t>TECHNICAL WORKSHOP · 45 MIN + Q&amp;A</a:t>
            </a:r>
            <a:endParaRPr sz="1100"/>
          </a:p>
        </p:txBody>
      </p:sp>
      <p:sp>
        <p:nvSpPr>
          <p:cNvPr id="59" name="Google Shape;59;p15"/>
          <p:cNvSpPr/>
          <p:nvPr/>
        </p:nvSpPr>
        <p:spPr>
          <a:xfrm>
            <a:off x="585788" y="928688"/>
            <a:ext cx="5715000" cy="628650"/>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3900"/>
              <a:buFont typeface="Arial"/>
              <a:buNone/>
            </a:pPr>
            <a:r>
              <a:rPr b="1" lang="en" sz="3900">
                <a:solidFill>
                  <a:srgbClr val="FFFFFF"/>
                </a:solidFill>
              </a:rPr>
              <a:t>Wealth Agent</a:t>
            </a:r>
            <a:endParaRPr sz="1100"/>
          </a:p>
        </p:txBody>
      </p:sp>
      <p:sp>
        <p:nvSpPr>
          <p:cNvPr id="60" name="Google Shape;60;p15"/>
          <p:cNvSpPr/>
          <p:nvPr/>
        </p:nvSpPr>
        <p:spPr>
          <a:xfrm>
            <a:off x="600075" y="1685925"/>
            <a:ext cx="5429250" cy="371475"/>
          </a:xfrm>
          <a:prstGeom prst="rect">
            <a:avLst/>
          </a:prstGeom>
          <a:noFill/>
          <a:ln>
            <a:noFill/>
          </a:ln>
        </p:spPr>
        <p:txBody>
          <a:bodyPr anchorCtr="0" anchor="t" bIns="0" lIns="0" spcFirstLastPara="1" rIns="0" wrap="square" tIns="0">
            <a:noAutofit/>
          </a:bodyPr>
          <a:lstStyle/>
          <a:p>
            <a:pPr indent="0" lvl="0" marL="0" rtl="0" algn="l">
              <a:lnSpc>
                <a:spcPct val="108000"/>
              </a:lnSpc>
              <a:spcBef>
                <a:spcPts val="0"/>
              </a:spcBef>
              <a:spcAft>
                <a:spcPts val="0"/>
              </a:spcAft>
              <a:buClr>
                <a:srgbClr val="E4E9E6"/>
              </a:buClr>
              <a:buSzPts val="1400"/>
              <a:buFont typeface="Arial"/>
              <a:buNone/>
            </a:pPr>
            <a:r>
              <a:rPr lang="en">
                <a:solidFill>
                  <a:srgbClr val="E4E9E6"/>
                </a:solidFill>
              </a:rPr>
              <a:t>A working wealth agent built with LangChain, LangGraph, Deep Agents, and LangSmith</a:t>
            </a:r>
            <a:endParaRPr sz="1100"/>
          </a:p>
        </p:txBody>
      </p:sp>
      <p:cxnSp>
        <p:nvCxnSpPr>
          <p:cNvPr id="61" name="Google Shape;61;p15"/>
          <p:cNvCxnSpPr/>
          <p:nvPr/>
        </p:nvCxnSpPr>
        <p:spPr>
          <a:xfrm>
            <a:off x="600075" y="2357438"/>
            <a:ext cx="7929563" cy="0"/>
          </a:xfrm>
          <a:prstGeom prst="straightConnector1">
            <a:avLst/>
          </a:prstGeom>
          <a:noFill/>
          <a:ln cap="flat" cmpd="sng" w="12375">
            <a:solidFill>
              <a:srgbClr val="3D4A50"/>
            </a:solidFill>
            <a:prstDash val="solid"/>
            <a:round/>
            <a:headEnd len="sm" w="sm" type="none"/>
            <a:tailEnd len="sm" w="sm" type="none"/>
          </a:ln>
        </p:spPr>
      </p:cxnSp>
      <p:sp>
        <p:nvSpPr>
          <p:cNvPr id="62" name="Google Shape;62;p15"/>
          <p:cNvSpPr/>
          <p:nvPr/>
        </p:nvSpPr>
        <p:spPr>
          <a:xfrm>
            <a:off x="600075" y="2643188"/>
            <a:ext cx="6143625" cy="485775"/>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4E9E6"/>
              </a:buClr>
              <a:buSzPts val="1400"/>
              <a:buFont typeface="Arial"/>
              <a:buNone/>
            </a:pPr>
            <a:r>
              <a:t/>
            </a:r>
            <a:endParaRPr sz="1100"/>
          </a:p>
        </p:txBody>
      </p:sp>
      <p:sp>
        <p:nvSpPr>
          <p:cNvPr id="63" name="Google Shape;63;p15"/>
          <p:cNvSpPr/>
          <p:nvPr/>
        </p:nvSpPr>
        <p:spPr>
          <a:xfrm>
            <a:off x="600075" y="4157663"/>
            <a:ext cx="3143250" cy="1785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Roboto Mono"/>
              <a:buNone/>
            </a:pPr>
            <a:r>
              <a:rPr b="1" lang="en" sz="1000">
                <a:solidFill>
                  <a:srgbClr val="FFFFFF"/>
                </a:solidFill>
                <a:latin typeface="Roboto Mono"/>
                <a:ea typeface="Roboto Mono"/>
                <a:cs typeface="Roboto Mono"/>
                <a:sym typeface="Roboto Mono"/>
              </a:rPr>
              <a:t>ADITHYA NATARAJAN</a:t>
            </a:r>
            <a:endParaRPr sz="1100"/>
          </a:p>
        </p:txBody>
      </p:sp>
      <p:sp>
        <p:nvSpPr>
          <p:cNvPr id="64" name="Google Shape;64;p15"/>
          <p:cNvSpPr/>
          <p:nvPr/>
        </p:nvSpPr>
        <p:spPr>
          <a:xfrm>
            <a:off x="600075" y="4400550"/>
            <a:ext cx="51435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EB9B7"/>
              </a:buClr>
              <a:buSzPts val="1100"/>
              <a:buFont typeface="Arial"/>
              <a:buNone/>
            </a:pPr>
            <a:r>
              <a:rPr b="0" lang="en" sz="1100">
                <a:solidFill>
                  <a:srgbClr val="AEB9B7"/>
                </a:solidFill>
                <a:latin typeface="Arial"/>
                <a:ea typeface="Arial"/>
                <a:cs typeface="Arial"/>
                <a:sym typeface="Arial"/>
              </a:rPr>
              <a:t>Senior Software Engineer</a:t>
            </a:r>
            <a:endParaRPr sz="1100"/>
          </a:p>
        </p:txBody>
      </p:sp>
      <p:sp>
        <p:nvSpPr>
          <p:cNvPr id="65" name="Google Shape;65;p15"/>
          <p:cNvSpPr/>
          <p:nvPr/>
        </p:nvSpPr>
        <p:spPr>
          <a:xfrm>
            <a:off x="5643563" y="4443413"/>
            <a:ext cx="2886075" cy="1571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3B5A8"/>
              </a:buClr>
              <a:buSzPts val="800"/>
              <a:buFont typeface="Roboto Mono"/>
              <a:buNone/>
            </a:pPr>
            <a:r>
              <a:rPr b="1" lang="en" sz="800">
                <a:solidFill>
                  <a:srgbClr val="63B5A8"/>
                </a:solidFill>
                <a:latin typeface="Roboto Mono"/>
                <a:ea typeface="Roboto Mono"/>
                <a:cs typeface="Roboto Mono"/>
                <a:sym typeface="Roboto Mono"/>
              </a:rPr>
              <a:t>DEEP AGENTS  ·  LANGGRAPH  ·  LANGSMITH</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70" name="Shape 70"/>
        <p:cNvGrpSpPr/>
        <p:nvPr/>
      </p:nvGrpSpPr>
      <p:grpSpPr>
        <a:xfrm>
          <a:off x="0" y="0"/>
          <a:ext cx="0" cy="0"/>
          <a:chOff x="0" y="0"/>
          <a:chExt cx="0" cy="0"/>
        </a:xfrm>
      </p:grpSpPr>
      <p:sp>
        <p:nvSpPr>
          <p:cNvPr id="71" name="Google Shape;71;p16"/>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THE CUSTOMER PROBLEM</a:t>
            </a:r>
            <a:endParaRPr sz="1100"/>
          </a:p>
        </p:txBody>
      </p:sp>
      <p:sp>
        <p:nvSpPr>
          <p:cNvPr id="72" name="Google Shape;72;p16"/>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The hard part starts after the demo works</a:t>
            </a:r>
            <a:endParaRPr sz="1100"/>
          </a:p>
        </p:txBody>
      </p:sp>
      <p:cxnSp>
        <p:nvCxnSpPr>
          <p:cNvPr id="73" name="Google Shape;73;p16"/>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74" name="Google Shape;74;p16"/>
          <p:cNvSpPr/>
          <p:nvPr/>
        </p:nvSpPr>
        <p:spPr>
          <a:xfrm>
            <a:off x="514350" y="1300163"/>
            <a:ext cx="4000500" cy="51435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4181C"/>
              </a:buClr>
              <a:buSzPts val="1800"/>
              <a:buFont typeface="Arial"/>
              <a:buNone/>
            </a:pPr>
            <a:r>
              <a:rPr b="1" lang="en" sz="1800">
                <a:solidFill>
                  <a:srgbClr val="14181C"/>
                </a:solidFill>
                <a:latin typeface="Arial"/>
                <a:ea typeface="Arial"/>
                <a:cs typeface="Arial"/>
                <a:sym typeface="Arial"/>
              </a:rPr>
              <a:t>The agent can plan, delegate, and write a convincing memo.</a:t>
            </a:r>
            <a:endParaRPr sz="1100"/>
          </a:p>
        </p:txBody>
      </p:sp>
      <p:sp>
        <p:nvSpPr>
          <p:cNvPr id="75" name="Google Shape;75;p16"/>
          <p:cNvSpPr/>
          <p:nvPr/>
        </p:nvSpPr>
        <p:spPr>
          <a:xfrm>
            <a:off x="514350" y="1985963"/>
            <a:ext cx="3857625" cy="24288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200"/>
              <a:buFont typeface="Arial"/>
              <a:buNone/>
            </a:pPr>
            <a:r>
              <a:rPr b="0" lang="en" sz="1200">
                <a:solidFill>
                  <a:srgbClr val="444E54"/>
                </a:solidFill>
                <a:latin typeface="Arial"/>
                <a:ea typeface="Arial"/>
                <a:cs typeface="Arial"/>
                <a:sym typeface="Arial"/>
              </a:rPr>
              <a:t>Before a person acts, we still need to answer:</a:t>
            </a:r>
            <a:endParaRPr sz="1100"/>
          </a:p>
        </p:txBody>
      </p:sp>
      <p:sp>
        <p:nvSpPr>
          <p:cNvPr id="76" name="Google Shape;76;p16"/>
          <p:cNvSpPr/>
          <p:nvPr/>
        </p:nvSpPr>
        <p:spPr>
          <a:xfrm>
            <a:off x="514350" y="2414588"/>
            <a:ext cx="3429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lang="en" sz="900">
                <a:solidFill>
                  <a:srgbClr val="24726A"/>
                </a:solidFill>
                <a:latin typeface="Roboto Mono"/>
                <a:ea typeface="Roboto Mono"/>
                <a:cs typeface="Roboto Mono"/>
                <a:sym typeface="Roboto Mono"/>
              </a:rPr>
              <a:t>01</a:t>
            </a:r>
            <a:endParaRPr sz="1100"/>
          </a:p>
        </p:txBody>
      </p:sp>
      <p:sp>
        <p:nvSpPr>
          <p:cNvPr id="77" name="Google Shape;77;p16"/>
          <p:cNvSpPr/>
          <p:nvPr/>
        </p:nvSpPr>
        <p:spPr>
          <a:xfrm>
            <a:off x="942975" y="2400300"/>
            <a:ext cx="3571875"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lang="en" sz="1300">
                <a:solidFill>
                  <a:srgbClr val="14181C"/>
                </a:solidFill>
                <a:latin typeface="Arial"/>
                <a:ea typeface="Arial"/>
                <a:cs typeface="Arial"/>
                <a:sym typeface="Arial"/>
              </a:rPr>
              <a:t>Where did every number come from?</a:t>
            </a:r>
            <a:endParaRPr sz="1100"/>
          </a:p>
        </p:txBody>
      </p:sp>
      <p:cxnSp>
        <p:nvCxnSpPr>
          <p:cNvPr id="78" name="Google Shape;78;p16"/>
          <p:cNvCxnSpPr/>
          <p:nvPr/>
        </p:nvCxnSpPr>
        <p:spPr>
          <a:xfrm>
            <a:off x="942975" y="2736056"/>
            <a:ext cx="3429000" cy="0"/>
          </a:xfrm>
          <a:prstGeom prst="straightConnector1">
            <a:avLst/>
          </a:prstGeom>
          <a:noFill/>
          <a:ln cap="flat" cmpd="sng" w="9525">
            <a:solidFill>
              <a:srgbClr val="CBD2CA"/>
            </a:solidFill>
            <a:prstDash val="solid"/>
            <a:round/>
            <a:headEnd len="sm" w="sm" type="none"/>
            <a:tailEnd len="sm" w="sm" type="none"/>
          </a:ln>
        </p:spPr>
      </p:cxnSp>
      <p:sp>
        <p:nvSpPr>
          <p:cNvPr id="79" name="Google Shape;79;p16"/>
          <p:cNvSpPr/>
          <p:nvPr/>
        </p:nvSpPr>
        <p:spPr>
          <a:xfrm>
            <a:off x="514350" y="2943225"/>
            <a:ext cx="3429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lang="en" sz="900">
                <a:solidFill>
                  <a:srgbClr val="24726A"/>
                </a:solidFill>
                <a:latin typeface="Roboto Mono"/>
                <a:ea typeface="Roboto Mono"/>
                <a:cs typeface="Roboto Mono"/>
                <a:sym typeface="Roboto Mono"/>
              </a:rPr>
              <a:t>02</a:t>
            </a:r>
            <a:endParaRPr sz="1100"/>
          </a:p>
        </p:txBody>
      </p:sp>
      <p:sp>
        <p:nvSpPr>
          <p:cNvPr id="80" name="Google Shape;80;p16"/>
          <p:cNvSpPr/>
          <p:nvPr/>
        </p:nvSpPr>
        <p:spPr>
          <a:xfrm>
            <a:off x="942975" y="2928938"/>
            <a:ext cx="3571875"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lang="en" sz="1300">
                <a:solidFill>
                  <a:srgbClr val="14181C"/>
                </a:solidFill>
                <a:latin typeface="Arial"/>
                <a:ea typeface="Arial"/>
                <a:cs typeface="Arial"/>
                <a:sym typeface="Arial"/>
              </a:rPr>
              <a:t>Which source supports each market claim?</a:t>
            </a:r>
            <a:endParaRPr sz="1100"/>
          </a:p>
        </p:txBody>
      </p:sp>
      <p:cxnSp>
        <p:nvCxnSpPr>
          <p:cNvPr id="81" name="Google Shape;81;p16"/>
          <p:cNvCxnSpPr/>
          <p:nvPr/>
        </p:nvCxnSpPr>
        <p:spPr>
          <a:xfrm>
            <a:off x="942975" y="3264694"/>
            <a:ext cx="3429000" cy="0"/>
          </a:xfrm>
          <a:prstGeom prst="straightConnector1">
            <a:avLst/>
          </a:prstGeom>
          <a:noFill/>
          <a:ln cap="flat" cmpd="sng" w="9525">
            <a:solidFill>
              <a:srgbClr val="CBD2CA"/>
            </a:solidFill>
            <a:prstDash val="solid"/>
            <a:round/>
            <a:headEnd len="sm" w="sm" type="none"/>
            <a:tailEnd len="sm" w="sm" type="none"/>
          </a:ln>
        </p:spPr>
      </p:cxnSp>
      <p:sp>
        <p:nvSpPr>
          <p:cNvPr id="82" name="Google Shape;82;p16"/>
          <p:cNvSpPr/>
          <p:nvPr/>
        </p:nvSpPr>
        <p:spPr>
          <a:xfrm>
            <a:off x="514350" y="3471863"/>
            <a:ext cx="3429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lang="en" sz="900">
                <a:solidFill>
                  <a:srgbClr val="24726A"/>
                </a:solidFill>
                <a:latin typeface="Roboto Mono"/>
                <a:ea typeface="Roboto Mono"/>
                <a:cs typeface="Roboto Mono"/>
                <a:sym typeface="Roboto Mono"/>
              </a:rPr>
              <a:t>03</a:t>
            </a:r>
            <a:endParaRPr sz="1100"/>
          </a:p>
        </p:txBody>
      </p:sp>
      <p:sp>
        <p:nvSpPr>
          <p:cNvPr id="83" name="Google Shape;83;p16"/>
          <p:cNvSpPr/>
          <p:nvPr/>
        </p:nvSpPr>
        <p:spPr>
          <a:xfrm>
            <a:off x="942975" y="3457575"/>
            <a:ext cx="3571875"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0" lang="en" sz="1300">
                <a:solidFill>
                  <a:srgbClr val="14181C"/>
                </a:solidFill>
                <a:latin typeface="Arial"/>
                <a:ea typeface="Arial"/>
                <a:cs typeface="Arial"/>
                <a:sym typeface="Arial"/>
              </a:rPr>
              <a:t>What prevents an unsafe account change?</a:t>
            </a:r>
            <a:endParaRPr sz="1100"/>
          </a:p>
        </p:txBody>
      </p:sp>
      <p:sp>
        <p:nvSpPr>
          <p:cNvPr id="84" name="Google Shape;84;p16"/>
          <p:cNvSpPr/>
          <p:nvPr/>
        </p:nvSpPr>
        <p:spPr>
          <a:xfrm>
            <a:off x="5000625" y="1271588"/>
            <a:ext cx="3629025" cy="3071813"/>
          </a:xfrm>
          <a:prstGeom prst="roundRect">
            <a:avLst>
              <a:gd fmla="val 1163" name="adj"/>
            </a:avLst>
          </a:prstGeom>
          <a:solidFill>
            <a:srgbClr val="FAFBF8"/>
          </a:solidFill>
          <a:ln cap="flat" cmpd="sng" w="11425">
            <a:solidFill>
              <a:srgbClr val="A9B3AC"/>
            </a:solidFill>
            <a:prstDash val="solid"/>
            <a:round/>
            <a:headEnd len="sm" w="sm" type="none"/>
            <a:tailEnd len="sm" w="sm" type="none"/>
          </a:ln>
          <a:effectLst>
            <a:outerShdw blurRad="19050" dir="5400000" dist="9525">
              <a:srgbClr val="000000">
                <a:alpha val="5882"/>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6"/>
          <p:cNvSpPr/>
          <p:nvPr/>
        </p:nvSpPr>
        <p:spPr>
          <a:xfrm>
            <a:off x="5214938" y="1464469"/>
            <a:ext cx="3143250"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WEALTH MEMO · RECOMMENDED ACTION</a:t>
            </a:r>
            <a:endParaRPr sz="1100"/>
          </a:p>
        </p:txBody>
      </p:sp>
      <p:cxnSp>
        <p:nvCxnSpPr>
          <p:cNvPr id="86" name="Google Shape;86;p16"/>
          <p:cNvCxnSpPr/>
          <p:nvPr/>
        </p:nvCxnSpPr>
        <p:spPr>
          <a:xfrm>
            <a:off x="5214938" y="1728788"/>
            <a:ext cx="3200400" cy="0"/>
          </a:xfrm>
          <a:prstGeom prst="straightConnector1">
            <a:avLst/>
          </a:prstGeom>
          <a:noFill/>
          <a:ln cap="flat" cmpd="sng" w="9525">
            <a:solidFill>
              <a:srgbClr val="A9B3AC"/>
            </a:solidFill>
            <a:prstDash val="solid"/>
            <a:round/>
            <a:headEnd len="sm" w="sm" type="none"/>
            <a:tailEnd len="sm" w="sm" type="none"/>
          </a:ln>
        </p:spPr>
      </p:cxnSp>
      <p:sp>
        <p:nvSpPr>
          <p:cNvPr id="87" name="Google Shape;87;p16"/>
          <p:cNvSpPr/>
          <p:nvPr/>
        </p:nvSpPr>
        <p:spPr>
          <a:xfrm>
            <a:off x="5214938" y="1943100"/>
            <a:ext cx="67151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E3E36"/>
              </a:buClr>
              <a:buSzPts val="1100"/>
              <a:buFont typeface="Roboto Mono"/>
              <a:buNone/>
            </a:pPr>
            <a:r>
              <a:rPr b="1" lang="en" sz="1100">
                <a:solidFill>
                  <a:srgbClr val="9E3E36"/>
                </a:solidFill>
                <a:latin typeface="Roboto Mono"/>
                <a:ea typeface="Roboto Mono"/>
                <a:cs typeface="Roboto Mono"/>
                <a:sym typeface="Roboto Mono"/>
              </a:rPr>
              <a:t>TRIM</a:t>
            </a:r>
            <a:endParaRPr sz="1100"/>
          </a:p>
        </p:txBody>
      </p:sp>
      <p:sp>
        <p:nvSpPr>
          <p:cNvPr id="88" name="Google Shape;88;p16"/>
          <p:cNvSpPr/>
          <p:nvPr/>
        </p:nvSpPr>
        <p:spPr>
          <a:xfrm>
            <a:off x="5986463" y="1921669"/>
            <a:ext cx="857250" cy="2571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Roboto Mono"/>
              <a:buNone/>
            </a:pPr>
            <a:r>
              <a:rPr b="1" lang="en" sz="1500">
                <a:solidFill>
                  <a:srgbClr val="14181C"/>
                </a:solidFill>
                <a:latin typeface="Roboto Mono"/>
                <a:ea typeface="Roboto Mono"/>
                <a:cs typeface="Roboto Mono"/>
                <a:sym typeface="Roboto Mono"/>
              </a:rPr>
              <a:t>AAPL</a:t>
            </a:r>
            <a:endParaRPr sz="1100"/>
          </a:p>
        </p:txBody>
      </p:sp>
      <p:sp>
        <p:nvSpPr>
          <p:cNvPr id="89" name="Google Shape;89;p16"/>
          <p:cNvSpPr/>
          <p:nvPr/>
        </p:nvSpPr>
        <p:spPr>
          <a:xfrm>
            <a:off x="6908006" y="1921669"/>
            <a:ext cx="1500188" cy="257175"/>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500"/>
              <a:buFont typeface="Roboto Mono"/>
              <a:buNone/>
            </a:pPr>
            <a:r>
              <a:rPr b="1" lang="en" sz="1500">
                <a:solidFill>
                  <a:srgbClr val="14181C"/>
                </a:solidFill>
                <a:latin typeface="Roboto Mono"/>
                <a:ea typeface="Roboto Mono"/>
                <a:cs typeface="Roboto Mono"/>
                <a:sym typeface="Roboto Mono"/>
              </a:rPr>
              <a:t>−$11,759.48</a:t>
            </a:r>
            <a:endParaRPr sz="1100"/>
          </a:p>
        </p:txBody>
      </p:sp>
      <p:sp>
        <p:nvSpPr>
          <p:cNvPr id="90" name="Google Shape;90;p16"/>
          <p:cNvSpPr/>
          <p:nvPr/>
        </p:nvSpPr>
        <p:spPr>
          <a:xfrm>
            <a:off x="5214938" y="2357438"/>
            <a:ext cx="3200400" cy="600075"/>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44E54"/>
              </a:buClr>
              <a:buSzPts val="1200"/>
              <a:buFont typeface="Arial"/>
              <a:buNone/>
            </a:pPr>
            <a:r>
              <a:rPr b="0" lang="en" sz="1200">
                <a:solidFill>
                  <a:srgbClr val="444E54"/>
                </a:solidFill>
                <a:latin typeface="Arial"/>
                <a:ea typeface="Arial"/>
                <a:cs typeface="Arial"/>
                <a:sym typeface="Arial"/>
              </a:rPr>
              <a:t>Information Technology is 34.71% of equity against a 25% target with a 5-point band.</a:t>
            </a:r>
            <a:endParaRPr sz="1100"/>
          </a:p>
        </p:txBody>
      </p:sp>
      <p:cxnSp>
        <p:nvCxnSpPr>
          <p:cNvPr id="91" name="Google Shape;91;p16"/>
          <p:cNvCxnSpPr/>
          <p:nvPr/>
        </p:nvCxnSpPr>
        <p:spPr>
          <a:xfrm>
            <a:off x="5214938" y="3071813"/>
            <a:ext cx="3200400" cy="0"/>
          </a:xfrm>
          <a:prstGeom prst="straightConnector1">
            <a:avLst/>
          </a:prstGeom>
          <a:noFill/>
          <a:ln cap="flat" cmpd="sng" w="9525">
            <a:solidFill>
              <a:srgbClr val="CBD2CA"/>
            </a:solidFill>
            <a:prstDash val="solid"/>
            <a:round/>
            <a:headEnd len="sm" w="sm" type="none"/>
            <a:tailEnd len="sm" w="sm" type="none"/>
          </a:ln>
        </p:spPr>
      </p:cxnSp>
      <p:sp>
        <p:nvSpPr>
          <p:cNvPr id="92" name="Google Shape;92;p16"/>
          <p:cNvSpPr/>
          <p:nvPr/>
        </p:nvSpPr>
        <p:spPr>
          <a:xfrm>
            <a:off x="5214938" y="3293269"/>
            <a:ext cx="3200400" cy="4286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The arithmetic is precise. The trust boundary is not.</a:t>
            </a:r>
            <a:endParaRPr sz="1100"/>
          </a:p>
        </p:txBody>
      </p:sp>
      <p:sp>
        <p:nvSpPr>
          <p:cNvPr id="93" name="Google Shape;93;p16"/>
          <p:cNvSpPr/>
          <p:nvPr/>
        </p:nvSpPr>
        <p:spPr>
          <a:xfrm>
            <a:off x="5214938" y="3900488"/>
            <a:ext cx="320040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lang="en" sz="1000">
                <a:solidFill>
                  <a:srgbClr val="24726A"/>
                </a:solidFill>
                <a:latin typeface="Roboto Mono"/>
                <a:ea typeface="Roboto Mono"/>
                <a:cs typeface="Roboto Mono"/>
                <a:sym typeface="Roboto Mono"/>
              </a:rPr>
              <a:t>Fluency is visible. Defensibility must be engineered.</a:t>
            </a:r>
            <a:endParaRPr sz="1100"/>
          </a:p>
        </p:txBody>
      </p:sp>
      <p:sp>
        <p:nvSpPr>
          <p:cNvPr id="94" name="Google Shape;94;p16"/>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95" name="Google Shape;95;p16"/>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02</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100" name="Shape 100"/>
        <p:cNvGrpSpPr/>
        <p:nvPr/>
      </p:nvGrpSpPr>
      <p:grpSpPr>
        <a:xfrm>
          <a:off x="0" y="0"/>
          <a:ext cx="0" cy="0"/>
          <a:chOff x="0" y="0"/>
          <a:chExt cx="0" cy="0"/>
        </a:xfrm>
      </p:grpSpPr>
      <p:sp>
        <p:nvSpPr>
          <p:cNvPr id="101" name="Google Shape;101;p17"/>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FRAMEWORK MAP</a:t>
            </a:r>
            <a:endParaRPr sz="1100"/>
          </a:p>
        </p:txBody>
      </p:sp>
      <p:sp>
        <p:nvSpPr>
          <p:cNvPr id="102" name="Google Shape;102;p17"/>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Use each LangChain layer for the job it does best</a:t>
            </a:r>
            <a:endParaRPr sz="1100"/>
          </a:p>
        </p:txBody>
      </p:sp>
      <p:cxnSp>
        <p:nvCxnSpPr>
          <p:cNvPr id="103" name="Google Shape;103;p17"/>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104" name="Google Shape;104;p17"/>
          <p:cNvSpPr/>
          <p:nvPr/>
        </p:nvSpPr>
        <p:spPr>
          <a:xfrm>
            <a:off x="600075" y="1228725"/>
            <a:ext cx="1214438"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LAYER</a:t>
            </a:r>
            <a:endParaRPr sz="1100"/>
          </a:p>
        </p:txBody>
      </p:sp>
      <p:sp>
        <p:nvSpPr>
          <p:cNvPr id="105" name="Google Shape;105;p17"/>
          <p:cNvSpPr/>
          <p:nvPr/>
        </p:nvSpPr>
        <p:spPr>
          <a:xfrm>
            <a:off x="2214563" y="1228725"/>
            <a:ext cx="2357438"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WHAT IT ADDS</a:t>
            </a:r>
            <a:endParaRPr sz="1100"/>
          </a:p>
        </p:txBody>
      </p:sp>
      <p:sp>
        <p:nvSpPr>
          <p:cNvPr id="106" name="Google Shape;106;p17"/>
          <p:cNvSpPr/>
          <p:nvPr/>
        </p:nvSpPr>
        <p:spPr>
          <a:xfrm>
            <a:off x="5250656" y="1228725"/>
            <a:ext cx="32861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HOW THE WEALTH AGENT USES IT</a:t>
            </a:r>
            <a:endParaRPr sz="1100"/>
          </a:p>
        </p:txBody>
      </p:sp>
      <p:sp>
        <p:nvSpPr>
          <p:cNvPr id="107" name="Google Shape;107;p17"/>
          <p:cNvSpPr/>
          <p:nvPr/>
        </p:nvSpPr>
        <p:spPr>
          <a:xfrm>
            <a:off x="514350" y="1514475"/>
            <a:ext cx="8058150" cy="614363"/>
          </a:xfrm>
          <a:prstGeom prst="rect">
            <a:avLst/>
          </a:prstGeom>
          <a:solidFill>
            <a:srgbClr val="DCE8E5"/>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8" name="Google Shape;108;p17"/>
          <p:cNvSpPr/>
          <p:nvPr/>
        </p:nvSpPr>
        <p:spPr>
          <a:xfrm>
            <a:off x="657225" y="1643063"/>
            <a:ext cx="1414463" cy="221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Deep Agents</a:t>
            </a:r>
            <a:endParaRPr sz="1100"/>
          </a:p>
        </p:txBody>
      </p:sp>
      <p:sp>
        <p:nvSpPr>
          <p:cNvPr id="109" name="Google Shape;109;p17"/>
          <p:cNvSpPr/>
          <p:nvPr/>
        </p:nvSpPr>
        <p:spPr>
          <a:xfrm>
            <a:off x="2214563" y="1657350"/>
            <a:ext cx="22860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Opinionated harness</a:t>
            </a:r>
            <a:endParaRPr sz="1100"/>
          </a:p>
        </p:txBody>
      </p:sp>
      <p:sp>
        <p:nvSpPr>
          <p:cNvPr id="110" name="Google Shape;110;p17"/>
          <p:cNvSpPr/>
          <p:nvPr/>
        </p:nvSpPr>
        <p:spPr>
          <a:xfrm>
            <a:off x="5250656" y="1628775"/>
            <a:ext cx="3143250" cy="38576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4181C"/>
              </a:buClr>
              <a:buSzPts val="1100"/>
              <a:buFont typeface="Arial"/>
              <a:buNone/>
            </a:pPr>
            <a:r>
              <a:rPr b="0" lang="en" sz="1100">
                <a:solidFill>
                  <a:srgbClr val="14181C"/>
                </a:solidFill>
                <a:latin typeface="Arial"/>
                <a:ea typeface="Arial"/>
                <a:cs typeface="Arial"/>
                <a:sym typeface="Arial"/>
              </a:rPr>
              <a:t>Supervisor + 3 analysts; filesystem, skills, subagents, permissions</a:t>
            </a:r>
            <a:endParaRPr sz="1100"/>
          </a:p>
        </p:txBody>
      </p:sp>
      <p:sp>
        <p:nvSpPr>
          <p:cNvPr id="111" name="Google Shape;111;p17"/>
          <p:cNvSpPr/>
          <p:nvPr/>
        </p:nvSpPr>
        <p:spPr>
          <a:xfrm>
            <a:off x="514350" y="2200275"/>
            <a:ext cx="8058150" cy="614363"/>
          </a:xfrm>
          <a:prstGeom prst="rect">
            <a:avLst/>
          </a:prstGeom>
          <a:solidFill>
            <a:srgbClr val="E7EAE4"/>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17"/>
          <p:cNvSpPr/>
          <p:nvPr/>
        </p:nvSpPr>
        <p:spPr>
          <a:xfrm>
            <a:off x="657225" y="2328863"/>
            <a:ext cx="1414463" cy="221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LangGraph</a:t>
            </a:r>
            <a:endParaRPr sz="1100"/>
          </a:p>
        </p:txBody>
      </p:sp>
      <p:sp>
        <p:nvSpPr>
          <p:cNvPr id="113" name="Google Shape;113;p17"/>
          <p:cNvSpPr/>
          <p:nvPr/>
        </p:nvSpPr>
        <p:spPr>
          <a:xfrm>
            <a:off x="2214563" y="2343150"/>
            <a:ext cx="22860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Durable runtime</a:t>
            </a:r>
            <a:endParaRPr sz="1100"/>
          </a:p>
        </p:txBody>
      </p:sp>
      <p:sp>
        <p:nvSpPr>
          <p:cNvPr id="114" name="Google Shape;114;p17"/>
          <p:cNvSpPr/>
          <p:nvPr/>
        </p:nvSpPr>
        <p:spPr>
          <a:xfrm>
            <a:off x="5250656" y="2314575"/>
            <a:ext cx="3143250" cy="38576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4181C"/>
              </a:buClr>
              <a:buSzPts val="1100"/>
              <a:buFont typeface="Arial"/>
              <a:buNone/>
            </a:pPr>
            <a:r>
              <a:rPr b="0" lang="en" sz="1100">
                <a:solidFill>
                  <a:srgbClr val="14181C"/>
                </a:solidFill>
                <a:latin typeface="Arial"/>
                <a:ea typeface="Arial"/>
                <a:cs typeface="Arial"/>
                <a:sym typeface="Arial"/>
              </a:rPr>
              <a:t>State, checkpointing, streaming, interrupts, resume</a:t>
            </a:r>
            <a:endParaRPr sz="1100"/>
          </a:p>
        </p:txBody>
      </p:sp>
      <p:sp>
        <p:nvSpPr>
          <p:cNvPr id="115" name="Google Shape;115;p17"/>
          <p:cNvSpPr/>
          <p:nvPr/>
        </p:nvSpPr>
        <p:spPr>
          <a:xfrm>
            <a:off x="514350" y="2886075"/>
            <a:ext cx="8058150" cy="614363"/>
          </a:xfrm>
          <a:prstGeom prst="rect">
            <a:avLst/>
          </a:prstGeom>
          <a:solidFill>
            <a:srgbClr val="FAFBF8"/>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17"/>
          <p:cNvSpPr/>
          <p:nvPr/>
        </p:nvSpPr>
        <p:spPr>
          <a:xfrm>
            <a:off x="657225" y="3014663"/>
            <a:ext cx="1414463" cy="221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LangChain</a:t>
            </a:r>
            <a:endParaRPr sz="1100"/>
          </a:p>
        </p:txBody>
      </p:sp>
      <p:sp>
        <p:nvSpPr>
          <p:cNvPr id="117" name="Google Shape;117;p17"/>
          <p:cNvSpPr/>
          <p:nvPr/>
        </p:nvSpPr>
        <p:spPr>
          <a:xfrm>
            <a:off x="2214563" y="3028950"/>
            <a:ext cx="22860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Agent framework</a:t>
            </a:r>
            <a:endParaRPr sz="1100"/>
          </a:p>
        </p:txBody>
      </p:sp>
      <p:sp>
        <p:nvSpPr>
          <p:cNvPr id="118" name="Google Shape;118;p17"/>
          <p:cNvSpPr/>
          <p:nvPr/>
        </p:nvSpPr>
        <p:spPr>
          <a:xfrm>
            <a:off x="5250656" y="3000375"/>
            <a:ext cx="3143250" cy="38576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4181C"/>
              </a:buClr>
              <a:buSzPts val="1100"/>
              <a:buFont typeface="Arial"/>
              <a:buNone/>
            </a:pPr>
            <a:r>
              <a:rPr b="0" lang="en" sz="1100">
                <a:solidFill>
                  <a:srgbClr val="14181C"/>
                </a:solidFill>
                <a:latin typeface="Arial"/>
                <a:ea typeface="Arial"/>
                <a:cs typeface="Arial"/>
                <a:sym typeface="Arial"/>
              </a:rPr>
              <a:t>Tools, middleware, agent loop, typed structured output</a:t>
            </a:r>
            <a:endParaRPr sz="1100"/>
          </a:p>
        </p:txBody>
      </p:sp>
      <p:sp>
        <p:nvSpPr>
          <p:cNvPr id="119" name="Google Shape;119;p17"/>
          <p:cNvSpPr/>
          <p:nvPr/>
        </p:nvSpPr>
        <p:spPr>
          <a:xfrm>
            <a:off x="514350" y="3571875"/>
            <a:ext cx="8058150" cy="614363"/>
          </a:xfrm>
          <a:prstGeom prst="rect">
            <a:avLst/>
          </a:prstGeom>
          <a:solidFill>
            <a:srgbClr val="E2ECE4"/>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17"/>
          <p:cNvSpPr/>
          <p:nvPr/>
        </p:nvSpPr>
        <p:spPr>
          <a:xfrm>
            <a:off x="657225" y="3700463"/>
            <a:ext cx="1414463" cy="2214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LangSmith</a:t>
            </a:r>
            <a:endParaRPr sz="1100"/>
          </a:p>
        </p:txBody>
      </p:sp>
      <p:sp>
        <p:nvSpPr>
          <p:cNvPr id="121" name="Google Shape;121;p17"/>
          <p:cNvSpPr/>
          <p:nvPr/>
        </p:nvSpPr>
        <p:spPr>
          <a:xfrm>
            <a:off x="2214563" y="3714750"/>
            <a:ext cx="22860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Engineering lifecycle</a:t>
            </a:r>
            <a:endParaRPr sz="1100"/>
          </a:p>
        </p:txBody>
      </p:sp>
      <p:sp>
        <p:nvSpPr>
          <p:cNvPr id="122" name="Google Shape;122;p17"/>
          <p:cNvSpPr/>
          <p:nvPr/>
        </p:nvSpPr>
        <p:spPr>
          <a:xfrm>
            <a:off x="5250656" y="3686175"/>
            <a:ext cx="3143250" cy="38576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4181C"/>
              </a:buClr>
              <a:buSzPts val="1100"/>
              <a:buFont typeface="Arial"/>
              <a:buNone/>
            </a:pPr>
            <a:r>
              <a:rPr b="0" lang="en" sz="1100">
                <a:solidFill>
                  <a:srgbClr val="14181C"/>
                </a:solidFill>
                <a:latin typeface="Arial"/>
                <a:ea typeface="Arial"/>
                <a:cs typeface="Arial"/>
                <a:sym typeface="Arial"/>
              </a:rPr>
              <a:t>Traces, datasets, experiments, evaluation, monitoring</a:t>
            </a:r>
            <a:endParaRPr sz="1100"/>
          </a:p>
        </p:txBody>
      </p:sp>
      <p:sp>
        <p:nvSpPr>
          <p:cNvPr id="123" name="Google Shape;123;p17"/>
          <p:cNvSpPr/>
          <p:nvPr/>
        </p:nvSpPr>
        <p:spPr>
          <a:xfrm>
            <a:off x="514350" y="4414838"/>
            <a:ext cx="8058150" cy="24288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4726A"/>
              </a:buClr>
              <a:buSzPts val="1500"/>
              <a:buFont typeface="Arial"/>
              <a:buNone/>
            </a:pPr>
            <a:r>
              <a:rPr b="1" lang="en" sz="1500">
                <a:solidFill>
                  <a:srgbClr val="24726A"/>
                </a:solidFill>
                <a:latin typeface="Arial"/>
                <a:ea typeface="Arial"/>
                <a:cs typeface="Arial"/>
                <a:sym typeface="Arial"/>
              </a:rPr>
              <a:t>Choose the smallest layer that solves the problem.</a:t>
            </a:r>
            <a:endParaRPr sz="1100"/>
          </a:p>
        </p:txBody>
      </p:sp>
      <p:sp>
        <p:nvSpPr>
          <p:cNvPr id="124" name="Google Shape;124;p17"/>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125" name="Google Shape;125;p17"/>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03</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130" name="Shape 130"/>
        <p:cNvGrpSpPr/>
        <p:nvPr/>
      </p:nvGrpSpPr>
      <p:grpSpPr>
        <a:xfrm>
          <a:off x="0" y="0"/>
          <a:ext cx="0" cy="0"/>
          <a:chOff x="0" y="0"/>
          <a:chExt cx="0" cy="0"/>
        </a:xfrm>
      </p:grpSpPr>
      <p:sp>
        <p:nvSpPr>
          <p:cNvPr id="131" name="Google Shape;131;p18"/>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ARCHITECTURE</a:t>
            </a:r>
            <a:endParaRPr sz="1100"/>
          </a:p>
        </p:txBody>
      </p:sp>
      <p:sp>
        <p:nvSpPr>
          <p:cNvPr id="132" name="Google Shape;132;p18"/>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A subagent is a context window with a job</a:t>
            </a:r>
            <a:endParaRPr sz="1100"/>
          </a:p>
        </p:txBody>
      </p:sp>
      <p:cxnSp>
        <p:nvCxnSpPr>
          <p:cNvPr id="133" name="Google Shape;133;p18"/>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134" name="Google Shape;134;p18"/>
          <p:cNvSpPr/>
          <p:nvPr/>
        </p:nvSpPr>
        <p:spPr>
          <a:xfrm>
            <a:off x="2786063" y="1200150"/>
            <a:ext cx="3571875" cy="557213"/>
          </a:xfrm>
          <a:prstGeom prst="roundRect">
            <a:avLst>
              <a:gd fmla="val 8974" name="adj"/>
            </a:avLst>
          </a:prstGeom>
          <a:solidFill>
            <a:srgbClr val="DCE8E5"/>
          </a:solidFill>
          <a:ln cap="flat" cmpd="sng" w="152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 name="Google Shape;135;p18"/>
          <p:cNvSpPr/>
          <p:nvPr/>
        </p:nvSpPr>
        <p:spPr>
          <a:xfrm>
            <a:off x="2886075" y="1293019"/>
            <a:ext cx="337185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wealth supervisor</a:t>
            </a:r>
            <a:endParaRPr sz="1100"/>
          </a:p>
        </p:txBody>
      </p:sp>
      <p:sp>
        <p:nvSpPr>
          <p:cNvPr id="136" name="Google Shape;136;p18"/>
          <p:cNvSpPr/>
          <p:nvPr/>
        </p:nvSpPr>
        <p:spPr>
          <a:xfrm>
            <a:off x="2886075" y="1535906"/>
            <a:ext cx="3371850" cy="1714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900"/>
              <a:buFont typeface="Arial"/>
              <a:buNone/>
            </a:pPr>
            <a:r>
              <a:rPr b="0" lang="en" sz="900">
                <a:solidFill>
                  <a:srgbClr val="6E7A80"/>
                </a:solidFill>
                <a:latin typeface="Arial"/>
                <a:ea typeface="Arial"/>
                <a:cs typeface="Arial"/>
                <a:sym typeface="Arial"/>
              </a:rPr>
              <a:t>create_deep_agent · plans, delegates, writes the memo</a:t>
            </a:r>
            <a:endParaRPr sz="1100"/>
          </a:p>
        </p:txBody>
      </p:sp>
      <p:sp>
        <p:nvSpPr>
          <p:cNvPr id="137" name="Google Shape;137;p18"/>
          <p:cNvSpPr/>
          <p:nvPr/>
        </p:nvSpPr>
        <p:spPr>
          <a:xfrm>
            <a:off x="514350" y="2300288"/>
            <a:ext cx="1785937" cy="671513"/>
          </a:xfrm>
          <a:prstGeom prst="roundRect">
            <a:avLst>
              <a:gd fmla="val 7447" name="adj"/>
            </a:avLst>
          </a:prstGeom>
          <a:solidFill>
            <a:srgbClr val="FAFBF8"/>
          </a:solidFill>
          <a:ln cap="flat" cmpd="sng" w="11425">
            <a:solidFill>
              <a:srgbClr val="A9B3A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 name="Google Shape;138;p18"/>
          <p:cNvSpPr/>
          <p:nvPr/>
        </p:nvSpPr>
        <p:spPr>
          <a:xfrm>
            <a:off x="614363" y="2393156"/>
            <a:ext cx="158591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portfolio analyst</a:t>
            </a:r>
            <a:endParaRPr sz="1100"/>
          </a:p>
        </p:txBody>
      </p:sp>
      <p:sp>
        <p:nvSpPr>
          <p:cNvPr id="139" name="Google Shape;139;p18"/>
          <p:cNvSpPr/>
          <p:nvPr/>
        </p:nvSpPr>
        <p:spPr>
          <a:xfrm>
            <a:off x="614363" y="2636044"/>
            <a:ext cx="1585913" cy="2857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Roboto Mono"/>
              <a:buNone/>
            </a:pPr>
            <a:r>
              <a:rPr b="0" lang="en" sz="800">
                <a:solidFill>
                  <a:srgbClr val="6E7A80"/>
                </a:solidFill>
                <a:latin typeface="Roboto Mono"/>
                <a:ea typeface="Roboto Mono"/>
                <a:cs typeface="Roboto Mono"/>
                <a:sym typeface="Roboto Mono"/>
              </a:rPr>
              <a:t>DEEP · holdings and concentration</a:t>
            </a:r>
            <a:endParaRPr sz="1100"/>
          </a:p>
        </p:txBody>
      </p:sp>
      <p:sp>
        <p:nvSpPr>
          <p:cNvPr id="140" name="Google Shape;140;p18"/>
          <p:cNvSpPr/>
          <p:nvPr/>
        </p:nvSpPr>
        <p:spPr>
          <a:xfrm>
            <a:off x="2457450" y="2300288"/>
            <a:ext cx="1785938" cy="671513"/>
          </a:xfrm>
          <a:prstGeom prst="roundRect">
            <a:avLst>
              <a:gd fmla="val 7447" name="adj"/>
            </a:avLst>
          </a:prstGeom>
          <a:solidFill>
            <a:srgbClr val="FAFBF8"/>
          </a:solidFill>
          <a:ln cap="flat" cmpd="sng" w="11425">
            <a:solidFill>
              <a:srgbClr val="A9B3A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1" name="Google Shape;141;p18"/>
          <p:cNvSpPr/>
          <p:nvPr/>
        </p:nvSpPr>
        <p:spPr>
          <a:xfrm>
            <a:off x="2557463" y="2393156"/>
            <a:ext cx="158591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spend analyst</a:t>
            </a:r>
            <a:endParaRPr sz="1100"/>
          </a:p>
        </p:txBody>
      </p:sp>
      <p:sp>
        <p:nvSpPr>
          <p:cNvPr id="142" name="Google Shape;142;p18"/>
          <p:cNvSpPr/>
          <p:nvPr/>
        </p:nvSpPr>
        <p:spPr>
          <a:xfrm>
            <a:off x="2557463" y="2636044"/>
            <a:ext cx="1585913" cy="2857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Roboto Mono"/>
              <a:buNone/>
            </a:pPr>
            <a:r>
              <a:rPr b="0" lang="en" sz="800">
                <a:solidFill>
                  <a:srgbClr val="6E7A80"/>
                </a:solidFill>
                <a:latin typeface="Roboto Mono"/>
                <a:ea typeface="Roboto Mono"/>
                <a:cs typeface="Roboto Mono"/>
                <a:sym typeface="Roboto Mono"/>
              </a:rPr>
              <a:t>DEEP · six months of transactions</a:t>
            </a:r>
            <a:endParaRPr sz="1100"/>
          </a:p>
        </p:txBody>
      </p:sp>
      <p:sp>
        <p:nvSpPr>
          <p:cNvPr id="143" name="Google Shape;143;p18"/>
          <p:cNvSpPr/>
          <p:nvPr/>
        </p:nvSpPr>
        <p:spPr>
          <a:xfrm>
            <a:off x="4400550" y="2300288"/>
            <a:ext cx="1785938" cy="671513"/>
          </a:xfrm>
          <a:prstGeom prst="roundRect">
            <a:avLst>
              <a:gd fmla="val 7447" name="adj"/>
            </a:avLst>
          </a:prstGeom>
          <a:solidFill>
            <a:srgbClr val="FAFBF8"/>
          </a:solidFill>
          <a:ln cap="flat" cmpd="sng" w="11425">
            <a:solidFill>
              <a:srgbClr val="A9B3A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4" name="Google Shape;144;p18"/>
          <p:cNvSpPr/>
          <p:nvPr/>
        </p:nvSpPr>
        <p:spPr>
          <a:xfrm>
            <a:off x="4500563" y="2393156"/>
            <a:ext cx="158591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market researcher</a:t>
            </a:r>
            <a:endParaRPr sz="1100"/>
          </a:p>
        </p:txBody>
      </p:sp>
      <p:sp>
        <p:nvSpPr>
          <p:cNvPr id="145" name="Google Shape;145;p18"/>
          <p:cNvSpPr/>
          <p:nvPr/>
        </p:nvSpPr>
        <p:spPr>
          <a:xfrm>
            <a:off x="4500563" y="2636044"/>
            <a:ext cx="1585913" cy="2857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Roboto Mono"/>
              <a:buNone/>
            </a:pPr>
            <a:r>
              <a:rPr b="0" lang="en" sz="800">
                <a:solidFill>
                  <a:srgbClr val="6E7A80"/>
                </a:solidFill>
                <a:latin typeface="Roboto Mono"/>
                <a:ea typeface="Roboto Mono"/>
                <a:cs typeface="Roboto Mono"/>
                <a:sym typeface="Roboto Mono"/>
              </a:rPr>
              <a:t>DEEP · search, read, follow leads</a:t>
            </a:r>
            <a:endParaRPr sz="1100"/>
          </a:p>
        </p:txBody>
      </p:sp>
      <p:sp>
        <p:nvSpPr>
          <p:cNvPr id="146" name="Google Shape;146;p18"/>
          <p:cNvSpPr/>
          <p:nvPr/>
        </p:nvSpPr>
        <p:spPr>
          <a:xfrm>
            <a:off x="6343650" y="2300288"/>
            <a:ext cx="2286000" cy="671513"/>
          </a:xfrm>
          <a:prstGeom prst="roundRect">
            <a:avLst>
              <a:gd fmla="val 7447" name="adj"/>
            </a:avLst>
          </a:prstGeom>
          <a:solidFill>
            <a:srgbClr val="FAFBF8"/>
          </a:solidFill>
          <a:ln cap="flat" cmpd="sng" w="11425">
            <a:solidFill>
              <a:srgbClr val="A9B3AC"/>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7" name="Google Shape;147;p18"/>
          <p:cNvSpPr/>
          <p:nvPr/>
        </p:nvSpPr>
        <p:spPr>
          <a:xfrm>
            <a:off x="6443663" y="2393156"/>
            <a:ext cx="2085975"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allocation strategist</a:t>
            </a:r>
            <a:endParaRPr sz="1100"/>
          </a:p>
        </p:txBody>
      </p:sp>
      <p:sp>
        <p:nvSpPr>
          <p:cNvPr id="148" name="Google Shape;148;p18"/>
          <p:cNvSpPr/>
          <p:nvPr/>
        </p:nvSpPr>
        <p:spPr>
          <a:xfrm>
            <a:off x="6443663" y="2636044"/>
            <a:ext cx="2085975" cy="285750"/>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Roboto Mono"/>
              <a:buNone/>
            </a:pPr>
            <a:r>
              <a:rPr b="0" lang="en" sz="800">
                <a:solidFill>
                  <a:srgbClr val="6E7A80"/>
                </a:solidFill>
                <a:latin typeface="Roboto Mono"/>
                <a:ea typeface="Roboto Mono"/>
                <a:cs typeface="Roboto Mono"/>
                <a:sym typeface="Roboto Mono"/>
              </a:rPr>
              <a:t>SHALLOW · typed recommendation</a:t>
            </a:r>
            <a:endParaRPr sz="1100"/>
          </a:p>
        </p:txBody>
      </p:sp>
      <p:sp>
        <p:nvSpPr>
          <p:cNvPr id="149" name="Google Shape;149;p18"/>
          <p:cNvSpPr/>
          <p:nvPr/>
        </p:nvSpPr>
        <p:spPr>
          <a:xfrm>
            <a:off x="1000125" y="3729038"/>
            <a:ext cx="5286375" cy="542925"/>
          </a:xfrm>
          <a:prstGeom prst="roundRect">
            <a:avLst>
              <a:gd fmla="val 9211" name="adj"/>
            </a:avLst>
          </a:prstGeom>
          <a:solidFill>
            <a:srgbClr val="FAFBF8"/>
          </a:solidFill>
          <a:ln cap="flat" cmpd="sng" w="171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18"/>
          <p:cNvSpPr/>
          <p:nvPr/>
        </p:nvSpPr>
        <p:spPr>
          <a:xfrm>
            <a:off x="1100137" y="3821906"/>
            <a:ext cx="508635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4726A"/>
              </a:buClr>
              <a:buSzPts val="1300"/>
              <a:buFont typeface="Arial"/>
              <a:buNone/>
            </a:pPr>
            <a:r>
              <a:rPr b="1" lang="en" sz="1300">
                <a:solidFill>
                  <a:srgbClr val="24726A"/>
                </a:solidFill>
                <a:latin typeface="Arial"/>
                <a:ea typeface="Arial"/>
                <a:cs typeface="Arial"/>
                <a:sym typeface="Arial"/>
              </a:rPr>
              <a:t>append-only grounding ledger</a:t>
            </a:r>
            <a:endParaRPr sz="1100"/>
          </a:p>
        </p:txBody>
      </p:sp>
      <p:sp>
        <p:nvSpPr>
          <p:cNvPr id="151" name="Google Shape;151;p18"/>
          <p:cNvSpPr/>
          <p:nvPr/>
        </p:nvSpPr>
        <p:spPr>
          <a:xfrm>
            <a:off x="1100137" y="4064794"/>
            <a:ext cx="5086350" cy="157163"/>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900"/>
              <a:buFont typeface="Arial"/>
              <a:buNone/>
            </a:pPr>
            <a:r>
              <a:rPr b="0" lang="en" sz="900">
                <a:solidFill>
                  <a:srgbClr val="6E7A80"/>
                </a:solidFill>
                <a:latin typeface="Arial"/>
                <a:ea typeface="Arial"/>
                <a:cs typeface="Arial"/>
                <a:sym typeface="Arial"/>
              </a:rPr>
              <a:t>Every tool result · captured by middleware on each agent</a:t>
            </a:r>
            <a:endParaRPr sz="1100"/>
          </a:p>
        </p:txBody>
      </p:sp>
      <p:sp>
        <p:nvSpPr>
          <p:cNvPr id="152" name="Google Shape;152;p18"/>
          <p:cNvSpPr/>
          <p:nvPr/>
        </p:nvSpPr>
        <p:spPr>
          <a:xfrm>
            <a:off x="6657975" y="3729038"/>
            <a:ext cx="1971675" cy="542925"/>
          </a:xfrm>
          <a:prstGeom prst="roundRect">
            <a:avLst>
              <a:gd fmla="val 9211" name="adj"/>
            </a:avLst>
          </a:prstGeom>
          <a:solidFill>
            <a:srgbClr val="FAFBF8"/>
          </a:solidFill>
          <a:ln cap="flat" cmpd="sng" w="11425">
            <a:solidFill>
              <a:srgbClr val="444E54"/>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 name="Google Shape;153;p18"/>
          <p:cNvSpPr/>
          <p:nvPr/>
        </p:nvSpPr>
        <p:spPr>
          <a:xfrm>
            <a:off x="6757988" y="3821906"/>
            <a:ext cx="177165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300"/>
              <a:buFont typeface="Arial"/>
              <a:buNone/>
            </a:pPr>
            <a:r>
              <a:rPr b="1" lang="en" sz="1300">
                <a:solidFill>
                  <a:srgbClr val="14181C"/>
                </a:solidFill>
                <a:latin typeface="Arial"/>
                <a:ea typeface="Arial"/>
                <a:cs typeface="Arial"/>
                <a:sym typeface="Arial"/>
              </a:rPr>
              <a:t>verifier</a:t>
            </a:r>
            <a:endParaRPr sz="1100"/>
          </a:p>
        </p:txBody>
      </p:sp>
      <p:sp>
        <p:nvSpPr>
          <p:cNvPr id="154" name="Google Shape;154;p18"/>
          <p:cNvSpPr/>
          <p:nvPr/>
        </p:nvSpPr>
        <p:spPr>
          <a:xfrm>
            <a:off x="6757988" y="4064794"/>
            <a:ext cx="1771650" cy="157163"/>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SHALLOW · fixed checks</a:t>
            </a:r>
            <a:endParaRPr sz="1100"/>
          </a:p>
        </p:txBody>
      </p:sp>
      <p:cxnSp>
        <p:nvCxnSpPr>
          <p:cNvPr id="155" name="Google Shape;155;p18"/>
          <p:cNvCxnSpPr>
            <a:stCxn id="134" idx="2"/>
            <a:endCxn id="137" idx="0"/>
          </p:cNvCxnSpPr>
          <p:nvPr/>
        </p:nvCxnSpPr>
        <p:spPr>
          <a:xfrm rot="5400000">
            <a:off x="2718150" y="446513"/>
            <a:ext cx="543000" cy="3164700"/>
          </a:xfrm>
          <a:prstGeom prst="bentConnector4">
            <a:avLst>
              <a:gd fmla="val 0" name="adj1"/>
              <a:gd fmla="val 0" name="adj2"/>
            </a:avLst>
          </a:prstGeom>
          <a:noFill/>
          <a:ln cap="flat" cmpd="sng" w="14275">
            <a:solidFill>
              <a:srgbClr val="A9B3AC"/>
            </a:solidFill>
            <a:prstDash val="solid"/>
            <a:round/>
            <a:headEnd len="sm" w="sm" type="none"/>
            <a:tailEnd len="sm" w="sm" type="triangle"/>
          </a:ln>
        </p:spPr>
      </p:cxnSp>
      <p:cxnSp>
        <p:nvCxnSpPr>
          <p:cNvPr id="156" name="Google Shape;156;p18"/>
          <p:cNvCxnSpPr>
            <a:stCxn id="134" idx="2"/>
            <a:endCxn id="140" idx="0"/>
          </p:cNvCxnSpPr>
          <p:nvPr/>
        </p:nvCxnSpPr>
        <p:spPr>
          <a:xfrm rot="5400000">
            <a:off x="3689700" y="1418063"/>
            <a:ext cx="543000" cy="1221600"/>
          </a:xfrm>
          <a:prstGeom prst="bentConnector4">
            <a:avLst>
              <a:gd fmla="val 0" name="adj1"/>
              <a:gd fmla="val 0" name="adj2"/>
            </a:avLst>
          </a:prstGeom>
          <a:noFill/>
          <a:ln cap="flat" cmpd="sng" w="14275">
            <a:solidFill>
              <a:srgbClr val="A9B3AC"/>
            </a:solidFill>
            <a:prstDash val="solid"/>
            <a:round/>
            <a:headEnd len="sm" w="sm" type="none"/>
            <a:tailEnd len="sm" w="sm" type="triangle"/>
          </a:ln>
        </p:spPr>
      </p:cxnSp>
      <p:cxnSp>
        <p:nvCxnSpPr>
          <p:cNvPr id="157" name="Google Shape;157;p18"/>
          <p:cNvCxnSpPr>
            <a:stCxn id="134" idx="2"/>
            <a:endCxn id="143" idx="0"/>
          </p:cNvCxnSpPr>
          <p:nvPr/>
        </p:nvCxnSpPr>
        <p:spPr>
          <a:xfrm flipH="1" rot="-5400000">
            <a:off x="4661250" y="1668113"/>
            <a:ext cx="543000" cy="721500"/>
          </a:xfrm>
          <a:prstGeom prst="bentConnector4">
            <a:avLst>
              <a:gd fmla="val 0" name="adj1"/>
              <a:gd fmla="val 0" name="adj2"/>
            </a:avLst>
          </a:prstGeom>
          <a:noFill/>
          <a:ln cap="flat" cmpd="sng" w="14275">
            <a:solidFill>
              <a:srgbClr val="A9B3AC"/>
            </a:solidFill>
            <a:prstDash val="solid"/>
            <a:round/>
            <a:headEnd len="sm" w="sm" type="none"/>
            <a:tailEnd len="sm" w="sm" type="triangle"/>
          </a:ln>
        </p:spPr>
      </p:cxnSp>
      <p:cxnSp>
        <p:nvCxnSpPr>
          <p:cNvPr id="158" name="Google Shape;158;p18"/>
          <p:cNvCxnSpPr>
            <a:stCxn id="134" idx="2"/>
            <a:endCxn id="146" idx="0"/>
          </p:cNvCxnSpPr>
          <p:nvPr/>
        </p:nvCxnSpPr>
        <p:spPr>
          <a:xfrm flipH="1" rot="-5400000">
            <a:off x="5757900" y="571463"/>
            <a:ext cx="543000" cy="2914800"/>
          </a:xfrm>
          <a:prstGeom prst="bentConnector4">
            <a:avLst>
              <a:gd fmla="val 0" name="adj1"/>
              <a:gd fmla="val 0" name="adj2"/>
            </a:avLst>
          </a:prstGeom>
          <a:noFill/>
          <a:ln cap="flat" cmpd="sng" w="14275">
            <a:solidFill>
              <a:srgbClr val="A9B3AC"/>
            </a:solidFill>
            <a:prstDash val="solid"/>
            <a:round/>
            <a:headEnd len="sm" w="sm" type="none"/>
            <a:tailEnd len="sm" w="sm" type="triangle"/>
          </a:ln>
        </p:spPr>
      </p:cxnSp>
      <p:cxnSp>
        <p:nvCxnSpPr>
          <p:cNvPr id="159" name="Google Shape;159;p18"/>
          <p:cNvCxnSpPr>
            <a:stCxn id="137" idx="2"/>
            <a:endCxn id="149" idx="0"/>
          </p:cNvCxnSpPr>
          <p:nvPr/>
        </p:nvCxnSpPr>
        <p:spPr>
          <a:xfrm flipH="1" rot="-5400000">
            <a:off x="2146669" y="2232450"/>
            <a:ext cx="757200" cy="2235900"/>
          </a:xfrm>
          <a:prstGeom prst="bentConnector4">
            <a:avLst>
              <a:gd fmla="val 0" name="adj1"/>
              <a:gd fmla="val 0" name="adj2"/>
            </a:avLst>
          </a:prstGeom>
          <a:noFill/>
          <a:ln cap="flat" cmpd="sng" w="11900">
            <a:solidFill>
              <a:srgbClr val="24726A"/>
            </a:solidFill>
            <a:prstDash val="solid"/>
            <a:round/>
            <a:headEnd len="sm" w="sm" type="none"/>
            <a:tailEnd len="sm" w="sm" type="triangle"/>
          </a:ln>
        </p:spPr>
      </p:cxnSp>
      <p:cxnSp>
        <p:nvCxnSpPr>
          <p:cNvPr id="160" name="Google Shape;160;p18"/>
          <p:cNvCxnSpPr>
            <a:stCxn id="140" idx="2"/>
            <a:endCxn id="149" idx="0"/>
          </p:cNvCxnSpPr>
          <p:nvPr/>
        </p:nvCxnSpPr>
        <p:spPr>
          <a:xfrm flipH="1" rot="-5400000">
            <a:off x="3118219" y="3204000"/>
            <a:ext cx="757200" cy="292800"/>
          </a:xfrm>
          <a:prstGeom prst="bentConnector4">
            <a:avLst>
              <a:gd fmla="val 0" name="adj1"/>
              <a:gd fmla="val 0" name="adj2"/>
            </a:avLst>
          </a:prstGeom>
          <a:noFill/>
          <a:ln cap="flat" cmpd="sng" w="11900">
            <a:solidFill>
              <a:srgbClr val="24726A"/>
            </a:solidFill>
            <a:prstDash val="solid"/>
            <a:round/>
            <a:headEnd len="sm" w="sm" type="none"/>
            <a:tailEnd len="sm" w="sm" type="triangle"/>
          </a:ln>
        </p:spPr>
      </p:cxnSp>
      <p:cxnSp>
        <p:nvCxnSpPr>
          <p:cNvPr id="161" name="Google Shape;161;p18"/>
          <p:cNvCxnSpPr>
            <a:stCxn id="143" idx="2"/>
            <a:endCxn id="149" idx="0"/>
          </p:cNvCxnSpPr>
          <p:nvPr/>
        </p:nvCxnSpPr>
        <p:spPr>
          <a:xfrm rot="5400000">
            <a:off x="4089769" y="2525250"/>
            <a:ext cx="757200" cy="1650300"/>
          </a:xfrm>
          <a:prstGeom prst="bentConnector4">
            <a:avLst>
              <a:gd fmla="val 0" name="adj1"/>
              <a:gd fmla="val 0" name="adj2"/>
            </a:avLst>
          </a:prstGeom>
          <a:noFill/>
          <a:ln cap="flat" cmpd="sng" w="11900">
            <a:solidFill>
              <a:srgbClr val="24726A"/>
            </a:solidFill>
            <a:prstDash val="solid"/>
            <a:round/>
            <a:headEnd len="sm" w="sm" type="none"/>
            <a:tailEnd len="sm" w="sm" type="triangle"/>
          </a:ln>
        </p:spPr>
      </p:cxnSp>
      <p:cxnSp>
        <p:nvCxnSpPr>
          <p:cNvPr id="162" name="Google Shape;162;p18"/>
          <p:cNvCxnSpPr>
            <a:stCxn id="146" idx="2"/>
            <a:endCxn id="149" idx="0"/>
          </p:cNvCxnSpPr>
          <p:nvPr/>
        </p:nvCxnSpPr>
        <p:spPr>
          <a:xfrm rot="5400000">
            <a:off x="5186400" y="1428750"/>
            <a:ext cx="757200" cy="3843300"/>
          </a:xfrm>
          <a:prstGeom prst="bentConnector4">
            <a:avLst>
              <a:gd fmla="val 0" name="adj1"/>
              <a:gd fmla="val 0" name="adj2"/>
            </a:avLst>
          </a:prstGeom>
          <a:noFill/>
          <a:ln cap="flat" cmpd="sng" w="11900">
            <a:solidFill>
              <a:srgbClr val="24726A"/>
            </a:solidFill>
            <a:prstDash val="solid"/>
            <a:round/>
            <a:headEnd len="sm" w="sm" type="none"/>
            <a:tailEnd len="sm" w="sm" type="triangle"/>
          </a:ln>
        </p:spPr>
      </p:cxnSp>
      <p:cxnSp>
        <p:nvCxnSpPr>
          <p:cNvPr id="163" name="Google Shape;163;p18"/>
          <p:cNvCxnSpPr>
            <a:stCxn id="149" idx="3"/>
            <a:endCxn id="152" idx="1"/>
          </p:cNvCxnSpPr>
          <p:nvPr/>
        </p:nvCxnSpPr>
        <p:spPr>
          <a:xfrm>
            <a:off x="6286500" y="4000500"/>
            <a:ext cx="371400" cy="0"/>
          </a:xfrm>
          <a:prstGeom prst="straightConnector1">
            <a:avLst/>
          </a:prstGeom>
          <a:noFill/>
          <a:ln cap="flat" cmpd="sng" w="14275">
            <a:solidFill>
              <a:srgbClr val="444E54"/>
            </a:solidFill>
            <a:prstDash val="solid"/>
            <a:round/>
            <a:headEnd len="sm" w="sm" type="none"/>
            <a:tailEnd len="sm" w="sm" type="triangle"/>
          </a:ln>
        </p:spPr>
      </p:cxnSp>
      <p:sp>
        <p:nvSpPr>
          <p:cNvPr id="164" name="Google Shape;164;p18"/>
          <p:cNvSpPr/>
          <p:nvPr/>
        </p:nvSpPr>
        <p:spPr>
          <a:xfrm>
            <a:off x="6515100" y="1785938"/>
            <a:ext cx="857250"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0" lang="en" sz="800">
                <a:solidFill>
                  <a:srgbClr val="6E7A80"/>
                </a:solidFill>
                <a:latin typeface="Roboto Mono"/>
                <a:ea typeface="Roboto Mono"/>
                <a:cs typeface="Roboto Mono"/>
                <a:sym typeface="Roboto Mono"/>
              </a:rPr>
              <a:t>delegates</a:t>
            </a:r>
            <a:endParaRPr sz="1100"/>
          </a:p>
        </p:txBody>
      </p:sp>
      <p:sp>
        <p:nvSpPr>
          <p:cNvPr id="165" name="Google Shape;165;p18"/>
          <p:cNvSpPr/>
          <p:nvPr/>
        </p:nvSpPr>
        <p:spPr>
          <a:xfrm>
            <a:off x="514350" y="3286125"/>
            <a:ext cx="107156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0" lang="en" sz="800">
                <a:solidFill>
                  <a:srgbClr val="24726A"/>
                </a:solidFill>
                <a:latin typeface="Roboto Mono"/>
                <a:ea typeface="Roboto Mono"/>
                <a:cs typeface="Roboto Mono"/>
                <a:sym typeface="Roboto Mono"/>
              </a:rPr>
              <a:t>writes evidence</a:t>
            </a:r>
            <a:endParaRPr sz="1100"/>
          </a:p>
        </p:txBody>
      </p:sp>
      <p:sp>
        <p:nvSpPr>
          <p:cNvPr id="166" name="Google Shape;166;p18"/>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167" name="Google Shape;167;p18"/>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04</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172" name="Shape 172"/>
        <p:cNvGrpSpPr/>
        <p:nvPr/>
      </p:nvGrpSpPr>
      <p:grpSpPr>
        <a:xfrm>
          <a:off x="0" y="0"/>
          <a:ext cx="0" cy="0"/>
          <a:chOff x="0" y="0"/>
          <a:chExt cx="0" cy="0"/>
        </a:xfrm>
      </p:grpSpPr>
      <p:sp>
        <p:nvSpPr>
          <p:cNvPr id="173" name="Google Shape;173;p19"/>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DESIGN PRINCIPLE</a:t>
            </a:r>
            <a:endParaRPr sz="1100"/>
          </a:p>
        </p:txBody>
      </p:sp>
      <p:sp>
        <p:nvSpPr>
          <p:cNvPr id="174" name="Google Shape;174;p19"/>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Agentic decisions. Deterministic checks.</a:t>
            </a:r>
            <a:endParaRPr sz="1100"/>
          </a:p>
        </p:txBody>
      </p:sp>
      <p:cxnSp>
        <p:nvCxnSpPr>
          <p:cNvPr id="175" name="Google Shape;175;p19"/>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cxnSp>
        <p:nvCxnSpPr>
          <p:cNvPr id="176" name="Google Shape;176;p19"/>
          <p:cNvCxnSpPr/>
          <p:nvPr/>
        </p:nvCxnSpPr>
        <p:spPr>
          <a:xfrm>
            <a:off x="4572000" y="1414463"/>
            <a:ext cx="0" cy="2657475"/>
          </a:xfrm>
          <a:prstGeom prst="straightConnector1">
            <a:avLst/>
          </a:prstGeom>
          <a:noFill/>
          <a:ln cap="flat" cmpd="sng" w="14275">
            <a:solidFill>
              <a:srgbClr val="A9B3AC"/>
            </a:solidFill>
            <a:prstDash val="solid"/>
            <a:round/>
            <a:headEnd len="sm" w="sm" type="none"/>
            <a:tailEnd len="sm" w="sm" type="none"/>
          </a:ln>
        </p:spPr>
      </p:cxnSp>
      <p:sp>
        <p:nvSpPr>
          <p:cNvPr id="177" name="Google Shape;177;p19"/>
          <p:cNvSpPr/>
          <p:nvPr/>
        </p:nvSpPr>
        <p:spPr>
          <a:xfrm>
            <a:off x="628650" y="1357313"/>
            <a:ext cx="3357563"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900"/>
              <a:buFont typeface="Roboto Mono"/>
              <a:buNone/>
            </a:pPr>
            <a:r>
              <a:rPr b="1" lang="en" sz="900">
                <a:solidFill>
                  <a:srgbClr val="24726A"/>
                </a:solidFill>
                <a:latin typeface="Roboto Mono"/>
                <a:ea typeface="Roboto Mono"/>
                <a:cs typeface="Roboto Mono"/>
                <a:sym typeface="Roboto Mono"/>
              </a:rPr>
              <a:t>THE MODEL DECIDES</a:t>
            </a:r>
            <a:endParaRPr sz="1100"/>
          </a:p>
        </p:txBody>
      </p:sp>
      <p:sp>
        <p:nvSpPr>
          <p:cNvPr id="178" name="Google Shape;178;p19"/>
          <p:cNvSpPr/>
          <p:nvPr/>
        </p:nvSpPr>
        <p:spPr>
          <a:xfrm>
            <a:off x="5000625" y="1357313"/>
            <a:ext cx="3357563"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900"/>
              <a:buFont typeface="Roboto Mono"/>
              <a:buNone/>
            </a:pPr>
            <a:r>
              <a:rPr b="1" lang="en" sz="900">
                <a:solidFill>
                  <a:srgbClr val="35704A"/>
                </a:solidFill>
                <a:latin typeface="Roboto Mono"/>
                <a:ea typeface="Roboto Mono"/>
                <a:cs typeface="Roboto Mono"/>
                <a:sym typeface="Roboto Mono"/>
              </a:rPr>
              <a:t>CODE ENFORCES</a:t>
            </a:r>
            <a:endParaRPr sz="1100"/>
          </a:p>
        </p:txBody>
      </p:sp>
      <p:sp>
        <p:nvSpPr>
          <p:cNvPr id="179" name="Google Shape;179;p19"/>
          <p:cNvSpPr/>
          <p:nvPr/>
        </p:nvSpPr>
        <p:spPr>
          <a:xfrm>
            <a:off x="628650" y="1785938"/>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Plan and delegate</a:t>
            </a:r>
            <a:endParaRPr sz="1100"/>
          </a:p>
        </p:txBody>
      </p:sp>
      <p:sp>
        <p:nvSpPr>
          <p:cNvPr id="180" name="Google Shape;180;p19"/>
          <p:cNvSpPr/>
          <p:nvPr/>
        </p:nvSpPr>
        <p:spPr>
          <a:xfrm>
            <a:off x="628650" y="2071688"/>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Which specialist should investigate next</a:t>
            </a:r>
            <a:endParaRPr sz="1100"/>
          </a:p>
        </p:txBody>
      </p:sp>
      <p:sp>
        <p:nvSpPr>
          <p:cNvPr id="181" name="Google Shape;181;p19"/>
          <p:cNvSpPr/>
          <p:nvPr/>
        </p:nvSpPr>
        <p:spPr>
          <a:xfrm>
            <a:off x="628650" y="2514600"/>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Research</a:t>
            </a:r>
            <a:endParaRPr sz="1100"/>
          </a:p>
        </p:txBody>
      </p:sp>
      <p:sp>
        <p:nvSpPr>
          <p:cNvPr id="182" name="Google Shape;182;p19"/>
          <p:cNvSpPr/>
          <p:nvPr/>
        </p:nvSpPr>
        <p:spPr>
          <a:xfrm>
            <a:off x="628650" y="2800350"/>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Which sources and follow-up leads matter</a:t>
            </a:r>
            <a:endParaRPr sz="1100"/>
          </a:p>
        </p:txBody>
      </p:sp>
      <p:sp>
        <p:nvSpPr>
          <p:cNvPr id="183" name="Google Shape;183;p19"/>
          <p:cNvSpPr/>
          <p:nvPr/>
        </p:nvSpPr>
        <p:spPr>
          <a:xfrm>
            <a:off x="628650" y="3243263"/>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Explain trade-offs</a:t>
            </a:r>
            <a:endParaRPr sz="1100"/>
          </a:p>
        </p:txBody>
      </p:sp>
      <p:sp>
        <p:nvSpPr>
          <p:cNvPr id="184" name="Google Shape;184;p19"/>
          <p:cNvSpPr/>
          <p:nvPr/>
        </p:nvSpPr>
        <p:spPr>
          <a:xfrm>
            <a:off x="628650" y="3529013"/>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How to communicate competing policy constraints</a:t>
            </a:r>
            <a:endParaRPr sz="1100"/>
          </a:p>
        </p:txBody>
      </p:sp>
      <p:sp>
        <p:nvSpPr>
          <p:cNvPr id="185" name="Google Shape;185;p19"/>
          <p:cNvSpPr/>
          <p:nvPr/>
        </p:nvSpPr>
        <p:spPr>
          <a:xfrm>
            <a:off x="5000625" y="1785938"/>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Compute</a:t>
            </a:r>
            <a:endParaRPr sz="1100"/>
          </a:p>
        </p:txBody>
      </p:sp>
      <p:sp>
        <p:nvSpPr>
          <p:cNvPr id="186" name="Google Shape;186;p19"/>
          <p:cNvSpPr/>
          <p:nvPr/>
        </p:nvSpPr>
        <p:spPr>
          <a:xfrm>
            <a:off x="5000625" y="2071688"/>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Portfolio weights, drift, runway, trade amounts</a:t>
            </a:r>
            <a:endParaRPr sz="1100"/>
          </a:p>
        </p:txBody>
      </p:sp>
      <p:sp>
        <p:nvSpPr>
          <p:cNvPr id="187" name="Google Shape;187;p19"/>
          <p:cNvSpPr/>
          <p:nvPr/>
        </p:nvSpPr>
        <p:spPr>
          <a:xfrm>
            <a:off x="5000625" y="2514600"/>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Record</a:t>
            </a:r>
            <a:endParaRPr sz="1100"/>
          </a:p>
        </p:txBody>
      </p:sp>
      <p:sp>
        <p:nvSpPr>
          <p:cNvPr id="188" name="Google Shape;188;p19"/>
          <p:cNvSpPr/>
          <p:nvPr/>
        </p:nvSpPr>
        <p:spPr>
          <a:xfrm>
            <a:off x="5000625" y="2800350"/>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Every tool result enters an append-only ledger</a:t>
            </a:r>
            <a:endParaRPr sz="1100"/>
          </a:p>
        </p:txBody>
      </p:sp>
      <p:sp>
        <p:nvSpPr>
          <p:cNvPr id="189" name="Google Shape;189;p19"/>
          <p:cNvSpPr/>
          <p:nvPr/>
        </p:nvSpPr>
        <p:spPr>
          <a:xfrm>
            <a:off x="5000625" y="3243263"/>
            <a:ext cx="335756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Gate</a:t>
            </a:r>
            <a:endParaRPr sz="1100"/>
          </a:p>
        </p:txBody>
      </p:sp>
      <p:sp>
        <p:nvSpPr>
          <p:cNvPr id="190" name="Google Shape;190;p19"/>
          <p:cNvSpPr/>
          <p:nvPr/>
        </p:nvSpPr>
        <p:spPr>
          <a:xfrm>
            <a:off x="5000625" y="3529013"/>
            <a:ext cx="3357563" cy="3000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Citations, figures, permissions, and release thresholds</a:t>
            </a:r>
            <a:endParaRPr sz="1100"/>
          </a:p>
        </p:txBody>
      </p:sp>
      <p:sp>
        <p:nvSpPr>
          <p:cNvPr id="191" name="Google Shape;191;p19"/>
          <p:cNvSpPr/>
          <p:nvPr/>
        </p:nvSpPr>
        <p:spPr>
          <a:xfrm>
            <a:off x="628650" y="4186238"/>
            <a:ext cx="7729538" cy="414338"/>
          </a:xfrm>
          <a:prstGeom prst="rect">
            <a:avLst/>
          </a:prstGeom>
          <a:solidFill>
            <a:srgbClr val="DCE8E5"/>
          </a:solidFill>
          <a:ln cap="flat" cmpd="sng" w="9525">
            <a:solidFill>
              <a:srgbClr val="DCE8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19"/>
          <p:cNvSpPr/>
          <p:nvPr/>
        </p:nvSpPr>
        <p:spPr>
          <a:xfrm>
            <a:off x="771525" y="4314825"/>
            <a:ext cx="7443787" cy="18573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000"/>
              <a:buFont typeface="Roboto Mono"/>
              <a:buNone/>
            </a:pPr>
            <a:r>
              <a:rPr b="1" lang="en" sz="1000">
                <a:solidFill>
                  <a:srgbClr val="14181C"/>
                </a:solidFill>
                <a:latin typeface="Roboto Mono"/>
                <a:ea typeface="Roboto Mono"/>
                <a:cs typeface="Roboto Mono"/>
                <a:sym typeface="Roboto Mono"/>
              </a:rPr>
              <a:t>create_deep_agent for open-ended work    ·    create_agent + response_format for bounded work</a:t>
            </a:r>
            <a:endParaRPr sz="1100"/>
          </a:p>
        </p:txBody>
      </p:sp>
      <p:sp>
        <p:nvSpPr>
          <p:cNvPr id="193" name="Google Shape;193;p19"/>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194" name="Google Shape;194;p19"/>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05</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199" name="Shape 199"/>
        <p:cNvGrpSpPr/>
        <p:nvPr/>
      </p:nvGrpSpPr>
      <p:grpSpPr>
        <a:xfrm>
          <a:off x="0" y="0"/>
          <a:ext cx="0" cy="0"/>
          <a:chOff x="0" y="0"/>
          <a:chExt cx="0" cy="0"/>
        </a:xfrm>
      </p:grpSpPr>
      <p:sp>
        <p:nvSpPr>
          <p:cNvPr id="200" name="Google Shape;200;p20"/>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DEMO</a:t>
            </a:r>
            <a:endParaRPr sz="1100"/>
          </a:p>
        </p:txBody>
      </p:sp>
      <p:sp>
        <p:nvSpPr>
          <p:cNvPr id="201" name="Google Shape;201;p20"/>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Begin with a ship / no-ship decision</a:t>
            </a:r>
            <a:endParaRPr sz="1100"/>
          </a:p>
        </p:txBody>
      </p:sp>
      <p:cxnSp>
        <p:nvCxnSpPr>
          <p:cNvPr id="202" name="Google Shape;202;p20"/>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203" name="Google Shape;203;p20"/>
          <p:cNvSpPr/>
          <p:nvPr/>
        </p:nvSpPr>
        <p:spPr>
          <a:xfrm>
            <a:off x="514350" y="1357313"/>
            <a:ext cx="38576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lang="en" sz="1000">
                <a:solidFill>
                  <a:srgbClr val="24726A"/>
                </a:solidFill>
                <a:latin typeface="Roboto Mono"/>
                <a:ea typeface="Roboto Mono"/>
                <a:cs typeface="Roboto Mono"/>
                <a:sym typeface="Roboto Mono"/>
              </a:rPr>
              <a:t>01</a:t>
            </a:r>
            <a:endParaRPr sz="1100"/>
          </a:p>
        </p:txBody>
      </p:sp>
      <p:sp>
        <p:nvSpPr>
          <p:cNvPr id="204" name="Google Shape;204;p20"/>
          <p:cNvSpPr/>
          <p:nvPr/>
        </p:nvSpPr>
        <p:spPr>
          <a:xfrm>
            <a:off x="1028700" y="1328738"/>
            <a:ext cx="3214688"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Open the naive memo</a:t>
            </a:r>
            <a:endParaRPr sz="1100"/>
          </a:p>
        </p:txBody>
      </p:sp>
      <p:sp>
        <p:nvSpPr>
          <p:cNvPr id="205" name="Google Shape;205;p20"/>
          <p:cNvSpPr/>
          <p:nvPr/>
        </p:nvSpPr>
        <p:spPr>
          <a:xfrm>
            <a:off x="1028700" y="1643063"/>
            <a:ext cx="314325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Let the audience read the strongest action recommendation.</a:t>
            </a:r>
            <a:endParaRPr sz="1100"/>
          </a:p>
        </p:txBody>
      </p:sp>
      <p:cxnSp>
        <p:nvCxnSpPr>
          <p:cNvPr id="206" name="Google Shape;206;p20"/>
          <p:cNvCxnSpPr/>
          <p:nvPr/>
        </p:nvCxnSpPr>
        <p:spPr>
          <a:xfrm>
            <a:off x="1028700" y="2157413"/>
            <a:ext cx="3143250" cy="0"/>
          </a:xfrm>
          <a:prstGeom prst="straightConnector1">
            <a:avLst/>
          </a:prstGeom>
          <a:noFill/>
          <a:ln cap="flat" cmpd="sng" w="9525">
            <a:solidFill>
              <a:srgbClr val="CBD2CA"/>
            </a:solidFill>
            <a:prstDash val="solid"/>
            <a:round/>
            <a:headEnd len="sm" w="sm" type="none"/>
            <a:tailEnd len="sm" w="sm" type="none"/>
          </a:ln>
        </p:spPr>
      </p:cxnSp>
      <p:sp>
        <p:nvSpPr>
          <p:cNvPr id="207" name="Google Shape;207;p20"/>
          <p:cNvSpPr/>
          <p:nvPr/>
        </p:nvSpPr>
        <p:spPr>
          <a:xfrm>
            <a:off x="514350" y="2328863"/>
            <a:ext cx="38576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lang="en" sz="1000">
                <a:solidFill>
                  <a:srgbClr val="24726A"/>
                </a:solidFill>
                <a:latin typeface="Roboto Mono"/>
                <a:ea typeface="Roboto Mono"/>
                <a:cs typeface="Roboto Mono"/>
                <a:sym typeface="Roboto Mono"/>
              </a:rPr>
              <a:t>02</a:t>
            </a:r>
            <a:endParaRPr sz="1100"/>
          </a:p>
        </p:txBody>
      </p:sp>
      <p:sp>
        <p:nvSpPr>
          <p:cNvPr id="208" name="Google Shape;208;p20"/>
          <p:cNvSpPr/>
          <p:nvPr/>
        </p:nvSpPr>
        <p:spPr>
          <a:xfrm>
            <a:off x="1028700" y="2300288"/>
            <a:ext cx="3214688"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Ask what would earn approval</a:t>
            </a:r>
            <a:endParaRPr sz="1100"/>
          </a:p>
        </p:txBody>
      </p:sp>
      <p:sp>
        <p:nvSpPr>
          <p:cNvPr id="209" name="Google Shape;209;p20"/>
          <p:cNvSpPr/>
          <p:nvPr/>
        </p:nvSpPr>
        <p:spPr>
          <a:xfrm>
            <a:off x="1028700" y="2614613"/>
            <a:ext cx="314325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Land on the fact that zero external claims are attributable.</a:t>
            </a:r>
            <a:endParaRPr sz="1100"/>
          </a:p>
        </p:txBody>
      </p:sp>
      <p:cxnSp>
        <p:nvCxnSpPr>
          <p:cNvPr id="210" name="Google Shape;210;p20"/>
          <p:cNvCxnSpPr/>
          <p:nvPr/>
        </p:nvCxnSpPr>
        <p:spPr>
          <a:xfrm>
            <a:off x="1028700" y="3128963"/>
            <a:ext cx="3143250" cy="0"/>
          </a:xfrm>
          <a:prstGeom prst="straightConnector1">
            <a:avLst/>
          </a:prstGeom>
          <a:noFill/>
          <a:ln cap="flat" cmpd="sng" w="9525">
            <a:solidFill>
              <a:srgbClr val="CBD2CA"/>
            </a:solidFill>
            <a:prstDash val="solid"/>
            <a:round/>
            <a:headEnd len="sm" w="sm" type="none"/>
            <a:tailEnd len="sm" w="sm" type="none"/>
          </a:ln>
        </p:spPr>
      </p:cxnSp>
      <p:sp>
        <p:nvSpPr>
          <p:cNvPr id="211" name="Google Shape;211;p20"/>
          <p:cNvSpPr/>
          <p:nvPr/>
        </p:nvSpPr>
        <p:spPr>
          <a:xfrm>
            <a:off x="514350" y="3300413"/>
            <a:ext cx="38576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1000"/>
              <a:buFont typeface="Roboto Mono"/>
              <a:buNone/>
            </a:pPr>
            <a:r>
              <a:rPr b="1" lang="en" sz="1000">
                <a:solidFill>
                  <a:srgbClr val="24726A"/>
                </a:solidFill>
                <a:latin typeface="Roboto Mono"/>
                <a:ea typeface="Roboto Mono"/>
                <a:cs typeface="Roboto Mono"/>
                <a:sym typeface="Roboto Mono"/>
              </a:rPr>
              <a:t>03</a:t>
            </a:r>
            <a:endParaRPr sz="1100"/>
          </a:p>
        </p:txBody>
      </p:sp>
      <p:sp>
        <p:nvSpPr>
          <p:cNvPr id="212" name="Google Shape;212;p20"/>
          <p:cNvSpPr/>
          <p:nvPr/>
        </p:nvSpPr>
        <p:spPr>
          <a:xfrm>
            <a:off x="1028700" y="3271838"/>
            <a:ext cx="3214688"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Open the grounded memo</a:t>
            </a:r>
            <a:endParaRPr sz="1100"/>
          </a:p>
        </p:txBody>
      </p:sp>
      <p:sp>
        <p:nvSpPr>
          <p:cNvPr id="213" name="Google Shape;213;p20"/>
          <p:cNvSpPr/>
          <p:nvPr/>
        </p:nvSpPr>
        <p:spPr>
          <a:xfrm>
            <a:off x="1028700" y="3586163"/>
            <a:ext cx="314325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Click one number to reveal the tool result and agent that produced it.</a:t>
            </a:r>
            <a:endParaRPr sz="1100"/>
          </a:p>
        </p:txBody>
      </p:sp>
      <p:sp>
        <p:nvSpPr>
          <p:cNvPr id="214" name="Google Shape;214;p20"/>
          <p:cNvSpPr/>
          <p:nvPr/>
        </p:nvSpPr>
        <p:spPr>
          <a:xfrm>
            <a:off x="4857750" y="1314450"/>
            <a:ext cx="3771900" cy="3043238"/>
          </a:xfrm>
          <a:prstGeom prst="roundRect">
            <a:avLst>
              <a:gd fmla="val 1174" name="adj"/>
            </a:avLst>
          </a:prstGeom>
          <a:solidFill>
            <a:srgbClr val="FAFBF8"/>
          </a:solidFill>
          <a:ln cap="flat" cmpd="sng" w="11425">
            <a:solidFill>
              <a:srgbClr val="A9B3AC"/>
            </a:solidFill>
            <a:prstDash val="solid"/>
            <a:round/>
            <a:headEnd len="sm" w="sm" type="none"/>
            <a:tailEnd len="sm" w="sm" type="none"/>
          </a:ln>
          <a:effectLst>
            <a:outerShdw blurRad="19050" dir="5400000" dist="9525">
              <a:srgbClr val="000000">
                <a:alpha val="5882"/>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5" name="Google Shape;215;p20"/>
          <p:cNvSpPr/>
          <p:nvPr/>
        </p:nvSpPr>
        <p:spPr>
          <a:xfrm>
            <a:off x="5072063" y="1514475"/>
            <a:ext cx="33432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SAME DATA · SAME QUESTION</a:t>
            </a:r>
            <a:endParaRPr sz="1100"/>
          </a:p>
        </p:txBody>
      </p:sp>
      <p:cxnSp>
        <p:nvCxnSpPr>
          <p:cNvPr id="216" name="Google Shape;216;p20"/>
          <p:cNvCxnSpPr/>
          <p:nvPr/>
        </p:nvCxnSpPr>
        <p:spPr>
          <a:xfrm>
            <a:off x="5072063" y="1771650"/>
            <a:ext cx="3343275" cy="0"/>
          </a:xfrm>
          <a:prstGeom prst="straightConnector1">
            <a:avLst/>
          </a:prstGeom>
          <a:noFill/>
          <a:ln cap="flat" cmpd="sng" w="9525">
            <a:solidFill>
              <a:srgbClr val="A9B3AC"/>
            </a:solidFill>
            <a:prstDash val="solid"/>
            <a:round/>
            <a:headEnd len="sm" w="sm" type="none"/>
            <a:tailEnd len="sm" w="sm" type="none"/>
          </a:ln>
        </p:spPr>
      </p:cxnSp>
      <p:sp>
        <p:nvSpPr>
          <p:cNvPr id="217" name="Google Shape;217;p20"/>
          <p:cNvSpPr/>
          <p:nvPr/>
        </p:nvSpPr>
        <p:spPr>
          <a:xfrm>
            <a:off x="5072063" y="2000250"/>
            <a:ext cx="114300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E3E36"/>
              </a:buClr>
              <a:buSzPts val="1000"/>
              <a:buFont typeface="Roboto Mono"/>
              <a:buNone/>
            </a:pPr>
            <a:r>
              <a:rPr b="1" lang="en" sz="1000">
                <a:solidFill>
                  <a:srgbClr val="9E3E36"/>
                </a:solidFill>
                <a:latin typeface="Roboto Mono"/>
                <a:ea typeface="Roboto Mono"/>
                <a:cs typeface="Roboto Mono"/>
                <a:sym typeface="Roboto Mono"/>
              </a:rPr>
              <a:t>NAIVE</a:t>
            </a:r>
            <a:endParaRPr sz="1100"/>
          </a:p>
        </p:txBody>
      </p:sp>
      <p:sp>
        <p:nvSpPr>
          <p:cNvPr id="218" name="Google Shape;218;p20"/>
          <p:cNvSpPr/>
          <p:nvPr/>
        </p:nvSpPr>
        <p:spPr>
          <a:xfrm>
            <a:off x="5072063" y="2286000"/>
            <a:ext cx="857250" cy="51435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9E3E36"/>
              </a:buClr>
              <a:buSzPts val="3600"/>
              <a:buFont typeface="Roboto Mono"/>
              <a:buNone/>
            </a:pPr>
            <a:r>
              <a:rPr b="1" lang="en" sz="3600">
                <a:solidFill>
                  <a:srgbClr val="9E3E36"/>
                </a:solidFill>
                <a:latin typeface="Roboto Mono"/>
                <a:ea typeface="Roboto Mono"/>
                <a:cs typeface="Roboto Mono"/>
                <a:sym typeface="Roboto Mono"/>
              </a:rPr>
              <a:t>0</a:t>
            </a:r>
            <a:endParaRPr sz="1100"/>
          </a:p>
        </p:txBody>
      </p:sp>
      <p:sp>
        <p:nvSpPr>
          <p:cNvPr id="219" name="Google Shape;219;p20"/>
          <p:cNvSpPr/>
          <p:nvPr/>
        </p:nvSpPr>
        <p:spPr>
          <a:xfrm>
            <a:off x="5072063" y="2793206"/>
            <a:ext cx="135731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citations checked</a:t>
            </a:r>
            <a:endParaRPr sz="1100"/>
          </a:p>
        </p:txBody>
      </p:sp>
      <p:cxnSp>
        <p:nvCxnSpPr>
          <p:cNvPr id="220" name="Google Shape;220;p20"/>
          <p:cNvCxnSpPr/>
          <p:nvPr/>
        </p:nvCxnSpPr>
        <p:spPr>
          <a:xfrm>
            <a:off x="6657975" y="2000250"/>
            <a:ext cx="0" cy="1143000"/>
          </a:xfrm>
          <a:prstGeom prst="straightConnector1">
            <a:avLst/>
          </a:prstGeom>
          <a:noFill/>
          <a:ln cap="flat" cmpd="sng" w="11425">
            <a:solidFill>
              <a:srgbClr val="CBD2CA"/>
            </a:solidFill>
            <a:prstDash val="solid"/>
            <a:round/>
            <a:headEnd len="sm" w="sm" type="none"/>
            <a:tailEnd len="sm" w="sm" type="none"/>
          </a:ln>
        </p:spPr>
      </p:cxnSp>
      <p:sp>
        <p:nvSpPr>
          <p:cNvPr id="221" name="Google Shape;221;p20"/>
          <p:cNvSpPr/>
          <p:nvPr/>
        </p:nvSpPr>
        <p:spPr>
          <a:xfrm>
            <a:off x="6943725" y="2000250"/>
            <a:ext cx="142875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1000"/>
              <a:buFont typeface="Roboto Mono"/>
              <a:buNone/>
            </a:pPr>
            <a:r>
              <a:rPr b="1" lang="en" sz="1000">
                <a:solidFill>
                  <a:srgbClr val="35704A"/>
                </a:solidFill>
                <a:latin typeface="Roboto Mono"/>
                <a:ea typeface="Roboto Mono"/>
                <a:cs typeface="Roboto Mono"/>
                <a:sym typeface="Roboto Mono"/>
              </a:rPr>
              <a:t>GROUNDED</a:t>
            </a:r>
            <a:endParaRPr sz="1100"/>
          </a:p>
        </p:txBody>
      </p:sp>
      <p:sp>
        <p:nvSpPr>
          <p:cNvPr id="222" name="Google Shape;222;p20"/>
          <p:cNvSpPr/>
          <p:nvPr/>
        </p:nvSpPr>
        <p:spPr>
          <a:xfrm>
            <a:off x="6943725" y="2357438"/>
            <a:ext cx="1357313"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2100"/>
              <a:buFont typeface="Roboto Mono"/>
              <a:buNone/>
            </a:pPr>
            <a:r>
              <a:rPr b="1" lang="en" sz="2100">
                <a:solidFill>
                  <a:srgbClr val="35704A"/>
                </a:solidFill>
                <a:latin typeface="Roboto Mono"/>
                <a:ea typeface="Roboto Mono"/>
                <a:cs typeface="Roboto Mono"/>
                <a:sym typeface="Roboto Mono"/>
              </a:rPr>
              <a:t>CLICK</a:t>
            </a:r>
            <a:endParaRPr sz="1100"/>
          </a:p>
        </p:txBody>
      </p:sp>
      <p:sp>
        <p:nvSpPr>
          <p:cNvPr id="223" name="Google Shape;223;p20"/>
          <p:cNvSpPr/>
          <p:nvPr/>
        </p:nvSpPr>
        <p:spPr>
          <a:xfrm>
            <a:off x="6943725" y="2793206"/>
            <a:ext cx="1357313" cy="47148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100"/>
              <a:buFont typeface="Arial"/>
              <a:buNone/>
            </a:pPr>
            <a:r>
              <a:rPr b="0" lang="en" sz="1100">
                <a:solidFill>
                  <a:srgbClr val="444E54"/>
                </a:solidFill>
                <a:latin typeface="Arial"/>
                <a:ea typeface="Arial"/>
                <a:cs typeface="Arial"/>
                <a:sym typeface="Arial"/>
              </a:rPr>
              <a:t>a figure to open its evidence</a:t>
            </a:r>
            <a:endParaRPr sz="1100"/>
          </a:p>
        </p:txBody>
      </p:sp>
      <p:cxnSp>
        <p:nvCxnSpPr>
          <p:cNvPr id="224" name="Google Shape;224;p20"/>
          <p:cNvCxnSpPr/>
          <p:nvPr/>
        </p:nvCxnSpPr>
        <p:spPr>
          <a:xfrm>
            <a:off x="5072063" y="3429000"/>
            <a:ext cx="3343275" cy="0"/>
          </a:xfrm>
          <a:prstGeom prst="straightConnector1">
            <a:avLst/>
          </a:prstGeom>
          <a:noFill/>
          <a:ln cap="flat" cmpd="sng" w="9525">
            <a:solidFill>
              <a:srgbClr val="CBD2CA"/>
            </a:solidFill>
            <a:prstDash val="solid"/>
            <a:round/>
            <a:headEnd len="sm" w="sm" type="none"/>
            <a:tailEnd len="sm" w="sm" type="none"/>
          </a:ln>
        </p:spPr>
      </p:cxnSp>
      <p:sp>
        <p:nvSpPr>
          <p:cNvPr id="225" name="Google Shape;225;p20"/>
          <p:cNvSpPr/>
          <p:nvPr/>
        </p:nvSpPr>
        <p:spPr>
          <a:xfrm>
            <a:off x="5072063" y="3671888"/>
            <a:ext cx="3343275" cy="4572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14181C"/>
              </a:buClr>
              <a:buSzPts val="1500"/>
              <a:buFont typeface="Arial"/>
              <a:buNone/>
            </a:pPr>
            <a:r>
              <a:rPr b="1" lang="en" sz="1500">
                <a:solidFill>
                  <a:srgbClr val="14181C"/>
                </a:solidFill>
                <a:latin typeface="Arial"/>
                <a:ea typeface="Arial"/>
                <a:cs typeface="Arial"/>
                <a:sym typeface="Arial"/>
              </a:rPr>
              <a:t>The persuasive memo is the least defensible one.</a:t>
            </a:r>
            <a:endParaRPr sz="1100"/>
          </a:p>
        </p:txBody>
      </p:sp>
      <p:sp>
        <p:nvSpPr>
          <p:cNvPr id="226" name="Google Shape;226;p20"/>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227" name="Google Shape;227;p20"/>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06</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232" name="Shape 232"/>
        <p:cNvGrpSpPr/>
        <p:nvPr/>
      </p:nvGrpSpPr>
      <p:grpSpPr>
        <a:xfrm>
          <a:off x="0" y="0"/>
          <a:ext cx="0" cy="0"/>
          <a:chOff x="0" y="0"/>
          <a:chExt cx="0" cy="0"/>
        </a:xfrm>
      </p:grpSpPr>
      <p:sp>
        <p:nvSpPr>
          <p:cNvPr id="233" name="Google Shape;233;p21"/>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FAILURE STORY</a:t>
            </a:r>
            <a:endParaRPr sz="1100"/>
          </a:p>
        </p:txBody>
      </p:sp>
      <p:sp>
        <p:nvSpPr>
          <p:cNvPr id="234" name="Google Shape;234;p21"/>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A silent boundary erased true evidence</a:t>
            </a:r>
            <a:endParaRPr sz="1100"/>
          </a:p>
        </p:txBody>
      </p:sp>
      <p:cxnSp>
        <p:nvCxnSpPr>
          <p:cNvPr id="235" name="Google Shape;235;p21"/>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236" name="Google Shape;236;p21"/>
          <p:cNvSpPr/>
          <p:nvPr/>
        </p:nvSpPr>
        <p:spPr>
          <a:xfrm>
            <a:off x="514350" y="1257300"/>
            <a:ext cx="8115300" cy="585788"/>
          </a:xfrm>
          <a:prstGeom prst="rect">
            <a:avLst/>
          </a:prstGeom>
          <a:solidFill>
            <a:srgbClr val="F0E7D8"/>
          </a:solidFill>
          <a:ln cap="flat" cmpd="sng" w="9525">
            <a:solidFill>
              <a:srgbClr val="9668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21"/>
          <p:cNvSpPr/>
          <p:nvPr/>
        </p:nvSpPr>
        <p:spPr>
          <a:xfrm>
            <a:off x="685800" y="1385888"/>
            <a:ext cx="1643063"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900"/>
              <a:buFont typeface="Roboto Mono"/>
              <a:buNone/>
            </a:pPr>
            <a:r>
              <a:rPr b="1" lang="en" sz="1900">
                <a:solidFill>
                  <a:srgbClr val="14181C"/>
                </a:solidFill>
                <a:latin typeface="Roboto Mono"/>
                <a:ea typeface="Roboto Mono"/>
                <a:cs typeface="Roboto Mono"/>
                <a:sym typeface="Roboto Mono"/>
              </a:rPr>
              <a:t>$18,420.55</a:t>
            </a:r>
            <a:endParaRPr sz="1100"/>
          </a:p>
        </p:txBody>
      </p:sp>
      <p:sp>
        <p:nvSpPr>
          <p:cNvPr id="238" name="Google Shape;238;p21"/>
          <p:cNvSpPr/>
          <p:nvPr/>
        </p:nvSpPr>
        <p:spPr>
          <a:xfrm>
            <a:off x="2443163" y="1414463"/>
            <a:ext cx="5929313" cy="2714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0" lang="en" sz="1400">
                <a:solidFill>
                  <a:srgbClr val="14181C"/>
                </a:solidFill>
                <a:latin typeface="Arial"/>
                <a:ea typeface="Arial"/>
                <a:cs typeface="Arial"/>
                <a:sym typeface="Arial"/>
              </a:rPr>
              <a:t>was the real cash balance — and the verifier reported it as unsupported.</a:t>
            </a:r>
            <a:endParaRPr sz="1100"/>
          </a:p>
        </p:txBody>
      </p:sp>
      <p:sp>
        <p:nvSpPr>
          <p:cNvPr id="239" name="Google Shape;239;p21"/>
          <p:cNvSpPr/>
          <p:nvPr/>
        </p:nvSpPr>
        <p:spPr>
          <a:xfrm>
            <a:off x="600075" y="2171700"/>
            <a:ext cx="1143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E3E36"/>
              </a:buClr>
              <a:buSzPts val="900"/>
              <a:buFont typeface="Roboto Mono"/>
              <a:buNone/>
            </a:pPr>
            <a:r>
              <a:rPr b="1" lang="en" sz="900">
                <a:solidFill>
                  <a:srgbClr val="9E3E36"/>
                </a:solidFill>
                <a:latin typeface="Roboto Mono"/>
                <a:ea typeface="Roboto Mono"/>
                <a:cs typeface="Roboto Mono"/>
                <a:sym typeface="Roboto Mono"/>
              </a:rPr>
              <a:t>BEFORE</a:t>
            </a:r>
            <a:endParaRPr sz="1100"/>
          </a:p>
        </p:txBody>
      </p:sp>
      <p:sp>
        <p:nvSpPr>
          <p:cNvPr id="240" name="Google Shape;240;p21"/>
          <p:cNvSpPr/>
          <p:nvPr/>
        </p:nvSpPr>
        <p:spPr>
          <a:xfrm>
            <a:off x="600075" y="2457450"/>
            <a:ext cx="1500188" cy="514350"/>
          </a:xfrm>
          <a:prstGeom prst="roundRect">
            <a:avLst>
              <a:gd fmla="val 9722" name="adj"/>
            </a:avLst>
          </a:prstGeom>
          <a:solidFill>
            <a:srgbClr val="F2E1DF"/>
          </a:solidFill>
          <a:ln cap="flat" cmpd="sng" w="11425">
            <a:solidFill>
              <a:srgbClr val="9E3E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1" name="Google Shape;241;p21"/>
          <p:cNvSpPr/>
          <p:nvPr/>
        </p:nvSpPr>
        <p:spPr>
          <a:xfrm>
            <a:off x="700088" y="2550319"/>
            <a:ext cx="13001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supervisor</a:t>
            </a:r>
            <a:endParaRPr sz="1100"/>
          </a:p>
        </p:txBody>
      </p:sp>
      <p:sp>
        <p:nvSpPr>
          <p:cNvPr id="242" name="Google Shape;242;p21"/>
          <p:cNvSpPr/>
          <p:nvPr/>
        </p:nvSpPr>
        <p:spPr>
          <a:xfrm>
            <a:off x="700088" y="2793206"/>
            <a:ext cx="13001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recorder installed</a:t>
            </a:r>
            <a:endParaRPr sz="1100"/>
          </a:p>
        </p:txBody>
      </p:sp>
      <p:sp>
        <p:nvSpPr>
          <p:cNvPr id="243" name="Google Shape;243;p21"/>
          <p:cNvSpPr/>
          <p:nvPr/>
        </p:nvSpPr>
        <p:spPr>
          <a:xfrm>
            <a:off x="2443163" y="2457450"/>
            <a:ext cx="1500188" cy="514350"/>
          </a:xfrm>
          <a:prstGeom prst="roundRect">
            <a:avLst>
              <a:gd fmla="val 9722" name="adj"/>
            </a:avLst>
          </a:prstGeom>
          <a:solidFill>
            <a:srgbClr val="FAFBF8"/>
          </a:solidFill>
          <a:ln cap="flat" cmpd="sng" w="11425">
            <a:solidFill>
              <a:srgbClr val="9E3E36"/>
            </a:solidFill>
            <a:prstDash val="dash"/>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21"/>
          <p:cNvSpPr/>
          <p:nvPr/>
        </p:nvSpPr>
        <p:spPr>
          <a:xfrm>
            <a:off x="2543175" y="2550319"/>
            <a:ext cx="13001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subagent</a:t>
            </a:r>
            <a:endParaRPr sz="1100"/>
          </a:p>
        </p:txBody>
      </p:sp>
      <p:sp>
        <p:nvSpPr>
          <p:cNvPr id="245" name="Google Shape;245;p21"/>
          <p:cNvSpPr/>
          <p:nvPr/>
        </p:nvSpPr>
        <p:spPr>
          <a:xfrm>
            <a:off x="2543175" y="2793206"/>
            <a:ext cx="13001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no recorder</a:t>
            </a:r>
            <a:endParaRPr sz="1100"/>
          </a:p>
        </p:txBody>
      </p:sp>
      <p:sp>
        <p:nvSpPr>
          <p:cNvPr id="246" name="Google Shape;246;p21"/>
          <p:cNvSpPr/>
          <p:nvPr/>
        </p:nvSpPr>
        <p:spPr>
          <a:xfrm>
            <a:off x="2443163" y="3314700"/>
            <a:ext cx="1500188" cy="514350"/>
          </a:xfrm>
          <a:prstGeom prst="roundRect">
            <a:avLst>
              <a:gd fmla="val 9722" name="adj"/>
            </a:avLst>
          </a:prstGeom>
          <a:solidFill>
            <a:srgbClr val="FAFBF8"/>
          </a:solidFill>
          <a:ln cap="flat" cmpd="sng" w="11425">
            <a:solidFill>
              <a:srgbClr val="9E3E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21"/>
          <p:cNvSpPr/>
          <p:nvPr/>
        </p:nvSpPr>
        <p:spPr>
          <a:xfrm>
            <a:off x="2543175" y="3407569"/>
            <a:ext cx="13001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E3E36"/>
              </a:buClr>
              <a:buSzPts val="1200"/>
              <a:buFont typeface="Arial"/>
              <a:buNone/>
            </a:pPr>
            <a:r>
              <a:rPr b="1" lang="en" sz="1200">
                <a:solidFill>
                  <a:srgbClr val="9E3E36"/>
                </a:solidFill>
                <a:latin typeface="Arial"/>
                <a:ea typeface="Arial"/>
                <a:cs typeface="Arial"/>
                <a:sym typeface="Arial"/>
              </a:rPr>
              <a:t>ledger</a:t>
            </a:r>
            <a:endParaRPr sz="1100"/>
          </a:p>
        </p:txBody>
      </p:sp>
      <p:sp>
        <p:nvSpPr>
          <p:cNvPr id="248" name="Google Shape;248;p21"/>
          <p:cNvSpPr/>
          <p:nvPr/>
        </p:nvSpPr>
        <p:spPr>
          <a:xfrm>
            <a:off x="2543175" y="3650456"/>
            <a:ext cx="13001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evidence gap</a:t>
            </a:r>
            <a:endParaRPr sz="1100"/>
          </a:p>
        </p:txBody>
      </p:sp>
      <p:cxnSp>
        <p:nvCxnSpPr>
          <p:cNvPr id="249" name="Google Shape;249;p21"/>
          <p:cNvCxnSpPr>
            <a:stCxn id="240" idx="3"/>
            <a:endCxn id="243" idx="1"/>
          </p:cNvCxnSpPr>
          <p:nvPr/>
        </p:nvCxnSpPr>
        <p:spPr>
          <a:xfrm>
            <a:off x="2100263" y="2714625"/>
            <a:ext cx="342900" cy="0"/>
          </a:xfrm>
          <a:prstGeom prst="straightConnector1">
            <a:avLst/>
          </a:prstGeom>
          <a:noFill/>
          <a:ln cap="flat" cmpd="sng" w="14275">
            <a:solidFill>
              <a:srgbClr val="9E3E36"/>
            </a:solidFill>
            <a:prstDash val="solid"/>
            <a:round/>
            <a:headEnd len="sm" w="sm" type="none"/>
            <a:tailEnd len="sm" w="sm" type="triangle"/>
          </a:ln>
        </p:spPr>
      </p:cxnSp>
      <p:cxnSp>
        <p:nvCxnSpPr>
          <p:cNvPr id="250" name="Google Shape;250;p21"/>
          <p:cNvCxnSpPr>
            <a:stCxn id="243" idx="2"/>
            <a:endCxn id="246" idx="0"/>
          </p:cNvCxnSpPr>
          <p:nvPr/>
        </p:nvCxnSpPr>
        <p:spPr>
          <a:xfrm>
            <a:off x="3193256" y="2971800"/>
            <a:ext cx="0" cy="342900"/>
          </a:xfrm>
          <a:prstGeom prst="straightConnector1">
            <a:avLst/>
          </a:prstGeom>
          <a:noFill/>
          <a:ln cap="flat" cmpd="sng" w="14275">
            <a:solidFill>
              <a:srgbClr val="9E3E36"/>
            </a:solidFill>
            <a:prstDash val="dash"/>
            <a:round/>
            <a:headEnd len="sm" w="sm" type="none"/>
            <a:tailEnd len="sm" w="sm" type="triangle"/>
          </a:ln>
        </p:spPr>
      </p:cxnSp>
      <p:sp>
        <p:nvSpPr>
          <p:cNvPr id="251" name="Google Shape;251;p21"/>
          <p:cNvSpPr/>
          <p:nvPr/>
        </p:nvSpPr>
        <p:spPr>
          <a:xfrm>
            <a:off x="600075" y="3371850"/>
            <a:ext cx="1500188"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9E3E36"/>
              </a:buClr>
              <a:buSzPts val="2600"/>
              <a:buFont typeface="Roboto Mono"/>
              <a:buNone/>
            </a:pPr>
            <a:r>
              <a:rPr b="1" lang="en" sz="2600">
                <a:solidFill>
                  <a:srgbClr val="9E3E36"/>
                </a:solidFill>
                <a:latin typeface="Roboto Mono"/>
                <a:ea typeface="Roboto Mono"/>
                <a:cs typeface="Roboto Mono"/>
                <a:sym typeface="Roboto Mono"/>
              </a:rPr>
              <a:t>76.58%</a:t>
            </a:r>
            <a:endParaRPr sz="1100"/>
          </a:p>
        </p:txBody>
      </p:sp>
      <p:sp>
        <p:nvSpPr>
          <p:cNvPr id="252" name="Google Shape;252;p21"/>
          <p:cNvSpPr/>
          <p:nvPr/>
        </p:nvSpPr>
        <p:spPr>
          <a:xfrm>
            <a:off x="600075" y="3814763"/>
            <a:ext cx="1500188" cy="342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000"/>
              <a:buFont typeface="Arial"/>
              <a:buNone/>
            </a:pPr>
            <a:r>
              <a:rPr b="0" lang="en" sz="1000">
                <a:solidFill>
                  <a:srgbClr val="444E54"/>
                </a:solidFill>
                <a:latin typeface="Arial"/>
                <a:ea typeface="Arial"/>
                <a:cs typeface="Arial"/>
                <a:sym typeface="Arial"/>
              </a:rPr>
              <a:t>grounding</a:t>
            </a:r>
            <a:endParaRPr sz="1100"/>
          </a:p>
        </p:txBody>
      </p:sp>
      <p:cxnSp>
        <p:nvCxnSpPr>
          <p:cNvPr id="253" name="Google Shape;253;p21"/>
          <p:cNvCxnSpPr/>
          <p:nvPr/>
        </p:nvCxnSpPr>
        <p:spPr>
          <a:xfrm>
            <a:off x="4572000" y="2171700"/>
            <a:ext cx="0" cy="2043113"/>
          </a:xfrm>
          <a:prstGeom prst="straightConnector1">
            <a:avLst/>
          </a:prstGeom>
          <a:noFill/>
          <a:ln cap="flat" cmpd="sng" w="14275">
            <a:solidFill>
              <a:srgbClr val="A9B3AC"/>
            </a:solidFill>
            <a:prstDash val="solid"/>
            <a:round/>
            <a:headEnd len="sm" w="sm" type="none"/>
            <a:tailEnd len="sm" w="sm" type="none"/>
          </a:ln>
        </p:spPr>
      </p:cxnSp>
      <p:sp>
        <p:nvSpPr>
          <p:cNvPr id="254" name="Google Shape;254;p21"/>
          <p:cNvSpPr/>
          <p:nvPr/>
        </p:nvSpPr>
        <p:spPr>
          <a:xfrm>
            <a:off x="5029200" y="2171700"/>
            <a:ext cx="1143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900"/>
              <a:buFont typeface="Roboto Mono"/>
              <a:buNone/>
            </a:pPr>
            <a:r>
              <a:rPr b="1" lang="en" sz="900">
                <a:solidFill>
                  <a:srgbClr val="35704A"/>
                </a:solidFill>
                <a:latin typeface="Roboto Mono"/>
                <a:ea typeface="Roboto Mono"/>
                <a:cs typeface="Roboto Mono"/>
                <a:sym typeface="Roboto Mono"/>
              </a:rPr>
              <a:t>AFTER</a:t>
            </a:r>
            <a:endParaRPr sz="1100"/>
          </a:p>
        </p:txBody>
      </p:sp>
      <p:sp>
        <p:nvSpPr>
          <p:cNvPr id="255" name="Google Shape;255;p21"/>
          <p:cNvSpPr/>
          <p:nvPr/>
        </p:nvSpPr>
        <p:spPr>
          <a:xfrm>
            <a:off x="5029200" y="2457450"/>
            <a:ext cx="1500188" cy="514350"/>
          </a:xfrm>
          <a:prstGeom prst="roundRect">
            <a:avLst>
              <a:gd fmla="val 9722" name="adj"/>
            </a:avLst>
          </a:prstGeom>
          <a:solidFill>
            <a:srgbClr val="E2ECE4"/>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6" name="Google Shape;256;p21"/>
          <p:cNvSpPr/>
          <p:nvPr/>
        </p:nvSpPr>
        <p:spPr>
          <a:xfrm>
            <a:off x="5129213" y="2550319"/>
            <a:ext cx="13001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supervisor</a:t>
            </a:r>
            <a:endParaRPr sz="1100"/>
          </a:p>
        </p:txBody>
      </p:sp>
      <p:sp>
        <p:nvSpPr>
          <p:cNvPr id="257" name="Google Shape;257;p21"/>
          <p:cNvSpPr/>
          <p:nvPr/>
        </p:nvSpPr>
        <p:spPr>
          <a:xfrm>
            <a:off x="5129213" y="2793206"/>
            <a:ext cx="13001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recorder installed</a:t>
            </a:r>
            <a:endParaRPr sz="1100"/>
          </a:p>
        </p:txBody>
      </p:sp>
      <p:sp>
        <p:nvSpPr>
          <p:cNvPr id="258" name="Google Shape;258;p21"/>
          <p:cNvSpPr/>
          <p:nvPr/>
        </p:nvSpPr>
        <p:spPr>
          <a:xfrm>
            <a:off x="6872288" y="2457450"/>
            <a:ext cx="1614488" cy="514350"/>
          </a:xfrm>
          <a:prstGeom prst="roundRect">
            <a:avLst>
              <a:gd fmla="val 9722" name="adj"/>
            </a:avLst>
          </a:prstGeom>
          <a:solidFill>
            <a:srgbClr val="E2ECE4"/>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9" name="Google Shape;259;p21"/>
          <p:cNvSpPr/>
          <p:nvPr/>
        </p:nvSpPr>
        <p:spPr>
          <a:xfrm>
            <a:off x="6972300" y="2550319"/>
            <a:ext cx="14144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subagent</a:t>
            </a:r>
            <a:endParaRPr sz="1100"/>
          </a:p>
        </p:txBody>
      </p:sp>
      <p:sp>
        <p:nvSpPr>
          <p:cNvPr id="260" name="Google Shape;260;p21"/>
          <p:cNvSpPr/>
          <p:nvPr/>
        </p:nvSpPr>
        <p:spPr>
          <a:xfrm>
            <a:off x="6972300" y="2793206"/>
            <a:ext cx="14144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recorder installed</a:t>
            </a:r>
            <a:endParaRPr sz="1100"/>
          </a:p>
        </p:txBody>
      </p:sp>
      <p:sp>
        <p:nvSpPr>
          <p:cNvPr id="261" name="Google Shape;261;p21"/>
          <p:cNvSpPr/>
          <p:nvPr/>
        </p:nvSpPr>
        <p:spPr>
          <a:xfrm>
            <a:off x="6872288" y="3314700"/>
            <a:ext cx="1614488" cy="514350"/>
          </a:xfrm>
          <a:prstGeom prst="roundRect">
            <a:avLst>
              <a:gd fmla="val 9722" name="adj"/>
            </a:avLst>
          </a:prstGeom>
          <a:solidFill>
            <a:srgbClr val="FAFBF8"/>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2" name="Google Shape;262;p21"/>
          <p:cNvSpPr/>
          <p:nvPr/>
        </p:nvSpPr>
        <p:spPr>
          <a:xfrm>
            <a:off x="6972300" y="3407569"/>
            <a:ext cx="1414463"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5704A"/>
              </a:buClr>
              <a:buSzPts val="1200"/>
              <a:buFont typeface="Arial"/>
              <a:buNone/>
            </a:pPr>
            <a:r>
              <a:rPr b="1" lang="en" sz="1200">
                <a:solidFill>
                  <a:srgbClr val="35704A"/>
                </a:solidFill>
                <a:latin typeface="Arial"/>
                <a:ea typeface="Arial"/>
                <a:cs typeface="Arial"/>
                <a:sym typeface="Arial"/>
              </a:rPr>
              <a:t>shared ledger</a:t>
            </a:r>
            <a:endParaRPr sz="1100"/>
          </a:p>
        </p:txBody>
      </p:sp>
      <p:sp>
        <p:nvSpPr>
          <p:cNvPr id="263" name="Google Shape;263;p21"/>
          <p:cNvSpPr/>
          <p:nvPr/>
        </p:nvSpPr>
        <p:spPr>
          <a:xfrm>
            <a:off x="6972300" y="3650456"/>
            <a:ext cx="1414463" cy="1285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800"/>
              <a:buFont typeface="Arial"/>
              <a:buNone/>
            </a:pPr>
            <a:r>
              <a:rPr b="0" lang="en" sz="800">
                <a:solidFill>
                  <a:srgbClr val="6E7A80"/>
                </a:solidFill>
                <a:latin typeface="Arial"/>
                <a:ea typeface="Arial"/>
                <a:cs typeface="Arial"/>
                <a:sym typeface="Arial"/>
              </a:rPr>
              <a:t>complete evidence</a:t>
            </a:r>
            <a:endParaRPr sz="1100"/>
          </a:p>
        </p:txBody>
      </p:sp>
      <p:cxnSp>
        <p:nvCxnSpPr>
          <p:cNvPr id="264" name="Google Shape;264;p21"/>
          <p:cNvCxnSpPr>
            <a:stCxn id="255" idx="3"/>
            <a:endCxn id="258" idx="1"/>
          </p:cNvCxnSpPr>
          <p:nvPr/>
        </p:nvCxnSpPr>
        <p:spPr>
          <a:xfrm>
            <a:off x="6529388" y="2714625"/>
            <a:ext cx="342900" cy="0"/>
          </a:xfrm>
          <a:prstGeom prst="straightConnector1">
            <a:avLst/>
          </a:prstGeom>
          <a:noFill/>
          <a:ln cap="flat" cmpd="sng" w="14275">
            <a:solidFill>
              <a:srgbClr val="35704A"/>
            </a:solidFill>
            <a:prstDash val="solid"/>
            <a:round/>
            <a:headEnd len="sm" w="sm" type="none"/>
            <a:tailEnd len="sm" w="sm" type="triangle"/>
          </a:ln>
        </p:spPr>
      </p:cxnSp>
      <p:cxnSp>
        <p:nvCxnSpPr>
          <p:cNvPr id="265" name="Google Shape;265;p21"/>
          <p:cNvCxnSpPr>
            <a:stCxn id="258" idx="2"/>
            <a:endCxn id="261" idx="0"/>
          </p:cNvCxnSpPr>
          <p:nvPr/>
        </p:nvCxnSpPr>
        <p:spPr>
          <a:xfrm>
            <a:off x="7679531" y="2971800"/>
            <a:ext cx="0" cy="342900"/>
          </a:xfrm>
          <a:prstGeom prst="straightConnector1">
            <a:avLst/>
          </a:prstGeom>
          <a:noFill/>
          <a:ln cap="flat" cmpd="sng" w="14275">
            <a:solidFill>
              <a:srgbClr val="35704A"/>
            </a:solidFill>
            <a:prstDash val="solid"/>
            <a:round/>
            <a:headEnd len="sm" w="sm" type="none"/>
            <a:tailEnd len="sm" w="sm" type="triangle"/>
          </a:ln>
        </p:spPr>
      </p:cxnSp>
      <p:sp>
        <p:nvSpPr>
          <p:cNvPr id="266" name="Google Shape;266;p21"/>
          <p:cNvSpPr/>
          <p:nvPr/>
        </p:nvSpPr>
        <p:spPr>
          <a:xfrm>
            <a:off x="5029200" y="3371850"/>
            <a:ext cx="1500188"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35704A"/>
              </a:buClr>
              <a:buSzPts val="2600"/>
              <a:buFont typeface="Roboto Mono"/>
              <a:buNone/>
            </a:pPr>
            <a:r>
              <a:rPr b="1" lang="en" sz="2600">
                <a:solidFill>
                  <a:srgbClr val="35704A"/>
                </a:solidFill>
                <a:latin typeface="Roboto Mono"/>
                <a:ea typeface="Roboto Mono"/>
                <a:cs typeface="Roboto Mono"/>
                <a:sym typeface="Roboto Mono"/>
              </a:rPr>
              <a:t>99.24%</a:t>
            </a:r>
            <a:endParaRPr sz="1100"/>
          </a:p>
        </p:txBody>
      </p:sp>
      <p:sp>
        <p:nvSpPr>
          <p:cNvPr id="267" name="Google Shape;267;p21"/>
          <p:cNvSpPr/>
          <p:nvPr/>
        </p:nvSpPr>
        <p:spPr>
          <a:xfrm>
            <a:off x="5029200" y="3814763"/>
            <a:ext cx="1500188" cy="342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000"/>
              <a:buFont typeface="Arial"/>
              <a:buNone/>
            </a:pPr>
            <a:r>
              <a:rPr b="0" lang="en" sz="1000">
                <a:solidFill>
                  <a:srgbClr val="444E54"/>
                </a:solidFill>
                <a:latin typeface="Arial"/>
                <a:ea typeface="Arial"/>
                <a:cs typeface="Arial"/>
                <a:sym typeface="Arial"/>
              </a:rPr>
              <a:t>grounding</a:t>
            </a:r>
            <a:endParaRPr sz="1100"/>
          </a:p>
        </p:txBody>
      </p:sp>
      <p:sp>
        <p:nvSpPr>
          <p:cNvPr id="268" name="Google Shape;268;p21"/>
          <p:cNvSpPr/>
          <p:nvPr/>
        </p:nvSpPr>
        <p:spPr>
          <a:xfrm>
            <a:off x="514350" y="4329113"/>
            <a:ext cx="8115300" cy="24288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300"/>
              <a:buFont typeface="Arial"/>
              <a:buNone/>
            </a:pPr>
            <a:r>
              <a:rPr b="1" lang="en" sz="1300">
                <a:solidFill>
                  <a:srgbClr val="14181C"/>
                </a:solidFill>
                <a:latin typeface="Arial"/>
                <a:ea typeface="Arial"/>
                <a:cs typeface="Arial"/>
                <a:sym typeface="Arial"/>
              </a:rPr>
              <a:t>Cross-cutting controls must be installed per agent — otherwise they fail silently.</a:t>
            </a:r>
            <a:endParaRPr sz="1100"/>
          </a:p>
        </p:txBody>
      </p:sp>
      <p:sp>
        <p:nvSpPr>
          <p:cNvPr id="269" name="Google Shape;269;p21"/>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270" name="Google Shape;270;p21"/>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07</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275" name="Shape 275"/>
        <p:cNvGrpSpPr/>
        <p:nvPr/>
      </p:nvGrpSpPr>
      <p:grpSpPr>
        <a:xfrm>
          <a:off x="0" y="0"/>
          <a:ext cx="0" cy="0"/>
          <a:chOff x="0" y="0"/>
          <a:chExt cx="0" cy="0"/>
        </a:xfrm>
      </p:grpSpPr>
      <p:sp>
        <p:nvSpPr>
          <p:cNvPr id="276" name="Google Shape;276;p22"/>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EVALUATION</a:t>
            </a:r>
            <a:endParaRPr sz="1100"/>
          </a:p>
        </p:txBody>
      </p:sp>
      <p:sp>
        <p:nvSpPr>
          <p:cNvPr id="277" name="Google Shape;277;p22"/>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Run deterministic checks before LLM judges</a:t>
            </a:r>
            <a:endParaRPr sz="1100"/>
          </a:p>
        </p:txBody>
      </p:sp>
      <p:cxnSp>
        <p:nvCxnSpPr>
          <p:cNvPr id="278" name="Google Shape;278;p22"/>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279" name="Google Shape;279;p22"/>
          <p:cNvSpPr/>
          <p:nvPr/>
        </p:nvSpPr>
        <p:spPr>
          <a:xfrm>
            <a:off x="514350" y="1443038"/>
            <a:ext cx="2428875" cy="2500313"/>
          </a:xfrm>
          <a:prstGeom prst="roundRect">
            <a:avLst>
              <a:gd fmla="val 2353" name="adj"/>
            </a:avLst>
          </a:prstGeom>
          <a:solidFill>
            <a:srgbClr val="DCE8E5"/>
          </a:solidFill>
          <a:ln cap="flat" cmpd="sng" w="114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22"/>
          <p:cNvSpPr/>
          <p:nvPr/>
        </p:nvSpPr>
        <p:spPr>
          <a:xfrm>
            <a:off x="685800" y="1614488"/>
            <a:ext cx="357188"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01</a:t>
            </a:r>
            <a:endParaRPr sz="1100"/>
          </a:p>
        </p:txBody>
      </p:sp>
      <p:sp>
        <p:nvSpPr>
          <p:cNvPr id="281" name="Google Shape;281;p22"/>
          <p:cNvSpPr/>
          <p:nvPr/>
        </p:nvSpPr>
        <p:spPr>
          <a:xfrm>
            <a:off x="685800" y="1943100"/>
            <a:ext cx="208597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700"/>
              <a:buFont typeface="Arial"/>
              <a:buNone/>
            </a:pPr>
            <a:r>
              <a:rPr b="1" lang="en" sz="1700">
                <a:solidFill>
                  <a:srgbClr val="14181C"/>
                </a:solidFill>
                <a:latin typeface="Arial"/>
                <a:ea typeface="Arial"/>
                <a:cs typeface="Arial"/>
                <a:sym typeface="Arial"/>
              </a:rPr>
              <a:t>Deterministic</a:t>
            </a:r>
            <a:endParaRPr sz="1100"/>
          </a:p>
        </p:txBody>
      </p:sp>
      <p:sp>
        <p:nvSpPr>
          <p:cNvPr id="282" name="Google Shape;282;p22"/>
          <p:cNvSpPr/>
          <p:nvPr/>
        </p:nvSpPr>
        <p:spPr>
          <a:xfrm>
            <a:off x="685800" y="2328863"/>
            <a:ext cx="2085975" cy="44291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200"/>
              <a:buFont typeface="Arial"/>
              <a:buNone/>
            </a:pPr>
            <a:r>
              <a:rPr b="0" lang="en" sz="1200">
                <a:solidFill>
                  <a:srgbClr val="444E54"/>
                </a:solidFill>
                <a:latin typeface="Arial"/>
                <a:ea typeface="Arial"/>
                <a:cs typeface="Arial"/>
                <a:sym typeface="Arial"/>
              </a:rPr>
              <a:t>Citations + numeric grounding</a:t>
            </a:r>
            <a:endParaRPr sz="1100"/>
          </a:p>
        </p:txBody>
      </p:sp>
      <p:cxnSp>
        <p:nvCxnSpPr>
          <p:cNvPr id="283" name="Google Shape;283;p22"/>
          <p:cNvCxnSpPr/>
          <p:nvPr/>
        </p:nvCxnSpPr>
        <p:spPr>
          <a:xfrm>
            <a:off x="685800" y="2886075"/>
            <a:ext cx="2085975" cy="0"/>
          </a:xfrm>
          <a:prstGeom prst="straightConnector1">
            <a:avLst/>
          </a:prstGeom>
          <a:noFill/>
          <a:ln cap="flat" cmpd="sng" w="9525">
            <a:solidFill>
              <a:srgbClr val="24726A"/>
            </a:solidFill>
            <a:prstDash val="solid"/>
            <a:round/>
            <a:headEnd len="sm" w="sm" type="none"/>
            <a:tailEnd len="sm" w="sm" type="none"/>
          </a:ln>
        </p:spPr>
      </p:cxnSp>
      <p:sp>
        <p:nvSpPr>
          <p:cNvPr id="284" name="Google Shape;284;p22"/>
          <p:cNvSpPr/>
          <p:nvPr/>
        </p:nvSpPr>
        <p:spPr>
          <a:xfrm>
            <a:off x="685800" y="3071813"/>
            <a:ext cx="2085975"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4726A"/>
              </a:buClr>
              <a:buSzPts val="2600"/>
              <a:buFont typeface="Roboto Mono"/>
              <a:buNone/>
            </a:pPr>
            <a:r>
              <a:rPr b="1" lang="en" sz="2600">
                <a:solidFill>
                  <a:srgbClr val="24726A"/>
                </a:solidFill>
                <a:latin typeface="Roboto Mono"/>
                <a:ea typeface="Roboto Mono"/>
                <a:cs typeface="Roboto Mono"/>
                <a:sym typeface="Roboto Mono"/>
              </a:rPr>
              <a:t>18 / 20</a:t>
            </a:r>
            <a:endParaRPr sz="1100"/>
          </a:p>
        </p:txBody>
      </p:sp>
      <p:sp>
        <p:nvSpPr>
          <p:cNvPr id="285" name="Google Shape;285;p22"/>
          <p:cNvSpPr/>
          <p:nvPr/>
        </p:nvSpPr>
        <p:spPr>
          <a:xfrm>
            <a:off x="685800" y="3529013"/>
            <a:ext cx="2085975" cy="30003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000"/>
              <a:buFont typeface="Arial"/>
              <a:buNone/>
            </a:pPr>
            <a:r>
              <a:rPr b="0" lang="en" sz="1000">
                <a:solidFill>
                  <a:srgbClr val="444E54"/>
                </a:solidFill>
                <a:latin typeface="Arial"/>
                <a:ea typeface="Arial"/>
                <a:cs typeface="Arial"/>
                <a:sym typeface="Arial"/>
              </a:rPr>
              <a:t>labeled defects caught · $0</a:t>
            </a:r>
            <a:endParaRPr sz="1100"/>
          </a:p>
        </p:txBody>
      </p:sp>
      <p:sp>
        <p:nvSpPr>
          <p:cNvPr id="286" name="Google Shape;286;p22"/>
          <p:cNvSpPr/>
          <p:nvPr/>
        </p:nvSpPr>
        <p:spPr>
          <a:xfrm>
            <a:off x="3357563" y="1443038"/>
            <a:ext cx="2428875" cy="2500313"/>
          </a:xfrm>
          <a:prstGeom prst="roundRect">
            <a:avLst>
              <a:gd fmla="val 2353" name="adj"/>
            </a:avLst>
          </a:prstGeom>
          <a:solidFill>
            <a:srgbClr val="F0E7D8"/>
          </a:solidFill>
          <a:ln cap="flat" cmpd="sng" w="11425">
            <a:solidFill>
              <a:srgbClr val="9668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7" name="Google Shape;287;p22"/>
          <p:cNvSpPr/>
          <p:nvPr/>
        </p:nvSpPr>
        <p:spPr>
          <a:xfrm>
            <a:off x="3529013" y="1614488"/>
            <a:ext cx="357188"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6682A"/>
              </a:buClr>
              <a:buSzPts val="800"/>
              <a:buFont typeface="Roboto Mono"/>
              <a:buNone/>
            </a:pPr>
            <a:r>
              <a:rPr b="1" lang="en" sz="800">
                <a:solidFill>
                  <a:srgbClr val="96682A"/>
                </a:solidFill>
                <a:latin typeface="Roboto Mono"/>
                <a:ea typeface="Roboto Mono"/>
                <a:cs typeface="Roboto Mono"/>
                <a:sym typeface="Roboto Mono"/>
              </a:rPr>
              <a:t>02</a:t>
            </a:r>
            <a:endParaRPr sz="1100"/>
          </a:p>
        </p:txBody>
      </p:sp>
      <p:sp>
        <p:nvSpPr>
          <p:cNvPr id="288" name="Google Shape;288;p22"/>
          <p:cNvSpPr/>
          <p:nvPr/>
        </p:nvSpPr>
        <p:spPr>
          <a:xfrm>
            <a:off x="3529013" y="1943100"/>
            <a:ext cx="208597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700"/>
              <a:buFont typeface="Arial"/>
              <a:buNone/>
            </a:pPr>
            <a:r>
              <a:rPr b="1" lang="en" sz="1700">
                <a:solidFill>
                  <a:srgbClr val="14181C"/>
                </a:solidFill>
                <a:latin typeface="Arial"/>
                <a:ea typeface="Arial"/>
                <a:cs typeface="Arial"/>
                <a:sym typeface="Arial"/>
              </a:rPr>
              <a:t>LLM judge</a:t>
            </a:r>
            <a:endParaRPr sz="1100"/>
          </a:p>
        </p:txBody>
      </p:sp>
      <p:sp>
        <p:nvSpPr>
          <p:cNvPr id="289" name="Google Shape;289;p22"/>
          <p:cNvSpPr/>
          <p:nvPr/>
        </p:nvSpPr>
        <p:spPr>
          <a:xfrm>
            <a:off x="3529013" y="2328863"/>
            <a:ext cx="2085975" cy="44291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200"/>
              <a:buFont typeface="Arial"/>
              <a:buNone/>
            </a:pPr>
            <a:r>
              <a:rPr b="0" lang="en" sz="1200">
                <a:solidFill>
                  <a:srgbClr val="444E54"/>
                </a:solidFill>
                <a:latin typeface="Arial"/>
                <a:ea typeface="Arial"/>
                <a:cs typeface="Arial"/>
                <a:sym typeface="Arial"/>
              </a:rPr>
              <a:t>Semantic support</a:t>
            </a:r>
            <a:endParaRPr sz="1100"/>
          </a:p>
        </p:txBody>
      </p:sp>
      <p:cxnSp>
        <p:nvCxnSpPr>
          <p:cNvPr id="290" name="Google Shape;290;p22"/>
          <p:cNvCxnSpPr/>
          <p:nvPr/>
        </p:nvCxnSpPr>
        <p:spPr>
          <a:xfrm>
            <a:off x="3529013" y="2886075"/>
            <a:ext cx="2085975" cy="0"/>
          </a:xfrm>
          <a:prstGeom prst="straightConnector1">
            <a:avLst/>
          </a:prstGeom>
          <a:noFill/>
          <a:ln cap="flat" cmpd="sng" w="9525">
            <a:solidFill>
              <a:srgbClr val="96682A"/>
            </a:solidFill>
            <a:prstDash val="solid"/>
            <a:round/>
            <a:headEnd len="sm" w="sm" type="none"/>
            <a:tailEnd len="sm" w="sm" type="none"/>
          </a:ln>
        </p:spPr>
      </p:cxnSp>
      <p:sp>
        <p:nvSpPr>
          <p:cNvPr id="291" name="Google Shape;291;p22"/>
          <p:cNvSpPr/>
          <p:nvPr/>
        </p:nvSpPr>
        <p:spPr>
          <a:xfrm>
            <a:off x="3529013" y="3071813"/>
            <a:ext cx="2085975"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96682A"/>
              </a:buClr>
              <a:buSzPts val="2600"/>
              <a:buFont typeface="Roboto Mono"/>
              <a:buNone/>
            </a:pPr>
            <a:r>
              <a:rPr b="1" lang="en" sz="2600">
                <a:solidFill>
                  <a:srgbClr val="96682A"/>
                </a:solidFill>
                <a:latin typeface="Roboto Mono"/>
                <a:ea typeface="Roboto Mono"/>
                <a:cs typeface="Roboto Mono"/>
                <a:sym typeface="Roboto Mono"/>
              </a:rPr>
              <a:t>2 gaps</a:t>
            </a:r>
            <a:endParaRPr sz="1100"/>
          </a:p>
        </p:txBody>
      </p:sp>
      <p:sp>
        <p:nvSpPr>
          <p:cNvPr id="292" name="Google Shape;292;p22"/>
          <p:cNvSpPr/>
          <p:nvPr/>
        </p:nvSpPr>
        <p:spPr>
          <a:xfrm>
            <a:off x="3529013" y="3529013"/>
            <a:ext cx="2085975" cy="30003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000"/>
              <a:buFont typeface="Arial"/>
              <a:buNone/>
            </a:pPr>
            <a:r>
              <a:rPr b="0" lang="en" sz="1000">
                <a:solidFill>
                  <a:srgbClr val="444E54"/>
                </a:solidFill>
                <a:latin typeface="Arial"/>
                <a:ea typeface="Arial"/>
                <a:cs typeface="Arial"/>
                <a:sym typeface="Arial"/>
              </a:rPr>
              <a:t>wrong denominator · rounding</a:t>
            </a:r>
            <a:endParaRPr sz="1100"/>
          </a:p>
        </p:txBody>
      </p:sp>
      <p:sp>
        <p:nvSpPr>
          <p:cNvPr id="293" name="Google Shape;293;p22"/>
          <p:cNvSpPr/>
          <p:nvPr/>
        </p:nvSpPr>
        <p:spPr>
          <a:xfrm>
            <a:off x="6200775" y="1443038"/>
            <a:ext cx="2428875" cy="2500313"/>
          </a:xfrm>
          <a:prstGeom prst="roundRect">
            <a:avLst>
              <a:gd fmla="val 2353" name="adj"/>
            </a:avLst>
          </a:prstGeom>
          <a:solidFill>
            <a:srgbClr val="E2ECE4"/>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4" name="Google Shape;294;p22"/>
          <p:cNvSpPr/>
          <p:nvPr/>
        </p:nvSpPr>
        <p:spPr>
          <a:xfrm>
            <a:off x="6372225" y="1614488"/>
            <a:ext cx="357188"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800"/>
              <a:buFont typeface="Roboto Mono"/>
              <a:buNone/>
            </a:pPr>
            <a:r>
              <a:rPr b="1" lang="en" sz="800">
                <a:solidFill>
                  <a:srgbClr val="35704A"/>
                </a:solidFill>
                <a:latin typeface="Roboto Mono"/>
                <a:ea typeface="Roboto Mono"/>
                <a:cs typeface="Roboto Mono"/>
                <a:sym typeface="Roboto Mono"/>
              </a:rPr>
              <a:t>03</a:t>
            </a:r>
            <a:endParaRPr sz="1100"/>
          </a:p>
        </p:txBody>
      </p:sp>
      <p:sp>
        <p:nvSpPr>
          <p:cNvPr id="295" name="Google Shape;295;p22"/>
          <p:cNvSpPr/>
          <p:nvPr/>
        </p:nvSpPr>
        <p:spPr>
          <a:xfrm>
            <a:off x="6372225" y="1943100"/>
            <a:ext cx="208597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700"/>
              <a:buFont typeface="Arial"/>
              <a:buNone/>
            </a:pPr>
            <a:r>
              <a:rPr b="1" lang="en" sz="1700">
                <a:solidFill>
                  <a:srgbClr val="14181C"/>
                </a:solidFill>
                <a:latin typeface="Arial"/>
                <a:ea typeface="Arial"/>
                <a:cs typeface="Arial"/>
                <a:sym typeface="Arial"/>
              </a:rPr>
              <a:t>Trajectory</a:t>
            </a:r>
            <a:endParaRPr sz="1100"/>
          </a:p>
        </p:txBody>
      </p:sp>
      <p:sp>
        <p:nvSpPr>
          <p:cNvPr id="296" name="Google Shape;296;p22"/>
          <p:cNvSpPr/>
          <p:nvPr/>
        </p:nvSpPr>
        <p:spPr>
          <a:xfrm>
            <a:off x="6372225" y="2328863"/>
            <a:ext cx="2085975" cy="44291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444E54"/>
              </a:buClr>
              <a:buSzPts val="1200"/>
              <a:buFont typeface="Arial"/>
              <a:buNone/>
            </a:pPr>
            <a:r>
              <a:rPr b="0" lang="en" sz="1200">
                <a:solidFill>
                  <a:srgbClr val="444E54"/>
                </a:solidFill>
                <a:latin typeface="Arial"/>
                <a:ea typeface="Arial"/>
                <a:cs typeface="Arial"/>
                <a:sym typeface="Arial"/>
              </a:rPr>
              <a:t>What the agent actually did</a:t>
            </a:r>
            <a:endParaRPr sz="1100"/>
          </a:p>
        </p:txBody>
      </p:sp>
      <p:cxnSp>
        <p:nvCxnSpPr>
          <p:cNvPr id="297" name="Google Shape;297;p22"/>
          <p:cNvCxnSpPr/>
          <p:nvPr/>
        </p:nvCxnSpPr>
        <p:spPr>
          <a:xfrm>
            <a:off x="6372225" y="2886075"/>
            <a:ext cx="2085975" cy="0"/>
          </a:xfrm>
          <a:prstGeom prst="straightConnector1">
            <a:avLst/>
          </a:prstGeom>
          <a:noFill/>
          <a:ln cap="flat" cmpd="sng" w="9525">
            <a:solidFill>
              <a:srgbClr val="35704A"/>
            </a:solidFill>
            <a:prstDash val="solid"/>
            <a:round/>
            <a:headEnd len="sm" w="sm" type="none"/>
            <a:tailEnd len="sm" w="sm" type="none"/>
          </a:ln>
        </p:spPr>
      </p:cxnSp>
      <p:sp>
        <p:nvSpPr>
          <p:cNvPr id="298" name="Google Shape;298;p22"/>
          <p:cNvSpPr/>
          <p:nvPr/>
        </p:nvSpPr>
        <p:spPr>
          <a:xfrm>
            <a:off x="6372225" y="3071813"/>
            <a:ext cx="2085975"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35704A"/>
              </a:buClr>
              <a:buSzPts val="2600"/>
              <a:buFont typeface="Roboto Mono"/>
              <a:buNone/>
            </a:pPr>
            <a:r>
              <a:rPr b="1" lang="en" sz="2600">
                <a:solidFill>
                  <a:srgbClr val="35704A"/>
                </a:solidFill>
                <a:latin typeface="Roboto Mono"/>
                <a:ea typeface="Roboto Mono"/>
                <a:cs typeface="Roboto Mono"/>
                <a:sym typeface="Roboto Mono"/>
              </a:rPr>
              <a:t>required</a:t>
            </a:r>
            <a:endParaRPr sz="1100"/>
          </a:p>
        </p:txBody>
      </p:sp>
      <p:sp>
        <p:nvSpPr>
          <p:cNvPr id="299" name="Google Shape;299;p22"/>
          <p:cNvSpPr/>
          <p:nvPr/>
        </p:nvSpPr>
        <p:spPr>
          <a:xfrm>
            <a:off x="6372225" y="3529013"/>
            <a:ext cx="2085975" cy="30003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44E54"/>
              </a:buClr>
              <a:buSzPts val="1000"/>
              <a:buFont typeface="Arial"/>
              <a:buNone/>
            </a:pPr>
            <a:r>
              <a:rPr b="0" lang="en" sz="1000">
                <a:solidFill>
                  <a:srgbClr val="444E54"/>
                </a:solidFill>
                <a:latin typeface="Arial"/>
                <a:ea typeface="Arial"/>
                <a:cs typeface="Arial"/>
                <a:sym typeface="Arial"/>
              </a:rPr>
              <a:t>tools · approvals · budgets</a:t>
            </a:r>
            <a:endParaRPr sz="1100"/>
          </a:p>
        </p:txBody>
      </p:sp>
      <p:sp>
        <p:nvSpPr>
          <p:cNvPr id="300" name="Google Shape;300;p22"/>
          <p:cNvSpPr/>
          <p:nvPr/>
        </p:nvSpPr>
        <p:spPr>
          <a:xfrm>
            <a:off x="700088" y="4243388"/>
            <a:ext cx="7743825" cy="385763"/>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A correct final answer is necessary — but an unsafe or wasteful trajectory is still a failed agent.</a:t>
            </a:r>
            <a:endParaRPr sz="1100"/>
          </a:p>
        </p:txBody>
      </p:sp>
      <p:sp>
        <p:nvSpPr>
          <p:cNvPr id="301" name="Google Shape;301;p22"/>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302" name="Google Shape;302;p22"/>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08</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307" name="Shape 307"/>
        <p:cNvGrpSpPr/>
        <p:nvPr/>
      </p:nvGrpSpPr>
      <p:grpSpPr>
        <a:xfrm>
          <a:off x="0" y="0"/>
          <a:ext cx="0" cy="0"/>
          <a:chOff x="0" y="0"/>
          <a:chExt cx="0" cy="0"/>
        </a:xfrm>
      </p:grpSpPr>
      <p:sp>
        <p:nvSpPr>
          <p:cNvPr id="308" name="Google Shape;308;p23"/>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EVALUATE THE EVALUATOR</a:t>
            </a:r>
            <a:endParaRPr sz="1100"/>
          </a:p>
        </p:txBody>
      </p:sp>
      <p:sp>
        <p:nvSpPr>
          <p:cNvPr id="309" name="Google Shape;309;p23"/>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Measure error direction, not one score</a:t>
            </a:r>
            <a:endParaRPr sz="1100"/>
          </a:p>
        </p:txBody>
      </p:sp>
      <p:cxnSp>
        <p:nvCxnSpPr>
          <p:cNvPr id="310" name="Google Shape;310;p23"/>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311" name="Google Shape;311;p23"/>
          <p:cNvSpPr/>
          <p:nvPr/>
        </p:nvSpPr>
        <p:spPr>
          <a:xfrm>
            <a:off x="657225" y="1328738"/>
            <a:ext cx="21431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JUDGE PROMPT</a:t>
            </a:r>
            <a:endParaRPr sz="1100"/>
          </a:p>
        </p:txBody>
      </p:sp>
      <p:sp>
        <p:nvSpPr>
          <p:cNvPr id="312" name="Google Shape;312;p23"/>
          <p:cNvSpPr/>
          <p:nvPr/>
        </p:nvSpPr>
        <p:spPr>
          <a:xfrm>
            <a:off x="3857625" y="1328738"/>
            <a:ext cx="1214438" cy="1571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800"/>
              <a:buFont typeface="Roboto Mono"/>
              <a:buNone/>
            </a:pPr>
            <a:r>
              <a:rPr b="1" lang="en" sz="800">
                <a:solidFill>
                  <a:srgbClr val="6E7A80"/>
                </a:solidFill>
                <a:latin typeface="Roboto Mono"/>
                <a:ea typeface="Roboto Mono"/>
                <a:cs typeface="Roboto Mono"/>
                <a:sym typeface="Roboto Mono"/>
              </a:rPr>
              <a:t>AGREEMENT</a:t>
            </a:r>
            <a:endParaRPr sz="1100"/>
          </a:p>
        </p:txBody>
      </p:sp>
      <p:sp>
        <p:nvSpPr>
          <p:cNvPr id="313" name="Google Shape;313;p23"/>
          <p:cNvSpPr/>
          <p:nvPr/>
        </p:nvSpPr>
        <p:spPr>
          <a:xfrm>
            <a:off x="5500688" y="1328738"/>
            <a:ext cx="1214438" cy="1571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E3E36"/>
              </a:buClr>
              <a:buSzPts val="800"/>
              <a:buFont typeface="Roboto Mono"/>
              <a:buNone/>
            </a:pPr>
            <a:r>
              <a:rPr b="1" lang="en" sz="800">
                <a:solidFill>
                  <a:srgbClr val="9E3E36"/>
                </a:solidFill>
                <a:latin typeface="Roboto Mono"/>
                <a:ea typeface="Roboto Mono"/>
                <a:cs typeface="Roboto Mono"/>
                <a:sym typeface="Roboto Mono"/>
              </a:rPr>
              <a:t>BLESSED BAD</a:t>
            </a:r>
            <a:endParaRPr sz="1100"/>
          </a:p>
        </p:txBody>
      </p:sp>
      <p:sp>
        <p:nvSpPr>
          <p:cNvPr id="314" name="Google Shape;314;p23"/>
          <p:cNvSpPr/>
          <p:nvPr/>
        </p:nvSpPr>
        <p:spPr>
          <a:xfrm>
            <a:off x="7179469" y="1328738"/>
            <a:ext cx="1285875" cy="1571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6682A"/>
              </a:buClr>
              <a:buSzPts val="800"/>
              <a:buFont typeface="Roboto Mono"/>
              <a:buNone/>
            </a:pPr>
            <a:r>
              <a:rPr b="1" lang="en" sz="800">
                <a:solidFill>
                  <a:srgbClr val="96682A"/>
                </a:solidFill>
                <a:latin typeface="Roboto Mono"/>
                <a:ea typeface="Roboto Mono"/>
                <a:cs typeface="Roboto Mono"/>
                <a:sym typeface="Roboto Mono"/>
              </a:rPr>
              <a:t>FLAGGED GOOD</a:t>
            </a:r>
            <a:endParaRPr sz="1100"/>
          </a:p>
        </p:txBody>
      </p:sp>
      <p:sp>
        <p:nvSpPr>
          <p:cNvPr id="315" name="Google Shape;315;p23"/>
          <p:cNvSpPr/>
          <p:nvPr/>
        </p:nvSpPr>
        <p:spPr>
          <a:xfrm>
            <a:off x="514350" y="1643063"/>
            <a:ext cx="8115300" cy="557213"/>
          </a:xfrm>
          <a:prstGeom prst="rect">
            <a:avLst/>
          </a:prstGeom>
          <a:solidFill>
            <a:srgbClr val="FAFBF8"/>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6" name="Google Shape;316;p23"/>
          <p:cNvSpPr/>
          <p:nvPr/>
        </p:nvSpPr>
        <p:spPr>
          <a:xfrm>
            <a:off x="657225" y="1807369"/>
            <a:ext cx="307181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1" lang="en" sz="1300">
                <a:solidFill>
                  <a:srgbClr val="14181C"/>
                </a:solidFill>
                <a:latin typeface="Arial"/>
                <a:ea typeface="Arial"/>
                <a:cs typeface="Arial"/>
                <a:sym typeface="Arial"/>
              </a:rPr>
              <a:t>v1 · reasonable first draft</a:t>
            </a:r>
            <a:endParaRPr sz="1100"/>
          </a:p>
        </p:txBody>
      </p:sp>
      <p:sp>
        <p:nvSpPr>
          <p:cNvPr id="317" name="Google Shape;317;p23"/>
          <p:cNvSpPr/>
          <p:nvPr/>
        </p:nvSpPr>
        <p:spPr>
          <a:xfrm>
            <a:off x="3857625" y="1778794"/>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lang="en" sz="1600">
                <a:solidFill>
                  <a:srgbClr val="14181C"/>
                </a:solidFill>
                <a:latin typeface="Roboto Mono"/>
                <a:ea typeface="Roboto Mono"/>
                <a:cs typeface="Roboto Mono"/>
                <a:sym typeface="Roboto Mono"/>
              </a:rPr>
              <a:t>85%</a:t>
            </a:r>
            <a:endParaRPr sz="1100"/>
          </a:p>
        </p:txBody>
      </p:sp>
      <p:sp>
        <p:nvSpPr>
          <p:cNvPr id="318" name="Google Shape;318;p23"/>
          <p:cNvSpPr/>
          <p:nvPr/>
        </p:nvSpPr>
        <p:spPr>
          <a:xfrm>
            <a:off x="5500688" y="1778794"/>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E3E36"/>
              </a:buClr>
              <a:buSzPts val="1600"/>
              <a:buFont typeface="Roboto Mono"/>
              <a:buNone/>
            </a:pPr>
            <a:r>
              <a:rPr b="1" lang="en" sz="1600">
                <a:solidFill>
                  <a:srgbClr val="9E3E36"/>
                </a:solidFill>
                <a:latin typeface="Roboto Mono"/>
                <a:ea typeface="Roboto Mono"/>
                <a:cs typeface="Roboto Mono"/>
                <a:sym typeface="Roboto Mono"/>
              </a:rPr>
              <a:t>2</a:t>
            </a:r>
            <a:endParaRPr sz="1100"/>
          </a:p>
        </p:txBody>
      </p:sp>
      <p:sp>
        <p:nvSpPr>
          <p:cNvPr id="319" name="Google Shape;319;p23"/>
          <p:cNvSpPr/>
          <p:nvPr/>
        </p:nvSpPr>
        <p:spPr>
          <a:xfrm>
            <a:off x="7179469" y="1778794"/>
            <a:ext cx="1285875"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lang="en" sz="1600">
                <a:solidFill>
                  <a:srgbClr val="14181C"/>
                </a:solidFill>
                <a:latin typeface="Roboto Mono"/>
                <a:ea typeface="Roboto Mono"/>
                <a:cs typeface="Roboto Mono"/>
                <a:sym typeface="Roboto Mono"/>
              </a:rPr>
              <a:t>1</a:t>
            </a:r>
            <a:endParaRPr sz="1100"/>
          </a:p>
        </p:txBody>
      </p:sp>
      <p:sp>
        <p:nvSpPr>
          <p:cNvPr id="320" name="Google Shape;320;p23"/>
          <p:cNvSpPr/>
          <p:nvPr/>
        </p:nvSpPr>
        <p:spPr>
          <a:xfrm>
            <a:off x="514350" y="2357438"/>
            <a:ext cx="8115300" cy="557213"/>
          </a:xfrm>
          <a:prstGeom prst="rect">
            <a:avLst/>
          </a:prstGeom>
          <a:solidFill>
            <a:srgbClr val="F0E7D8"/>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1" name="Google Shape;321;p23"/>
          <p:cNvSpPr/>
          <p:nvPr/>
        </p:nvSpPr>
        <p:spPr>
          <a:xfrm>
            <a:off x="657225" y="2521744"/>
            <a:ext cx="307181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1" lang="en" sz="1300">
                <a:solidFill>
                  <a:srgbClr val="14181C"/>
                </a:solidFill>
                <a:latin typeface="Arial"/>
                <a:ea typeface="Arial"/>
                <a:cs typeface="Arial"/>
                <a:sym typeface="Arial"/>
              </a:rPr>
              <a:t>v2 · strict after reading misses</a:t>
            </a:r>
            <a:endParaRPr sz="1100"/>
          </a:p>
        </p:txBody>
      </p:sp>
      <p:sp>
        <p:nvSpPr>
          <p:cNvPr id="322" name="Google Shape;322;p23"/>
          <p:cNvSpPr/>
          <p:nvPr/>
        </p:nvSpPr>
        <p:spPr>
          <a:xfrm>
            <a:off x="3857625" y="2493169"/>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lang="en" sz="1600">
                <a:solidFill>
                  <a:srgbClr val="14181C"/>
                </a:solidFill>
                <a:latin typeface="Roboto Mono"/>
                <a:ea typeface="Roboto Mono"/>
                <a:cs typeface="Roboto Mono"/>
                <a:sym typeface="Roboto Mono"/>
              </a:rPr>
              <a:t>85%</a:t>
            </a:r>
            <a:endParaRPr sz="1100"/>
          </a:p>
        </p:txBody>
      </p:sp>
      <p:sp>
        <p:nvSpPr>
          <p:cNvPr id="323" name="Google Shape;323;p23"/>
          <p:cNvSpPr/>
          <p:nvPr/>
        </p:nvSpPr>
        <p:spPr>
          <a:xfrm>
            <a:off x="5500688" y="2493169"/>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35704A"/>
              </a:buClr>
              <a:buSzPts val="1600"/>
              <a:buFont typeface="Roboto Mono"/>
              <a:buNone/>
            </a:pPr>
            <a:r>
              <a:rPr b="1" lang="en" sz="1600">
                <a:solidFill>
                  <a:srgbClr val="35704A"/>
                </a:solidFill>
                <a:latin typeface="Roboto Mono"/>
                <a:ea typeface="Roboto Mono"/>
                <a:cs typeface="Roboto Mono"/>
                <a:sym typeface="Roboto Mono"/>
              </a:rPr>
              <a:t>0</a:t>
            </a:r>
            <a:endParaRPr sz="1100"/>
          </a:p>
        </p:txBody>
      </p:sp>
      <p:sp>
        <p:nvSpPr>
          <p:cNvPr id="324" name="Google Shape;324;p23"/>
          <p:cNvSpPr/>
          <p:nvPr/>
        </p:nvSpPr>
        <p:spPr>
          <a:xfrm>
            <a:off x="7179469" y="2493169"/>
            <a:ext cx="1285875"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6682A"/>
              </a:buClr>
              <a:buSzPts val="1600"/>
              <a:buFont typeface="Roboto Mono"/>
              <a:buNone/>
            </a:pPr>
            <a:r>
              <a:rPr b="1" lang="en" sz="1600">
                <a:solidFill>
                  <a:srgbClr val="96682A"/>
                </a:solidFill>
                <a:latin typeface="Roboto Mono"/>
                <a:ea typeface="Roboto Mono"/>
                <a:cs typeface="Roboto Mono"/>
                <a:sym typeface="Roboto Mono"/>
              </a:rPr>
              <a:t>3</a:t>
            </a:r>
            <a:endParaRPr sz="1100"/>
          </a:p>
        </p:txBody>
      </p:sp>
      <p:sp>
        <p:nvSpPr>
          <p:cNvPr id="325" name="Google Shape;325;p23"/>
          <p:cNvSpPr/>
          <p:nvPr/>
        </p:nvSpPr>
        <p:spPr>
          <a:xfrm>
            <a:off x="514350" y="3071813"/>
            <a:ext cx="8115300" cy="557213"/>
          </a:xfrm>
          <a:prstGeom prst="rect">
            <a:avLst/>
          </a:prstGeom>
          <a:solidFill>
            <a:srgbClr val="E2ECE4"/>
          </a:solidFill>
          <a:ln cap="flat" cmpd="sng" w="9525">
            <a:solidFill>
              <a:srgbClr val="CBD2C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6" name="Google Shape;326;p23"/>
          <p:cNvSpPr/>
          <p:nvPr/>
        </p:nvSpPr>
        <p:spPr>
          <a:xfrm>
            <a:off x="657225" y="3236119"/>
            <a:ext cx="3071813"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300"/>
              <a:buFont typeface="Arial"/>
              <a:buNone/>
            </a:pPr>
            <a:r>
              <a:rPr b="1" lang="en" sz="1300">
                <a:solidFill>
                  <a:srgbClr val="14181C"/>
                </a:solidFill>
                <a:latin typeface="Arial"/>
                <a:ea typeface="Arial"/>
                <a:cs typeface="Arial"/>
                <a:sym typeface="Arial"/>
              </a:rPr>
              <a:t>v3 · calibrated</a:t>
            </a:r>
            <a:endParaRPr sz="1100"/>
          </a:p>
        </p:txBody>
      </p:sp>
      <p:sp>
        <p:nvSpPr>
          <p:cNvPr id="327" name="Google Shape;327;p23"/>
          <p:cNvSpPr/>
          <p:nvPr/>
        </p:nvSpPr>
        <p:spPr>
          <a:xfrm>
            <a:off x="3857625" y="3207544"/>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lang="en" sz="1600">
                <a:solidFill>
                  <a:srgbClr val="14181C"/>
                </a:solidFill>
                <a:latin typeface="Roboto Mono"/>
                <a:ea typeface="Roboto Mono"/>
                <a:cs typeface="Roboto Mono"/>
                <a:sym typeface="Roboto Mono"/>
              </a:rPr>
              <a:t>95%</a:t>
            </a:r>
            <a:endParaRPr sz="1100"/>
          </a:p>
        </p:txBody>
      </p:sp>
      <p:sp>
        <p:nvSpPr>
          <p:cNvPr id="328" name="Google Shape;328;p23"/>
          <p:cNvSpPr/>
          <p:nvPr/>
        </p:nvSpPr>
        <p:spPr>
          <a:xfrm>
            <a:off x="5500688" y="3207544"/>
            <a:ext cx="1214438"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35704A"/>
              </a:buClr>
              <a:buSzPts val="1600"/>
              <a:buFont typeface="Roboto Mono"/>
              <a:buNone/>
            </a:pPr>
            <a:r>
              <a:rPr b="1" lang="en" sz="1600">
                <a:solidFill>
                  <a:srgbClr val="35704A"/>
                </a:solidFill>
                <a:latin typeface="Roboto Mono"/>
                <a:ea typeface="Roboto Mono"/>
                <a:cs typeface="Roboto Mono"/>
                <a:sym typeface="Roboto Mono"/>
              </a:rPr>
              <a:t>0</a:t>
            </a:r>
            <a:endParaRPr sz="1100"/>
          </a:p>
        </p:txBody>
      </p:sp>
      <p:sp>
        <p:nvSpPr>
          <p:cNvPr id="329" name="Google Shape;329;p23"/>
          <p:cNvSpPr/>
          <p:nvPr/>
        </p:nvSpPr>
        <p:spPr>
          <a:xfrm>
            <a:off x="7179469" y="3207544"/>
            <a:ext cx="1285875" cy="271463"/>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4181C"/>
              </a:buClr>
              <a:buSzPts val="1600"/>
              <a:buFont typeface="Roboto Mono"/>
              <a:buNone/>
            </a:pPr>
            <a:r>
              <a:rPr b="1" lang="en" sz="1600">
                <a:solidFill>
                  <a:srgbClr val="14181C"/>
                </a:solidFill>
                <a:latin typeface="Roboto Mono"/>
                <a:ea typeface="Roboto Mono"/>
                <a:cs typeface="Roboto Mono"/>
                <a:sym typeface="Roboto Mono"/>
              </a:rPr>
              <a:t>1</a:t>
            </a:r>
            <a:endParaRPr sz="1100"/>
          </a:p>
        </p:txBody>
      </p:sp>
      <p:sp>
        <p:nvSpPr>
          <p:cNvPr id="330" name="Google Shape;330;p23"/>
          <p:cNvSpPr/>
          <p:nvPr/>
        </p:nvSpPr>
        <p:spPr>
          <a:xfrm>
            <a:off x="514350" y="3914775"/>
            <a:ext cx="8115300" cy="671513"/>
          </a:xfrm>
          <a:prstGeom prst="rect">
            <a:avLst/>
          </a:prstGeom>
          <a:solidFill>
            <a:srgbClr val="DCE8E5"/>
          </a:solidFill>
          <a:ln cap="flat" cmpd="sng" w="114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1" name="Google Shape;331;p23"/>
          <p:cNvSpPr/>
          <p:nvPr/>
        </p:nvSpPr>
        <p:spPr>
          <a:xfrm>
            <a:off x="700088" y="4043363"/>
            <a:ext cx="3714750"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v1 and v2 have the same headline score.</a:t>
            </a:r>
            <a:endParaRPr sz="1100"/>
          </a:p>
        </p:txBody>
      </p:sp>
      <p:sp>
        <p:nvSpPr>
          <p:cNvPr id="332" name="Google Shape;332;p23"/>
          <p:cNvSpPr/>
          <p:nvPr/>
        </p:nvSpPr>
        <p:spPr>
          <a:xfrm>
            <a:off x="4429125" y="4029075"/>
            <a:ext cx="4000500" cy="40005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4181C"/>
              </a:buClr>
              <a:buSzPts val="1200"/>
              <a:buFont typeface="Arial"/>
              <a:buNone/>
            </a:pPr>
            <a:r>
              <a:rPr b="0" lang="en" sz="1200">
                <a:solidFill>
                  <a:srgbClr val="14181C"/>
                </a:solidFill>
                <a:latin typeface="Arial"/>
                <a:ea typeface="Arial"/>
                <a:cs typeface="Arial"/>
                <a:sym typeface="Arial"/>
              </a:rPr>
              <a:t>Only the error direction shows that v2 eliminated the dangerous false accepts.</a:t>
            </a:r>
            <a:endParaRPr sz="1100"/>
          </a:p>
        </p:txBody>
      </p:sp>
      <p:sp>
        <p:nvSpPr>
          <p:cNvPr id="333" name="Google Shape;333;p23"/>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334" name="Google Shape;334;p23"/>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09</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EF"/>
        </a:solidFill>
      </p:bgPr>
    </p:bg>
    <p:spTree>
      <p:nvGrpSpPr>
        <p:cNvPr id="339" name="Shape 339"/>
        <p:cNvGrpSpPr/>
        <p:nvPr/>
      </p:nvGrpSpPr>
      <p:grpSpPr>
        <a:xfrm>
          <a:off x="0" y="0"/>
          <a:ext cx="0" cy="0"/>
          <a:chOff x="0" y="0"/>
          <a:chExt cx="0" cy="0"/>
        </a:xfrm>
      </p:grpSpPr>
      <p:sp>
        <p:nvSpPr>
          <p:cNvPr id="340" name="Google Shape;340;p24"/>
          <p:cNvSpPr/>
          <p:nvPr/>
        </p:nvSpPr>
        <p:spPr>
          <a:xfrm>
            <a:off x="514350" y="314325"/>
            <a:ext cx="34290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ENTERPRISE CONTROLS</a:t>
            </a:r>
            <a:endParaRPr sz="1100"/>
          </a:p>
        </p:txBody>
      </p:sp>
      <p:sp>
        <p:nvSpPr>
          <p:cNvPr id="341" name="Google Shape;341;p24"/>
          <p:cNvSpPr/>
          <p:nvPr/>
        </p:nvSpPr>
        <p:spPr>
          <a:xfrm>
            <a:off x="514350" y="557213"/>
            <a:ext cx="8115300" cy="44291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14181C"/>
              </a:buClr>
              <a:buSzPts val="2700"/>
              <a:buFont typeface="Arial"/>
              <a:buNone/>
            </a:pPr>
            <a:r>
              <a:rPr b="1" lang="en" sz="2700">
                <a:solidFill>
                  <a:srgbClr val="14181C"/>
                </a:solidFill>
                <a:latin typeface="Arial"/>
                <a:ea typeface="Arial"/>
                <a:cs typeface="Arial"/>
                <a:sym typeface="Arial"/>
              </a:rPr>
              <a:t>Production safety needs explicit boundaries</a:t>
            </a:r>
            <a:endParaRPr sz="1100"/>
          </a:p>
        </p:txBody>
      </p:sp>
      <p:cxnSp>
        <p:nvCxnSpPr>
          <p:cNvPr id="342" name="Google Shape;342;p24"/>
          <p:cNvCxnSpPr/>
          <p:nvPr/>
        </p:nvCxnSpPr>
        <p:spPr>
          <a:xfrm>
            <a:off x="514350" y="1028700"/>
            <a:ext cx="8115300" cy="0"/>
          </a:xfrm>
          <a:prstGeom prst="straightConnector1">
            <a:avLst/>
          </a:prstGeom>
          <a:noFill/>
          <a:ln cap="flat" cmpd="sng" w="14275">
            <a:solidFill>
              <a:srgbClr val="14181C"/>
            </a:solidFill>
            <a:prstDash val="solid"/>
            <a:round/>
            <a:headEnd len="sm" w="sm" type="none"/>
            <a:tailEnd len="sm" w="sm" type="none"/>
          </a:ln>
        </p:spPr>
      </p:cxnSp>
      <p:sp>
        <p:nvSpPr>
          <p:cNvPr id="343" name="Google Shape;343;p24"/>
          <p:cNvSpPr/>
          <p:nvPr/>
        </p:nvSpPr>
        <p:spPr>
          <a:xfrm>
            <a:off x="514350" y="1700213"/>
            <a:ext cx="1571625" cy="628650"/>
          </a:xfrm>
          <a:prstGeom prst="roundRect">
            <a:avLst>
              <a:gd fmla="val 7955" name="adj"/>
            </a:avLst>
          </a:prstGeom>
          <a:solidFill>
            <a:srgbClr val="E7EAE4"/>
          </a:solidFill>
          <a:ln cap="flat" cmpd="sng" w="11425">
            <a:solidFill>
              <a:srgbClr val="A9B3A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4" name="Google Shape;344;p24"/>
          <p:cNvSpPr/>
          <p:nvPr/>
        </p:nvSpPr>
        <p:spPr>
          <a:xfrm>
            <a:off x="614363" y="1793081"/>
            <a:ext cx="137160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MCP tools</a:t>
            </a:r>
            <a:endParaRPr sz="1100"/>
          </a:p>
        </p:txBody>
      </p:sp>
      <p:sp>
        <p:nvSpPr>
          <p:cNvPr id="345" name="Google Shape;345;p24"/>
          <p:cNvSpPr/>
          <p:nvPr/>
        </p:nvSpPr>
        <p:spPr>
          <a:xfrm>
            <a:off x="614363" y="2035969"/>
            <a:ext cx="1371600"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lang="en" sz="1000">
                <a:solidFill>
                  <a:srgbClr val="6E7A80"/>
                </a:solidFill>
                <a:latin typeface="Arial"/>
                <a:ea typeface="Arial"/>
                <a:cs typeface="Arial"/>
                <a:sym typeface="Arial"/>
              </a:rPr>
              <a:t>Trading + banking</a:t>
            </a:r>
            <a:endParaRPr sz="1100"/>
          </a:p>
        </p:txBody>
      </p:sp>
      <p:sp>
        <p:nvSpPr>
          <p:cNvPr id="346" name="Google Shape;346;p24"/>
          <p:cNvSpPr/>
          <p:nvPr/>
        </p:nvSpPr>
        <p:spPr>
          <a:xfrm>
            <a:off x="2528888" y="1700213"/>
            <a:ext cx="2000250" cy="628650"/>
          </a:xfrm>
          <a:prstGeom prst="roundRect">
            <a:avLst>
              <a:gd fmla="val 7955" name="adj"/>
            </a:avLst>
          </a:prstGeom>
          <a:solidFill>
            <a:srgbClr val="DCE8E5"/>
          </a:solidFill>
          <a:ln cap="flat" cmpd="sng" w="114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7" name="Google Shape;347;p24"/>
          <p:cNvSpPr/>
          <p:nvPr/>
        </p:nvSpPr>
        <p:spPr>
          <a:xfrm>
            <a:off x="2628900" y="1793081"/>
            <a:ext cx="1800225"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blast-radius classifier</a:t>
            </a:r>
            <a:endParaRPr sz="1100"/>
          </a:p>
        </p:txBody>
      </p:sp>
      <p:sp>
        <p:nvSpPr>
          <p:cNvPr id="348" name="Google Shape;348;p24"/>
          <p:cNvSpPr/>
          <p:nvPr/>
        </p:nvSpPr>
        <p:spPr>
          <a:xfrm>
            <a:off x="2628900" y="2035969"/>
            <a:ext cx="1800225"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lang="en" sz="1000">
                <a:solidFill>
                  <a:srgbClr val="6E7A80"/>
                </a:solidFill>
                <a:latin typeface="Arial"/>
                <a:ea typeface="Arial"/>
                <a:cs typeface="Arial"/>
                <a:sym typeface="Arial"/>
              </a:rPr>
              <a:t>verb rules · fail closed</a:t>
            </a:r>
            <a:endParaRPr sz="1100"/>
          </a:p>
        </p:txBody>
      </p:sp>
      <p:sp>
        <p:nvSpPr>
          <p:cNvPr id="349" name="Google Shape;349;p24"/>
          <p:cNvSpPr/>
          <p:nvPr/>
        </p:nvSpPr>
        <p:spPr>
          <a:xfrm>
            <a:off x="5314950" y="1357313"/>
            <a:ext cx="1571625" cy="628650"/>
          </a:xfrm>
          <a:prstGeom prst="roundRect">
            <a:avLst>
              <a:gd fmla="val 7955" name="adj"/>
            </a:avLst>
          </a:prstGeom>
          <a:solidFill>
            <a:srgbClr val="E2ECE4"/>
          </a:solidFill>
          <a:ln cap="flat" cmpd="sng" w="11425">
            <a:solidFill>
              <a:srgbClr val="357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0" name="Google Shape;350;p24"/>
          <p:cNvSpPr/>
          <p:nvPr/>
        </p:nvSpPr>
        <p:spPr>
          <a:xfrm>
            <a:off x="5414963" y="1450181"/>
            <a:ext cx="137160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5704A"/>
              </a:buClr>
              <a:buSzPts val="1600"/>
              <a:buFont typeface="Arial"/>
              <a:buNone/>
            </a:pPr>
            <a:r>
              <a:rPr b="1" lang="en" sz="1600">
                <a:solidFill>
                  <a:srgbClr val="35704A"/>
                </a:solidFill>
                <a:latin typeface="Arial"/>
                <a:ea typeface="Arial"/>
                <a:cs typeface="Arial"/>
                <a:sym typeface="Arial"/>
              </a:rPr>
              <a:t>READ</a:t>
            </a:r>
            <a:endParaRPr sz="1100"/>
          </a:p>
        </p:txBody>
      </p:sp>
      <p:sp>
        <p:nvSpPr>
          <p:cNvPr id="351" name="Google Shape;351;p24"/>
          <p:cNvSpPr/>
          <p:nvPr/>
        </p:nvSpPr>
        <p:spPr>
          <a:xfrm>
            <a:off x="5414963" y="1693069"/>
            <a:ext cx="1371600"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lang="en" sz="1000">
                <a:solidFill>
                  <a:srgbClr val="6E7A80"/>
                </a:solidFill>
                <a:latin typeface="Arial"/>
                <a:ea typeface="Arial"/>
                <a:cs typeface="Arial"/>
                <a:sym typeface="Arial"/>
              </a:rPr>
              <a:t>Visible to the model</a:t>
            </a:r>
            <a:endParaRPr sz="1100"/>
          </a:p>
        </p:txBody>
      </p:sp>
      <p:sp>
        <p:nvSpPr>
          <p:cNvPr id="352" name="Google Shape;352;p24"/>
          <p:cNvSpPr/>
          <p:nvPr/>
        </p:nvSpPr>
        <p:spPr>
          <a:xfrm>
            <a:off x="5314950" y="2185988"/>
            <a:ext cx="2428875" cy="628650"/>
          </a:xfrm>
          <a:prstGeom prst="roundRect">
            <a:avLst>
              <a:gd fmla="val 7955" name="adj"/>
            </a:avLst>
          </a:prstGeom>
          <a:solidFill>
            <a:srgbClr val="F0E7D8"/>
          </a:solidFill>
          <a:ln cap="flat" cmpd="sng" w="11425">
            <a:solidFill>
              <a:srgbClr val="9668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3" name="Google Shape;353;p24"/>
          <p:cNvSpPr/>
          <p:nvPr/>
        </p:nvSpPr>
        <p:spPr>
          <a:xfrm>
            <a:off x="5414963" y="2278856"/>
            <a:ext cx="222885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6682A"/>
              </a:buClr>
              <a:buSzPts val="1600"/>
              <a:buFont typeface="Arial"/>
              <a:buNone/>
            </a:pPr>
            <a:r>
              <a:rPr b="1" lang="en" sz="1600">
                <a:solidFill>
                  <a:srgbClr val="96682A"/>
                </a:solidFill>
                <a:latin typeface="Arial"/>
                <a:ea typeface="Arial"/>
                <a:cs typeface="Arial"/>
                <a:sym typeface="Arial"/>
              </a:rPr>
              <a:t>WRITE</a:t>
            </a:r>
            <a:endParaRPr sz="1100"/>
          </a:p>
        </p:txBody>
      </p:sp>
      <p:sp>
        <p:nvSpPr>
          <p:cNvPr id="354" name="Google Shape;354;p24"/>
          <p:cNvSpPr/>
          <p:nvPr/>
        </p:nvSpPr>
        <p:spPr>
          <a:xfrm>
            <a:off x="5414963" y="2521744"/>
            <a:ext cx="2228850"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lang="en" sz="1000">
                <a:solidFill>
                  <a:srgbClr val="6E7A80"/>
                </a:solidFill>
                <a:latin typeface="Arial"/>
                <a:ea typeface="Arial"/>
                <a:cs typeface="Arial"/>
                <a:sym typeface="Arial"/>
              </a:rPr>
              <a:t>Hidden by default · HITL if enabled</a:t>
            </a:r>
            <a:endParaRPr sz="1100"/>
          </a:p>
        </p:txBody>
      </p:sp>
      <p:sp>
        <p:nvSpPr>
          <p:cNvPr id="355" name="Google Shape;355;p24"/>
          <p:cNvSpPr/>
          <p:nvPr/>
        </p:nvSpPr>
        <p:spPr>
          <a:xfrm>
            <a:off x="5314950" y="3014663"/>
            <a:ext cx="1571625" cy="628650"/>
          </a:xfrm>
          <a:prstGeom prst="roundRect">
            <a:avLst>
              <a:gd fmla="val 7955" name="adj"/>
            </a:avLst>
          </a:prstGeom>
          <a:solidFill>
            <a:srgbClr val="F2E1DF"/>
          </a:solidFill>
          <a:ln cap="flat" cmpd="sng" w="11425">
            <a:solidFill>
              <a:srgbClr val="9E3E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6" name="Google Shape;356;p24"/>
          <p:cNvSpPr/>
          <p:nvPr/>
        </p:nvSpPr>
        <p:spPr>
          <a:xfrm>
            <a:off x="5414963" y="3107531"/>
            <a:ext cx="1371600" cy="2143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E3E36"/>
              </a:buClr>
              <a:buSzPts val="1600"/>
              <a:buFont typeface="Arial"/>
              <a:buNone/>
            </a:pPr>
            <a:r>
              <a:rPr b="1" lang="en" sz="1600">
                <a:solidFill>
                  <a:srgbClr val="9E3E36"/>
                </a:solidFill>
                <a:latin typeface="Arial"/>
                <a:ea typeface="Arial"/>
                <a:cs typeface="Arial"/>
                <a:sym typeface="Arial"/>
              </a:rPr>
              <a:t>SECRET</a:t>
            </a:r>
            <a:endParaRPr sz="1100"/>
          </a:p>
        </p:txBody>
      </p:sp>
      <p:sp>
        <p:nvSpPr>
          <p:cNvPr id="357" name="Google Shape;357;p24"/>
          <p:cNvSpPr/>
          <p:nvPr/>
        </p:nvSpPr>
        <p:spPr>
          <a:xfrm>
            <a:off x="5414963" y="3350419"/>
            <a:ext cx="1371600" cy="242888"/>
          </a:xfrm>
          <a:prstGeom prst="rect">
            <a:avLst/>
          </a:prstGeom>
          <a:noFill/>
          <a:ln>
            <a:noFill/>
          </a:ln>
        </p:spPr>
        <p:txBody>
          <a:bodyPr anchorCtr="0" anchor="t" bIns="0" lIns="0" spcFirstLastPara="1" rIns="0" wrap="square" tIns="0">
            <a:noAutofit/>
          </a:bodyPr>
          <a:lstStyle/>
          <a:p>
            <a:pPr indent="0" lvl="0" marL="0" marR="0" rtl="0" algn="ctr">
              <a:lnSpc>
                <a:spcPct val="102000"/>
              </a:lnSpc>
              <a:spcBef>
                <a:spcPts val="0"/>
              </a:spcBef>
              <a:spcAft>
                <a:spcPts val="0"/>
              </a:spcAft>
              <a:buClr>
                <a:srgbClr val="6E7A80"/>
              </a:buClr>
              <a:buSzPts val="1000"/>
              <a:buFont typeface="Arial"/>
              <a:buNone/>
            </a:pPr>
            <a:r>
              <a:rPr b="0" lang="en" sz="1000">
                <a:solidFill>
                  <a:srgbClr val="6E7A80"/>
                </a:solidFill>
                <a:latin typeface="Arial"/>
                <a:ea typeface="Arial"/>
                <a:cs typeface="Arial"/>
                <a:sym typeface="Arial"/>
              </a:rPr>
              <a:t>Never exposed</a:t>
            </a:r>
            <a:endParaRPr sz="1100"/>
          </a:p>
        </p:txBody>
      </p:sp>
      <p:cxnSp>
        <p:nvCxnSpPr>
          <p:cNvPr id="358" name="Google Shape;358;p24"/>
          <p:cNvCxnSpPr>
            <a:stCxn id="343" idx="3"/>
            <a:endCxn id="346" idx="1"/>
          </p:cNvCxnSpPr>
          <p:nvPr/>
        </p:nvCxnSpPr>
        <p:spPr>
          <a:xfrm>
            <a:off x="2085975" y="2014538"/>
            <a:ext cx="442800" cy="0"/>
          </a:xfrm>
          <a:prstGeom prst="straightConnector1">
            <a:avLst/>
          </a:prstGeom>
          <a:noFill/>
          <a:ln cap="flat" cmpd="sng" w="15225">
            <a:solidFill>
              <a:srgbClr val="444E54"/>
            </a:solidFill>
            <a:prstDash val="solid"/>
            <a:round/>
            <a:headEnd len="sm" w="sm" type="none"/>
            <a:tailEnd len="sm" w="sm" type="triangle"/>
          </a:ln>
        </p:spPr>
      </p:cxnSp>
      <p:cxnSp>
        <p:nvCxnSpPr>
          <p:cNvPr id="359" name="Google Shape;359;p24"/>
          <p:cNvCxnSpPr>
            <a:stCxn id="346" idx="3"/>
            <a:endCxn id="349" idx="1"/>
          </p:cNvCxnSpPr>
          <p:nvPr/>
        </p:nvCxnSpPr>
        <p:spPr>
          <a:xfrm flipH="1" rot="10800000">
            <a:off x="4529138" y="1671638"/>
            <a:ext cx="785700" cy="342900"/>
          </a:xfrm>
          <a:prstGeom prst="bentConnector3">
            <a:avLst>
              <a:gd fmla="val 49993" name="adj1"/>
            </a:avLst>
          </a:prstGeom>
          <a:noFill/>
          <a:ln cap="flat" cmpd="sng" w="13325">
            <a:solidFill>
              <a:srgbClr val="A9B3AC"/>
            </a:solidFill>
            <a:prstDash val="solid"/>
            <a:round/>
            <a:headEnd len="sm" w="sm" type="none"/>
            <a:tailEnd len="sm" w="sm" type="triangle"/>
          </a:ln>
        </p:spPr>
      </p:cxnSp>
      <p:cxnSp>
        <p:nvCxnSpPr>
          <p:cNvPr id="360" name="Google Shape;360;p24"/>
          <p:cNvCxnSpPr>
            <a:stCxn id="346" idx="3"/>
            <a:endCxn id="352" idx="1"/>
          </p:cNvCxnSpPr>
          <p:nvPr/>
        </p:nvCxnSpPr>
        <p:spPr>
          <a:xfrm>
            <a:off x="4529138" y="2014538"/>
            <a:ext cx="785700" cy="485700"/>
          </a:xfrm>
          <a:prstGeom prst="bentConnector3">
            <a:avLst>
              <a:gd fmla="val 49993" name="adj1"/>
            </a:avLst>
          </a:prstGeom>
          <a:noFill/>
          <a:ln cap="flat" cmpd="sng" w="13325">
            <a:solidFill>
              <a:srgbClr val="A9B3AC"/>
            </a:solidFill>
            <a:prstDash val="solid"/>
            <a:round/>
            <a:headEnd len="sm" w="sm" type="none"/>
            <a:tailEnd len="sm" w="sm" type="triangle"/>
          </a:ln>
        </p:spPr>
      </p:cxnSp>
      <p:cxnSp>
        <p:nvCxnSpPr>
          <p:cNvPr id="361" name="Google Shape;361;p24"/>
          <p:cNvCxnSpPr>
            <a:stCxn id="346" idx="3"/>
            <a:endCxn id="355" idx="1"/>
          </p:cNvCxnSpPr>
          <p:nvPr/>
        </p:nvCxnSpPr>
        <p:spPr>
          <a:xfrm>
            <a:off x="4529138" y="2014538"/>
            <a:ext cx="785700" cy="1314600"/>
          </a:xfrm>
          <a:prstGeom prst="bentConnector3">
            <a:avLst>
              <a:gd fmla="val 49993" name="adj1"/>
            </a:avLst>
          </a:prstGeom>
          <a:noFill/>
          <a:ln cap="flat" cmpd="sng" w="13325">
            <a:solidFill>
              <a:srgbClr val="A9B3AC"/>
            </a:solidFill>
            <a:prstDash val="solid"/>
            <a:round/>
            <a:headEnd len="sm" w="sm" type="none"/>
            <a:tailEnd len="sm" w="sm" type="triangle"/>
          </a:ln>
        </p:spPr>
      </p:cxnSp>
      <p:sp>
        <p:nvSpPr>
          <p:cNvPr id="362" name="Google Shape;362;p24"/>
          <p:cNvSpPr/>
          <p:nvPr/>
        </p:nvSpPr>
        <p:spPr>
          <a:xfrm>
            <a:off x="514350" y="3114675"/>
            <a:ext cx="857250"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4726A"/>
              </a:buClr>
              <a:buSzPts val="800"/>
              <a:buFont typeface="Roboto Mono"/>
              <a:buNone/>
            </a:pPr>
            <a:r>
              <a:rPr b="1" lang="en" sz="800">
                <a:solidFill>
                  <a:srgbClr val="24726A"/>
                </a:solidFill>
                <a:latin typeface="Roboto Mono"/>
                <a:ea typeface="Roboto Mono"/>
                <a:cs typeface="Roboto Mono"/>
                <a:sym typeface="Roboto Mono"/>
              </a:rPr>
              <a:t>DEMO</a:t>
            </a:r>
            <a:endParaRPr sz="1100"/>
          </a:p>
        </p:txBody>
      </p:sp>
      <p:sp>
        <p:nvSpPr>
          <p:cNvPr id="363" name="Google Shape;363;p24"/>
          <p:cNvSpPr/>
          <p:nvPr/>
        </p:nvSpPr>
        <p:spPr>
          <a:xfrm>
            <a:off x="514350" y="3371850"/>
            <a:ext cx="4071938" cy="41433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400"/>
              <a:buFont typeface="Arial"/>
              <a:buNone/>
            </a:pPr>
            <a:r>
              <a:rPr b="1" lang="en" sz="1400">
                <a:solidFill>
                  <a:srgbClr val="14181C"/>
                </a:solidFill>
                <a:latin typeface="Arial"/>
                <a:ea typeface="Arial"/>
                <a:cs typeface="Arial"/>
                <a:sym typeface="Arial"/>
              </a:rPr>
              <a:t>Synthetic data · offline replay server · InMemorySaver</a:t>
            </a:r>
            <a:endParaRPr sz="1100"/>
          </a:p>
        </p:txBody>
      </p:sp>
      <p:sp>
        <p:nvSpPr>
          <p:cNvPr id="364" name="Google Shape;364;p24"/>
          <p:cNvSpPr/>
          <p:nvPr/>
        </p:nvSpPr>
        <p:spPr>
          <a:xfrm>
            <a:off x="514350" y="3957638"/>
            <a:ext cx="1143000"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5704A"/>
              </a:buClr>
              <a:buSzPts val="800"/>
              <a:buFont typeface="Roboto Mono"/>
              <a:buNone/>
            </a:pPr>
            <a:r>
              <a:rPr b="1" lang="en" sz="800">
                <a:solidFill>
                  <a:srgbClr val="35704A"/>
                </a:solidFill>
                <a:latin typeface="Roboto Mono"/>
                <a:ea typeface="Roboto Mono"/>
                <a:cs typeface="Roboto Mono"/>
                <a:sym typeface="Roboto Mono"/>
              </a:rPr>
              <a:t>PRODUCTION</a:t>
            </a:r>
            <a:endParaRPr sz="1100"/>
          </a:p>
        </p:txBody>
      </p:sp>
      <p:sp>
        <p:nvSpPr>
          <p:cNvPr id="365" name="Google Shape;365;p24"/>
          <p:cNvSpPr/>
          <p:nvPr/>
        </p:nvSpPr>
        <p:spPr>
          <a:xfrm>
            <a:off x="514350" y="4200525"/>
            <a:ext cx="8001000" cy="328613"/>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1C"/>
              </a:buClr>
              <a:buSzPts val="1200"/>
              <a:buFont typeface="Arial"/>
              <a:buNone/>
            </a:pPr>
            <a:r>
              <a:rPr b="1" lang="en" sz="1200">
                <a:solidFill>
                  <a:srgbClr val="14181C"/>
                </a:solidFill>
                <a:latin typeface="Arial"/>
                <a:ea typeface="Arial"/>
                <a:cs typeface="Arial"/>
                <a:sym typeface="Arial"/>
              </a:rPr>
              <a:t>Durable checkpoint store · idempotency keys · tenant isolation · append-only audit</a:t>
            </a:r>
            <a:endParaRPr sz="1100"/>
          </a:p>
        </p:txBody>
      </p:sp>
      <p:sp>
        <p:nvSpPr>
          <p:cNvPr id="366" name="Google Shape;366;p24"/>
          <p:cNvSpPr/>
          <p:nvPr/>
        </p:nvSpPr>
        <p:spPr>
          <a:xfrm>
            <a:off x="514350" y="4872038"/>
            <a:ext cx="4286250"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TRUST, BUT VERIFY</a:t>
            </a:r>
            <a:endParaRPr sz="1100"/>
          </a:p>
        </p:txBody>
      </p:sp>
      <p:sp>
        <p:nvSpPr>
          <p:cNvPr id="367" name="Google Shape;367;p24"/>
          <p:cNvSpPr/>
          <p:nvPr/>
        </p:nvSpPr>
        <p:spPr>
          <a:xfrm>
            <a:off x="8286750" y="4872038"/>
            <a:ext cx="342900"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6E7A80"/>
              </a:buClr>
              <a:buSzPts val="700"/>
              <a:buFont typeface="Roboto Mono"/>
              <a:buNone/>
            </a:pPr>
            <a:r>
              <a:rPr b="0" lang="en" sz="700">
                <a:solidFill>
                  <a:srgbClr val="6E7A80"/>
                </a:solidFill>
                <a:latin typeface="Roboto Mono"/>
                <a:ea typeface="Roboto Mono"/>
                <a:cs typeface="Roboto Mono"/>
                <a:sym typeface="Roboto Mono"/>
              </a:rPr>
              <a:t>10</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81C"/>
        </a:solidFill>
      </p:bgPr>
    </p:bg>
    <p:spTree>
      <p:nvGrpSpPr>
        <p:cNvPr id="372" name="Shape 372"/>
        <p:cNvGrpSpPr/>
        <p:nvPr/>
      </p:nvGrpSpPr>
      <p:grpSpPr>
        <a:xfrm>
          <a:off x="0" y="0"/>
          <a:ext cx="0" cy="0"/>
          <a:chOff x="0" y="0"/>
          <a:chExt cx="0" cy="0"/>
        </a:xfrm>
      </p:grpSpPr>
      <p:sp>
        <p:nvSpPr>
          <p:cNvPr id="373" name="Google Shape;373;p25"/>
          <p:cNvSpPr/>
          <p:nvPr/>
        </p:nvSpPr>
        <p:spPr>
          <a:xfrm>
            <a:off x="0" y="0"/>
            <a:ext cx="100013" cy="5143500"/>
          </a:xfrm>
          <a:prstGeom prst="rect">
            <a:avLst/>
          </a:prstGeom>
          <a:solidFill>
            <a:srgbClr val="24726A"/>
          </a:solidFill>
          <a:ln cap="flat" cmpd="sng" w="9525">
            <a:solidFill>
              <a:srgbClr val="24726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4" name="Google Shape;374;p25"/>
          <p:cNvSpPr/>
          <p:nvPr/>
        </p:nvSpPr>
        <p:spPr>
          <a:xfrm>
            <a:off x="600075" y="471488"/>
            <a:ext cx="542925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3B5A8"/>
              </a:buClr>
              <a:buSzPts val="800"/>
              <a:buFont typeface="Roboto Mono"/>
              <a:buNone/>
            </a:pPr>
            <a:r>
              <a:rPr b="1" lang="en" sz="800">
                <a:solidFill>
                  <a:srgbClr val="63B5A8"/>
                </a:solidFill>
                <a:latin typeface="Roboto Mono"/>
                <a:ea typeface="Roboto Mono"/>
                <a:cs typeface="Roboto Mono"/>
                <a:sym typeface="Roboto Mono"/>
              </a:rPr>
              <a:t>TWO PRACTICES SURVIVE EVERY FRAMEWORK CHOICE</a:t>
            </a:r>
            <a:endParaRPr sz="1100"/>
          </a:p>
        </p:txBody>
      </p:sp>
      <p:sp>
        <p:nvSpPr>
          <p:cNvPr id="375" name="Google Shape;375;p25"/>
          <p:cNvSpPr/>
          <p:nvPr/>
        </p:nvSpPr>
        <p:spPr>
          <a:xfrm>
            <a:off x="600075" y="1071563"/>
            <a:ext cx="500063"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3B5A8"/>
              </a:buClr>
              <a:buSzPts val="2900"/>
              <a:buFont typeface="Roboto Mono"/>
              <a:buNone/>
            </a:pPr>
            <a:r>
              <a:rPr b="1" lang="en" sz="2900">
                <a:solidFill>
                  <a:srgbClr val="63B5A8"/>
                </a:solidFill>
                <a:latin typeface="Roboto Mono"/>
                <a:ea typeface="Roboto Mono"/>
                <a:cs typeface="Roboto Mono"/>
                <a:sym typeface="Roboto Mono"/>
              </a:rPr>
              <a:t>1</a:t>
            </a:r>
            <a:endParaRPr sz="1100"/>
          </a:p>
        </p:txBody>
      </p:sp>
      <p:sp>
        <p:nvSpPr>
          <p:cNvPr id="376" name="Google Shape;376;p25"/>
          <p:cNvSpPr/>
          <p:nvPr/>
        </p:nvSpPr>
        <p:spPr>
          <a:xfrm>
            <a:off x="1285875" y="1057275"/>
            <a:ext cx="7000875"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Arial"/>
              <a:buNone/>
            </a:pPr>
            <a:r>
              <a:rPr b="1" lang="en" sz="2400">
                <a:solidFill>
                  <a:srgbClr val="FFFFFF"/>
                </a:solidFill>
                <a:latin typeface="Arial"/>
                <a:ea typeface="Arial"/>
                <a:cs typeface="Arial"/>
                <a:sym typeface="Arial"/>
              </a:rPr>
              <a:t>Record evidence at the moment it arrives.</a:t>
            </a:r>
            <a:endParaRPr sz="1100"/>
          </a:p>
        </p:txBody>
      </p:sp>
      <p:sp>
        <p:nvSpPr>
          <p:cNvPr id="377" name="Google Shape;377;p25"/>
          <p:cNvSpPr/>
          <p:nvPr/>
        </p:nvSpPr>
        <p:spPr>
          <a:xfrm>
            <a:off x="1285875" y="1571625"/>
            <a:ext cx="6429375" cy="47148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EB9B7"/>
              </a:buClr>
              <a:buSzPts val="1300"/>
              <a:buFont typeface="Arial"/>
              <a:buNone/>
            </a:pPr>
            <a:r>
              <a:rPr b="0" lang="en" sz="1300">
                <a:solidFill>
                  <a:srgbClr val="AEB9B7"/>
                </a:solidFill>
                <a:latin typeface="Arial"/>
                <a:ea typeface="Arial"/>
                <a:cs typeface="Arial"/>
                <a:sym typeface="Arial"/>
              </a:rPr>
              <a:t>Middleware makes the audit trail the default, not an optional habit in every tool.</a:t>
            </a:r>
            <a:endParaRPr sz="1100"/>
          </a:p>
        </p:txBody>
      </p:sp>
      <p:cxnSp>
        <p:nvCxnSpPr>
          <p:cNvPr id="378" name="Google Shape;378;p25"/>
          <p:cNvCxnSpPr/>
          <p:nvPr/>
        </p:nvCxnSpPr>
        <p:spPr>
          <a:xfrm>
            <a:off x="600075" y="2371725"/>
            <a:ext cx="7929563" cy="0"/>
          </a:xfrm>
          <a:prstGeom prst="straightConnector1">
            <a:avLst/>
          </a:prstGeom>
          <a:noFill/>
          <a:ln cap="flat" cmpd="sng" w="13325">
            <a:solidFill>
              <a:srgbClr val="3D4A50"/>
            </a:solidFill>
            <a:prstDash val="solid"/>
            <a:round/>
            <a:headEnd len="sm" w="sm" type="none"/>
            <a:tailEnd len="sm" w="sm" type="none"/>
          </a:ln>
        </p:spPr>
      </p:cxnSp>
      <p:sp>
        <p:nvSpPr>
          <p:cNvPr id="379" name="Google Shape;379;p25"/>
          <p:cNvSpPr/>
          <p:nvPr/>
        </p:nvSpPr>
        <p:spPr>
          <a:xfrm>
            <a:off x="600075" y="2743200"/>
            <a:ext cx="500063"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3B5A8"/>
              </a:buClr>
              <a:buSzPts val="2900"/>
              <a:buFont typeface="Roboto Mono"/>
              <a:buNone/>
            </a:pPr>
            <a:r>
              <a:rPr b="1" lang="en" sz="2900">
                <a:solidFill>
                  <a:srgbClr val="63B5A8"/>
                </a:solidFill>
                <a:latin typeface="Roboto Mono"/>
                <a:ea typeface="Roboto Mono"/>
                <a:cs typeface="Roboto Mono"/>
                <a:sym typeface="Roboto Mono"/>
              </a:rPr>
              <a:t>2</a:t>
            </a:r>
            <a:endParaRPr sz="1100"/>
          </a:p>
        </p:txBody>
      </p:sp>
      <p:sp>
        <p:nvSpPr>
          <p:cNvPr id="380" name="Google Shape;380;p25"/>
          <p:cNvSpPr/>
          <p:nvPr/>
        </p:nvSpPr>
        <p:spPr>
          <a:xfrm>
            <a:off x="1285875" y="2728913"/>
            <a:ext cx="7000875"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Arial"/>
              <a:buNone/>
            </a:pPr>
            <a:r>
              <a:rPr b="1" lang="en" sz="2400">
                <a:solidFill>
                  <a:srgbClr val="FFFFFF"/>
                </a:solidFill>
                <a:latin typeface="Arial"/>
                <a:ea typeface="Arial"/>
                <a:cs typeface="Arial"/>
                <a:sym typeface="Arial"/>
              </a:rPr>
              <a:t>Measure the judge before you trust it.</a:t>
            </a:r>
            <a:endParaRPr sz="1100"/>
          </a:p>
        </p:txBody>
      </p:sp>
      <p:sp>
        <p:nvSpPr>
          <p:cNvPr id="381" name="Google Shape;381;p25"/>
          <p:cNvSpPr/>
          <p:nvPr/>
        </p:nvSpPr>
        <p:spPr>
          <a:xfrm>
            <a:off x="1285875" y="3243263"/>
            <a:ext cx="6429375" cy="47148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EB9B7"/>
              </a:buClr>
              <a:buSzPts val="1300"/>
              <a:buFont typeface="Arial"/>
              <a:buNone/>
            </a:pPr>
            <a:r>
              <a:rPr b="0" lang="en" sz="1300">
                <a:solidFill>
                  <a:srgbClr val="AEB9B7"/>
                </a:solidFill>
                <a:latin typeface="Arial"/>
                <a:ea typeface="Arial"/>
                <a:cs typeface="Arial"/>
                <a:sym typeface="Arial"/>
              </a:rPr>
              <a:t>A score is only useful when you understand the evaluator’s own error distribution.</a:t>
            </a:r>
            <a:endParaRPr sz="1100"/>
          </a:p>
        </p:txBody>
      </p:sp>
      <p:sp>
        <p:nvSpPr>
          <p:cNvPr id="382" name="Google Shape;382;p25"/>
          <p:cNvSpPr/>
          <p:nvPr/>
        </p:nvSpPr>
        <p:spPr>
          <a:xfrm>
            <a:off x="600075" y="4400550"/>
            <a:ext cx="7929563" cy="1714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3B5A8"/>
              </a:buClr>
              <a:buSzPts val="900"/>
              <a:buFont typeface="Roboto Mono"/>
              <a:buNone/>
            </a:pPr>
            <a:r>
              <a:rPr b="1" lang="en" sz="900">
                <a:solidFill>
                  <a:srgbClr val="63B5A8"/>
                </a:solidFill>
                <a:latin typeface="Roboto Mono"/>
                <a:ea typeface="Roboto Mono"/>
                <a:cs typeface="Roboto Mono"/>
                <a:sym typeface="Roboto Mono"/>
              </a:rPr>
              <a:t>AGENT FUNDAMENTALS  →  TRUSTWORTHY AGENTS  →  DEPLOYMENT + ONLINE EVALS</a:t>
            </a:r>
            <a:endParaRPr sz="1100"/>
          </a:p>
        </p:txBody>
      </p:sp>
      <p:sp>
        <p:nvSpPr>
          <p:cNvPr id="383" name="Google Shape;383;p25"/>
          <p:cNvSpPr/>
          <p:nvPr/>
        </p:nvSpPr>
        <p:spPr>
          <a:xfrm>
            <a:off x="8001000" y="471488"/>
            <a:ext cx="528638" cy="17145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Roboto Mono"/>
              <a:buNone/>
            </a:pPr>
            <a:r>
              <a:rPr b="1" lang="en" sz="900">
                <a:solidFill>
                  <a:srgbClr val="FFFFFF"/>
                </a:solidFill>
                <a:latin typeface="Roboto Mono"/>
                <a:ea typeface="Roboto Mono"/>
                <a:cs typeface="Roboto Mono"/>
                <a:sym typeface="Roboto Mono"/>
              </a:rPr>
              <a:t>Q&amp;A</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Trust but Verify">
      <a:dk1>
        <a:srgbClr val="14181C"/>
      </a:dk1>
      <a:lt1>
        <a:srgbClr val="FFFFFF"/>
      </a:lt1>
      <a:dk2>
        <a:srgbClr val="444E54"/>
      </a:dk2>
      <a:lt2>
        <a:srgbClr val="E7EAE4"/>
      </a:lt2>
      <a:accent1>
        <a:srgbClr val="24726A"/>
      </a:accent1>
      <a:accent2>
        <a:srgbClr val="35704A"/>
      </a:accent2>
      <a:accent3>
        <a:srgbClr val="96682A"/>
      </a:accent3>
      <a:accent4>
        <a:srgbClr val="9E3E36"/>
      </a:accent4>
      <a:accent5>
        <a:srgbClr val="444E54"/>
      </a:accent5>
      <a:accent6>
        <a:srgbClr val="A9B3AC"/>
      </a:accent6>
      <a:hlink>
        <a:srgbClr val="24726A"/>
      </a:hlink>
      <a:folHlink>
        <a:srgbClr val="3570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