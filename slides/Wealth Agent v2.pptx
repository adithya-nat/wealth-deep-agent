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67" r:id="rId22"/>
    <p:sldId id="268" r:id="rId23"/>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Roboto Mon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font" Target="fonts/RobotoMono-regular.fntdata"/><Relationship Id="rId19" Type="http://schemas.openxmlformats.org/officeDocument/2006/relationships/font" Target="fonts/RobotoMono-bold.fntdata"/><Relationship Id="rId20" Type="http://schemas.openxmlformats.org/officeDocument/2006/relationships/font" Target="fonts/RobotoMono-italic.fntdata"/><Relationship Id="rId21" Type="http://schemas.openxmlformats.org/officeDocument/2006/relationships/font" Target="fonts/RobotoMono-boldItalic.fntdata"/><Relationship Id="rId22" Type="http://schemas.openxmlformats.org/officeDocument/2006/relationships/slide" Target="slides/slide2.xml"/><Relationship Id="rId23"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75f2bbabb_2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g3f75f2bbabb_2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Title  —  1 minute</a:t>
            </a:r>
          </a:p>
          <a:p/>
          <a:p>
            <a:r>
              <a:t>Thanks for having me.</a:t>
            </a:r>
          </a:p>
          <a:p/>
          <a:p>
            <a:r>
              <a:t>I'm going to spend the next forty-five minutes on one problem, and I want to say up front which problem it is — because it is not the one most agent talks are about.</a:t>
            </a:r>
          </a:p>
          <a:p/>
          <a:p>
            <a:r>
              <a:t>This is a wealth agent. It reads a brokerage account, six months of card spending, and an investment policy, and it writes the memo a financial advisor writes before a client review. It works. It's been working for a while. (pause)</a:t>
            </a:r>
          </a:p>
          <a:p/>
          <a:p>
            <a:r>
              <a:t>The talk is not about building it. The talk is about the thing that happens after it works — when you take a memo that says sell eleven thousand dollars of Apple to somebody whose job is to sign off on it, and they ask you where that number came from.</a:t>
            </a:r>
          </a:p>
          <a:p/>
          <a:p>
            <a:r>
              <a:t>That question is called Trust, but verify, and answering it mechanically — for every claim, on every run — is what we're going to build.</a:t>
            </a:r>
          </a:p>
          <a:p/>
          <a:p>
            <a:r>
              <a:t>Quick calibration before I start. Show of hands: who has an agent working in staging right now that you can't get shipped? (pause) Right. That's the room this is written for.</a:t>
            </a:r>
          </a:p>
          <a:p/>
          <a:p>
            <a:r>
              <a:t>If asked here: "Do we need LangChain experience?" — No. Four minutes on slide 5 covers what the harness gives you. Everything after that is framework-agnostic reasoning that happens to be written in this stack.</a:t>
            </a:r>
          </a:p>
        </p:txBody>
      </p:sp>
      <p:sp>
        <p:nvSpPr>
          <p:cNvPr id="55" name="Google Shape;55;g3f75f2bbabb_2_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f75f2bbabb_2_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g3f75f2bbabb_2_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The catch  —  3.5 minutes</a:t>
            </a:r>
          </a:p>
          <a:p/>
          <a:p>
            <a:r>
              <a:t>But it doesn't stop there, and this is the slide where the room leans in. (pause) Because the hours only actually disappear if nobody has to put them back.</a:t>
            </a:r>
          </a:p>
          <a:p/>
          <a:p>
            <a:r>
              <a:t>A wrong figure in a client-facing financial memo is not a rough edge you fix next sprint. It is a compliance finding. It has a name, a paper trail, and somebody's quarter attached to it.</a:t>
            </a:r>
          </a:p>
          <a:p/>
          <a:p>
            <a:r>
              <a:t>So before anyone acts on that memo, three questions get asked. And I'd like you to answer them for me, as the customer. Compliance signs off Monday. What do you need before you say yes? (pause) [take answers — write them up if there's a board]</a:t>
            </a:r>
          </a:p>
          <a:p/>
          <a:p>
            <a:r>
              <a:t>Good. They cluster into three. Where did every number come from. Which source supports each market claim. And what stops the agent from making an unsafe change to the account.</a:t>
            </a:r>
          </a:p>
          <a:p/>
          <a:p>
            <a:r>
              <a:t>Now look at the right-hand side, because this is the part that gets skipped. One memo carries about a hundred and forty-two figures and market claims. If the answer to "where did this number come from" is a human re-derives it — then I have built something that saves an analyst three hours and costs a reviewer three hours. (pause) That is not a product. That is moving the work.</a:t>
            </a:r>
          </a:p>
          <a:p/>
          <a:p>
            <a:r>
              <a:t>And there's a specific trap here. Fluency and defensibility are produced by completely different mechanisms. Fluency you get free from the model. Defensibility you have to engineer. Which means the memo that reads best is the one you should trust least — and I'll show you that in about ten minutes.</a:t>
            </a:r>
          </a:p>
          <a:p/>
          <a:p>
            <a:r>
              <a:t>So the real deliverable was never the memo. It's the memo plus the evidence that it's right. Answering all three of those questions mechanically, on every run, with nobody re-deriving anything — that is the rest of this session.</a:t>
            </a:r>
          </a:p>
          <a:p/>
          <a:p>
            <a:r>
              <a:t>Note the slide has no LangChain tag. That's deliberate — slides 3 and 4 are the customer's problem in the customer's words, and framework names on them would make it look like you led with the tooling. The tags start at slide 5, once the problem is agreed.</a:t>
            </a:r>
          </a:p>
          <a:p/>
          <a:p>
            <a:r>
              <a:t>Timing note: the show-of-hands exchange is the most valuable ninety seconds in the deck — it makes the rest of the session their problem instead of yours. Do not cut it. Cut slide 5 instead.</a:t>
            </a:r>
          </a:p>
        </p:txBody>
      </p:sp>
      <p:sp>
        <p:nvSpPr>
          <p:cNvPr id="69" name="Google Shape;69;g3f75f2bbabb_2_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75f2bbabb_2_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g3f75f2bbabb_2_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Framework map  —  3.5 minutes</a:t>
            </a:r>
          </a:p>
          <a:p/>
          <a:p>
            <a:r>
              <a:t>Four minutes of framework, then we're done with framework for the day. And I've ordered this table deliberately, smallest layer first, because the mistake I see teams make is starting at the top.</a:t>
            </a:r>
          </a:p>
          <a:p/>
          <a:p>
            <a:r>
              <a:t>LangChain is the agent framework. create_agent gives you the loop — model, tools, decide, repeat. @tool turns a Python function into something the model can call. Middleware is where you hook into that loop. And you get typed structured output, which matters more than it sounds like: it means a subagent can return a validated object rather than prose you have to parse.</a:t>
            </a:r>
          </a:p>
          <a:p/>
          <a:p>
            <a:r>
              <a:t>LangGraph is the runtime underneath. LangChain agents are LangGraph graphs — you don't have to know that until you need state that survives a crash, or streaming, or the ability to pause a run halfway through, get a human decision, and resume. Then you need it, and it's already there.</a:t>
            </a:r>
          </a:p>
          <a:p/>
          <a:p>
            <a:r>
              <a:t>Deep Agents is the opinionated harness on top. create_deep_agent gives you four things: planning, subagents, a filesystem, and skills. It is a set of defaults that somebody who has built a lot of these picked for you. And the reason I like it isn't that it's powerful — it's that the harness becomes configuration, so when you read my supervisor file, what you see is the choices, not the plumbing. That's an underrated property in a codebase somebody else has to maintain.</a:t>
            </a:r>
          </a:p>
          <a:p/>
          <a:p>
            <a:r>
              <a:t>LangSmith wraps all three. Traces so you can see what happened. Datasets and experiments so you can ask "did that change help" and get a number instead of a feeling. Evaluators, and monitoring in production.</a:t>
            </a:r>
          </a:p>
          <a:p/>
          <a:p>
            <a:r>
              <a:t>Now the line at the bottom, which is the actual point of the slide. (pause) Start at the smallest layer that solves the problem. Two of the five subagents in my system deliberately don't use the deep-agent harness at all, and I'll defend that in a minute. Reaching for the most capable abstraction first is how you end up with an agent you can't reason about — you get autonomy in places where you didn't need autonomy, and every one of those places is a place it can surprise you.</a:t>
            </a:r>
          </a:p>
          <a:p/>
          <a:p>
            <a:r>
              <a:t>If asked here: "So do we need all four?" — No. You need LangChain. LangGraph you already have, underneath. Deep Agents you reach for when the work is genuinely open-ended, and LangSmith you want on day one, because it's the only one of the four that tells you whether the other three are working.</a:t>
            </a:r>
          </a:p>
        </p:txBody>
      </p:sp>
      <p:sp>
        <p:nvSpPr>
          <p:cNvPr id="99" name="Google Shape;99;g3f75f2bbabb_2_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75f2bbabb_2_7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g3f75f2bbabb_2_7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Architecture  —  4.5 minutes</a:t>
            </a:r>
          </a:p>
          <a:p/>
          <a:p>
            <a:r>
              <a:t>This is the whole system. A supervisor and five subagents — and the interesting thing about the diagram is that they are not all the same kind of agent.</a:t>
            </a:r>
          </a:p>
          <a:p/>
          <a:p>
            <a:r>
              <a:t>At the top, the wealth supervisor — create_deep_agent. It plans, it delegates, it writes the final memo. It's the only one that talks to the user.</a:t>
            </a:r>
          </a:p>
          <a:p/>
          <a:p>
            <a:r>
              <a:t>Three deep subagents underneath. Portfolio analyst — holdings and concentration. Spend analyst — six months of transactions. Market researcher — search, read, follow leads. These get the full harness, and here's the reason: their work is open-ended and context-heavy. The market researcher does not know in advance how many pages it needs to read. That's exactly the shape of problem subagents exist for. (pause)</a:t>
            </a:r>
          </a:p>
          <a:p/>
          <a:p>
            <a:r>
              <a:t>And the reason is not "so it can do more work in parallel." It's context. The market researcher will burn a hundred thousand tokens reading pages about Apple's China exposure, and the supervisor should never see any of that. It should see a two-paragraph summary with source ids. A subagent is a context window with a job — that's the line I'd like you to leave with. You're not partitioning work, you're partitioning attention.</a:t>
            </a:r>
          </a:p>
          <a:p/>
          <a:p>
            <a:r>
              <a:t>Then two agents that are deliberately shallow — plain create_agent ReAct loops, no harness. The allocation strategist and the verifier. And I want to defend that, because it's the choice on this slide most likely to get pushed back on.</a:t>
            </a:r>
          </a:p>
          <a:p/>
          <a:p>
            <a:r>
              <a:t>The allocation strategist decides what to trade. That sounds like the most important judgment in the system, so why is it the least autonomous agent? (pause) Because its arithmetic is not its job. The weights, the drift, the runway, the trade amounts — those all come out of deterministic tools. What the model contributes is judgment about which drift actually matters, and it returns a validated RecommendationSet through response_format. Bounded input, one correct output shape, no need to plan. A deep agent there would be strictly more surface area for no capability I need.</a:t>
            </a:r>
          </a:p>
          <a:p/>
          <a:p>
            <a:r>
              <a:t>Same for the verifier. It runs a fixed list of checks. Fixed lists don't need planning.</a:t>
            </a:r>
          </a:p>
          <a:p/>
          <a:p>
            <a:r>
              <a:t>And along the bottom: the append-only grounding ledger. Every tool result that becomes evidence — from the supervisor, the three analysts, and the strategist — recorded by GroundingLedgerMiddleware. (pause) Note the words per agent, because we're coming back to that in about ten minutes and it's going to hurt.</a:t>
            </a:r>
          </a:p>
          <a:p/>
          <a:p>
            <a:r>
              <a:t>The verifier is the one agent that doesn't carry it, deliberately: it reads the ledger to check claims, it doesn't produce evidence for them. If I recorded its own tool calls into the thing it's auditing, I'd have built a closed loop.</a:t>
            </a:r>
          </a:p>
          <a:p/>
          <a:p>
            <a:r>
              <a:t>Append-only is load-bearing, by the way. The agent has real filesystem access. An agent that can rewrite /sources/ can make any claim verify. Evidence is only evidence if the thing being audited can't edit it — so filesystem permissions make that directory read-only to the agent.</a:t>
            </a:r>
          </a:p>
          <a:p/>
          <a:p>
            <a:r>
              <a:t>[Open src/wealth_agent/agents/supervisor.py here. Scroll the docstring. Every decision on this slide is a named argument in one function call.]</a:t>
            </a:r>
          </a:p>
          <a:p/>
          <a:p>
            <a:r>
              <a:t>If asked here: "Why not make the verifier a deep agent too — wouldn't it catch more?" — It would have more ways to look, and I don't want that. A verifier that can plan can decide to skip a check. The value of the verifier is that it is boring and identical every time. If it starts being creative, I've lost the property I built it for.</a:t>
            </a:r>
          </a:p>
        </p:txBody>
      </p:sp>
      <p:sp>
        <p:nvSpPr>
          <p:cNvPr id="129" name="Google Shape;129;g3f75f2bbabb_2_7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75f2bbabb_2_1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g3f75f2bbabb_2_1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Design principle  —  3.5 minutes</a:t>
            </a:r>
          </a:p>
          <a:p/>
          <a:p>
            <a:r>
              <a:t>This slide is the architecture thesis, and if you take one slide back to your own agent, take this one.</a:t>
            </a:r>
          </a:p>
          <a:p/>
          <a:p>
            <a:r>
              <a:t>Two columns. On the left, what the model decides. On the right, what code enforces. And the discipline is that nothing crosses.</a:t>
            </a:r>
          </a:p>
          <a:p/>
          <a:p>
            <a:r>
              <a:t>The model decides which specialist should investigate next. Which sources are worth reading and which leads to follow. And how to explain a trade-off — for instance, when the sector target says trim Apple and the single-name cap says trim VOO and those two pull against each other, a human has to be told that clearly. That is genuinely a language problem and the model is genuinely good at it.</a:t>
            </a:r>
          </a:p>
          <a:p/>
          <a:p>
            <a:r>
              <a:t>Code computes. Portfolio weights, drift against policy, cash runway, trade amounts. Any number that reaches the memo comes out of a function. If you're adding a capability to this system that produces a number, it is a tool — it is not an instruction in a prompt.</a:t>
            </a:r>
          </a:p>
          <a:p/>
          <a:p>
            <a:r>
              <a:t>Code records. Every tool result enters the append-only ledger, and it does that in middleware, not inside the tools. That distinction is the single highest-leverage decision in the repo, so let me be precise about why. If recording lives inside each tool, then recording is a habit — and a habit is something a new tool written by a new engineer in six months can forget. Nothing errors. The audit trail just quietly gets a hole in it. In middleware, no tool can forget to participate in an audit trail it doesn't know exists. Move correctness out of the thing that gets copy-pasted and into the thing that wraps it.</a:t>
            </a:r>
          </a:p>
          <a:p/>
          <a:p>
            <a:r>
              <a:t>And code gates. Citations resolve or the run is defective. Figures trace to a recorded tool result. Write tools cross a human. And the release gate is a pytest assertion on the verification report, so a defect fails the build the same way a broken import does.</a:t>
            </a:r>
          </a:p>
          <a:p/>
          <a:p>
            <a:r>
              <a:t>One clarification, because this slide gets misread: deterministic does not mean "no AI." It means this particular question has exactly one right answer, so ordinary software is the correct enforcement mechanism. Using a language model to check whether 34.71% equals 34.71% is not sophistication. It's just an expensive, less reliable ==.</a:t>
            </a:r>
          </a:p>
          <a:p/>
          <a:p>
            <a:r>
              <a:t>Bottom line: create_deep_agent where the work is open-ended, create_agent plus response_format where it's bounded.</a:t>
            </a:r>
          </a:p>
          <a:p/>
          <a:p>
            <a:r>
              <a:t>If asked here: "Doesn't this just mean you wrote a normal program with an LLM sprinkled on it?" — Honestly, a bit, and I'd take that as a compliment. The parts of this that are software are software because software is better at them. The model is there for the three things on the left, which no amount of Python was going to do.</a:t>
            </a:r>
          </a:p>
        </p:txBody>
      </p:sp>
      <p:sp>
        <p:nvSpPr>
          <p:cNvPr id="171" name="Google Shape;171;g3f75f2bbabb_2_1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75f2bbabb_2_1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g3f75f2bbabb_2_1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Demo  —  8 minutes</a:t>
            </a:r>
          </a:p>
          <a:p/>
          <a:p>
            <a:r>
              <a:t>Enough slides. I want you to make a decision.</a:t>
            </a:r>
          </a:p>
          <a:p/>
          <a:p>
            <a:r>
              <a:t>Commands, in order</a:t>
            </a:r>
          </a:p>
          <a:p/>
          <a:p>
            <a:r>
              <a:t>`</a:t>
            </a:r>
          </a:p>
          <a:p>
            <a:r>
              <a:t>make report            # pick the naive run</a:t>
            </a:r>
          </a:p>
          <a:p>
            <a:r>
              <a:t>make report            # pick the recommended run</a:t>
            </a:r>
          </a:p>
          <a:p>
            <a:r>
              <a:t>make compare</a:t>
            </a:r>
          </a:p>
          <a:p>
            <a:r>
              <a:t>`</a:t>
            </a:r>
          </a:p>
          <a:p/>
          <a:p>
            <a:r>
              <a:t>Everything is offline, replayed from frozen runs in artifacts/runs/. No model calls, no network, no keys. If the wifi dies this demo still works.</a:t>
            </a:r>
          </a:p>
          <a:p/>
          <a:p>
            <a:r>
              <a:t>Beat 1 — open the naive memo. [Open it. Scroll to the recommendations. Then stop talking for fifteen seconds and let them read.]</a:t>
            </a:r>
          </a:p>
          <a:p/>
          <a:p>
            <a:r>
              <a:t>&gt; Read the strongest recommendation on that page. Same data, same question, same subagents, same tools as the version I'll show you second. The only difference is discipline — no memo-format skill telling it to cite sources and never round, no verifier, no runtime grading.</a:t>
            </a:r>
          </a:p>
          <a:p/>
          <a:p>
            <a:r>
              <a:t>Beat 2 — ask the room.</a:t>
            </a:r>
          </a:p>
          <a:p/>
          <a:p>
            <a:r>
              <a:t>&gt; You're the reviewer. Would you sign this? (pause) What would you need? (pause)</a:t>
            </a:r>
          </a:p>
          <a:p/>
          <a:p>
            <a:r>
              <a:t>[Let them find it. Somebody usually says "sources." Then land it:]</a:t>
            </a:r>
          </a:p>
          <a:p/>
          <a:p>
            <a:r>
              <a:t>&gt; This memo makes about twenty claims about Apple's China antitrust exposure, EU DMA fines, and tariff guidance. It attributes none of them. And it quietly rounded six real tool outputs into tidier numbers — eighteen thousand four hundred and twenty-one instead of eighteen thousand four hundred twenty point five five. Nobody asked it to. It rounded because rounding reads better.</a:t>
            </a:r>
          </a:p>
          <a:p>
            <a:r>
              <a:t>&gt;</a:t>
            </a:r>
          </a:p>
          <a:p>
            <a:r>
              <a:t>&gt; And here's the part that should bother you: this is comfortably the best-written of the three memos. It's the only one that closes with a prioritised action plan. It is the one you would forward to a client. (pause) The most persuasive memo was the least defensible one, and reading it carefully would not have told you that. That's not a model failure. That's a category failure — you cannot inspect grounding by reading.</a:t>
            </a:r>
          </a:p>
          <a:p/>
          <a:p>
            <a:r>
              <a:t>Beat 3 — open the grounded memo. [Click one number. Let the evidence panel open. Click a second one.]</a:t>
            </a:r>
          </a:p>
          <a:p/>
          <a:p>
            <a:r>
              <a:t>&gt; Same question. Now every figure is a link. Click it and you get the tool call that produced it, the raw result, and which agent was holding it. This one is showing you get_account_balances — that's an MCP tool on the trading server, held by the portfolio analyst, and the ledger caught its output at the moment it arrived.</a:t>
            </a:r>
          </a:p>
          <a:p/>
          <a:p>
            <a:r>
              <a:t>Beat 4 — make compare.</a:t>
            </a:r>
          </a:p>
          <a:p/>
          <a:p>
            <a:r>
              <a:t>&gt; Three configurations, recomputed from the frozen runs. Naive: ninety-two point four percent grounded, zero citations. Baseline — skills plus grounding rules, nothing checking them: ninety-nine point two, thirty-two citations. Verified — plus a verifier subagent and a runtime rubric loop: ninety-eight point six, forty-two citations.</a:t>
            </a:r>
          </a:p>
          <a:p>
            <a:r>
              <a:t>&gt;</a:t>
            </a:r>
          </a:p>
          <a:p>
            <a:r>
              <a:t>&gt; Notice the verified run scores lower on grounding than the baseline. That's not a regression. It made more claims and cited more of them, and the denominator moved. This is why one number is not a verdict — which is the whole back half of this session.</a:t>
            </a:r>
          </a:p>
          <a:p/>
          <a:p>
            <a:r>
              <a:t>[If LangSmith is up] Open the trace. First thing, before anything else: filter on lc_agent_name. A single run is forty-plus spans across four agents, and dropped in cold you will scroll and disengage. Collapse it to one subagent first. Navigation before content.</a:t>
            </a:r>
          </a:p>
          <a:p/>
          <a:p>
            <a:r>
              <a:t>Recovery plan, in order of preference:</a:t>
            </a:r>
          </a:p>
          <a:p>
            <a:r>
              <a:t>1. make report on the frozen runs — no network, no model.</a:t>
            </a:r>
          </a:p>
          <a:p>
            <a:r>
              <a:t>2. slides/trust-but-verify.html — the checked-in workshop page.</a:t>
            </a:r>
          </a:p>
          <a:p>
            <a:r>
              <a:t>3. Talk through the make compare table from this script. You know the numbers.</a:t>
            </a:r>
          </a:p>
          <a:p/>
          <a:p>
            <a:r>
              <a:t>Run make doctor before you present. It checks keys, prompts, policy, and fixtures.</a:t>
            </a:r>
          </a:p>
        </p:txBody>
      </p:sp>
      <p:sp>
        <p:nvSpPr>
          <p:cNvPr id="198" name="Google Shape;198;g3f75f2bbabb_2_14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75f2bbabb_2_1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g3f75f2bbabb_2_1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Failure story  —  3.5 minutes</a:t>
            </a:r>
          </a:p>
          <a:p/>
          <a:p>
            <a:r>
              <a:t>I want to show you a bug I shipped while building this, because it is the exact thesis of the session and the system caught it on itself.</a:t>
            </a:r>
          </a:p>
          <a:p/>
          <a:p>
            <a:r>
              <a:t>That number — eighteen thousand four hundred twenty dollars and fifty-five cents — is the real cash balance. It came straight out of get_account_balances. It is as real as a number gets in this system. (pause) And the verifier reported it as unsupported.</a:t>
            </a:r>
          </a:p>
          <a:p/>
          <a:p>
            <a:r>
              <a:t>Here's why. I installed GroundingLedgerMiddleware on the supervisor. Which felt right — one place, cross-cutting concern, that's what middleware is for. (pause) But declarative subagents don't inherit parent middleware. When you define a subagent as configuration — a dict with a name, a prompt, and a tool list — the harness builds it for you, and it builds it with the middleware it was told about, not the middleware the parent happens to have.</a:t>
            </a:r>
          </a:p>
          <a:p/>
          <a:p>
            <a:r>
              <a:t>So every tool call made inside a subagent never reached the ledger. get_account_balances is wired into the portfolio analyst, and the portfolio analyst is a subagent. So the cash balance was fetched, used, and reported correctly in the memo — while the evidence for it was destroyed at the boundary between two context windows.</a:t>
            </a:r>
          </a:p>
          <a:p/>
          <a:p>
            <a:r>
              <a:t>Now sit with the failure shape, because the shape is the lesson. Nothing errored. No exception, no warning, no degraded-mode banner. The agent ran beautifully. It produced a good memo. The grounding score was seventy-six point six percent and I spent an embarrassingly long time trying to make the model cite better — because the score was pointing at the model and the bug was in my wiring.</a:t>
            </a:r>
          </a:p>
          <a:p/>
          <a:p>
            <a:r>
              <a:t>Fix was one line per subagent. Seventy-six point six to ninety-nine point two. The before-run is frozen in the repo as artifacts/runs/ledger-bug, so you can diff the two ledgers yourself.</a:t>
            </a:r>
          </a:p>
          <a:p/>
          <a:p>
            <a:r>
              <a:t>Two things to take from this. One, practical: a cross-cutting control has to be installed per agent, and you should assert that it was. There's now a test that walks the analyst subagents and fails if any of them is missing the ledger middleware — because "I remembered" is not a control. (pause) And I'll be honest that the test only covers the analysts today; extending it to walk the whole registry is the obvious next commit, and it's exactly the kind of gap this session is about.</a:t>
            </a:r>
          </a:p>
          <a:p/>
          <a:p>
            <a:r>
              <a:t>Two, general: this is what a verification system is for. Not catching a model hallucinating — catching you. The most expensive bugs in agent systems are not wrong answers. They're controls that report success they did not achieve.</a:t>
            </a:r>
          </a:p>
          <a:p/>
          <a:p>
            <a:r>
              <a:t>If asked here: "How would we have caught this earlier?" — The trace would have shown it in about thirty seconds. Filter to the spend analyst, look at its tool spans, and the ledger writes just aren't there. I didn't look, because the score looked like a model problem and I believed the score. That's the actual lesson.</a:t>
            </a:r>
          </a:p>
        </p:txBody>
      </p:sp>
      <p:sp>
        <p:nvSpPr>
          <p:cNvPr id="231" name="Google Shape;231;g3f75f2bbabb_2_17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75f2bbabb_2_2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g3f75f2bbabb_2_2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Three tiers of evaluation  —  4 minutes</a:t>
            </a:r>
          </a:p>
          <a:p/>
          <a:p>
            <a:r>
              <a:t>So how do you check a hundred and forty-two claims. Three tiers, and the order matters as much as the contents.</a:t>
            </a:r>
          </a:p>
          <a:p/>
          <a:p>
            <a:r>
              <a:t>Tier one: deterministic. Ordinary Python. Does every citation resolve to a source file that exists. Does every figure in the memo appear in the ledger, within a rounding tolerance. Free, instant, identical every time, runs in pytest. (pause) Against twenty labelled defects, it catches eighteen. For zero dollars. That is the single best return in this entire architecture, and it's the tier teams skip because it doesn't feel like AI engineering.</a:t>
            </a:r>
          </a:p>
          <a:p/>
          <a:p>
            <a:r>
              <a:t>Tier two: the LLM judge. Reach for this only for the two it can't settle. And I want to be honest about both misses, because the honesty is the useful part.</a:t>
            </a:r>
          </a:p>
          <a:p/>
          <a:p>
            <a:r>
              <a:t>Miss one: a real 34.71% attributed to the wrong denominator. The number exists in the ledger, so the checker is satisfied — but it's a percentage of equity being presented as a percentage of the portfolio. That's a semantic error and code cannot see it.</a:t>
            </a:r>
          </a:p>
          <a:p/>
          <a:p>
            <a:r>
              <a:t>Miss two is worse, and it's a design trade with no clean answer. The checker has a rounding tolerance, because a memo that says "eighteen thousand four hundred twenty-one" for 18,420.55 is being helpful, not dishonest. That same tolerance lets a fabricated 12% through, because a real 11.88% rounds to 12. (pause) Tighten the tolerance and honest reformatting starts failing your build. Loosen it and fabrication gets through. There is no setting that avoids both. I'd argue that trade-off is the most useful thing on this slide — you are not going to engineer your way out of it, you're going to choose, and you should choose knowing that's what you're doing.</a:t>
            </a:r>
          </a:p>
          <a:p/>
          <a:p>
            <a:r>
              <a:t>Tier three: trajectory. What the agent did, not what it said. Which tools it called, whether approvals happened, whether it stayed inside its budget. (pause) This one protects against a specific and nasty failure: a memo that is perfectly grounded and completely vacuous, because the agent skipped an analysis and only made claims it could easily support. Grounding rewards caution. Trajectory checks are what stop caution from becoming emptiness.</a:t>
            </a:r>
          </a:p>
          <a:p/>
          <a:p>
            <a:r>
              <a:t>Bottom line: a right answer reached by an unsafe path is still a failed agent.</a:t>
            </a:r>
          </a:p>
          <a:p/>
          <a:p>
            <a:r>
              <a:t>If asked here — and you will be asked this: "Why not just write unit tests?" — You should, and I did: the tier-one checks are unit tests. The distinction is between invariants and distributions. "This citation resolves" is an invariant — assert it, fail the build. "This memo is well-grounded" is a distribution — score it, watch it move, alert on the delta. Teams get stuck because they try to assert on a distribution, watch it flake, and conclude agents are untestable. They're not. You were just using the wrong instrument.</a:t>
            </a:r>
          </a:p>
        </p:txBody>
      </p:sp>
      <p:sp>
        <p:nvSpPr>
          <p:cNvPr id="274" name="Google Shape;274;g3f75f2bbabb_2_2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f75f2bbabb_2_2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g3f75f2bbabb_2_2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Evaluate the evaluator  —  5 minutes</a:t>
            </a:r>
          </a:p>
          <a:p/>
          <a:p>
            <a:r>
              <a:t>This is the slide I'd keep if I could only keep one.</a:t>
            </a:r>
          </a:p>
          <a:p/>
          <a:p>
            <a:r>
              <a:t>There is an objection that decides whether any of this lands, and it usually arrives as a joke: an LLM grading an LLM is turtles all the way down. It's a good objection. I have two answers and the order matters.</a:t>
            </a:r>
          </a:p>
          <a:p/>
          <a:p>
            <a:r>
              <a:t>First answer: don't use a judge where code will do. That was the last slide — eighteen of twenty defects, for free. If you reach for a judge first, you deserve the turtles.</a:t>
            </a:r>
          </a:p>
          <a:p/>
          <a:p>
            <a:r>
              <a:t>Second answer: the judge is measurable, and if you don't measure it you're not doing evaluation, you're doing astrology with a dashboard.</a:t>
            </a:r>
          </a:p>
          <a:p/>
          <a:p>
            <a:r>
              <a:t>So. Twenty of my own labelled fixtures — twenty memo-and-claim pairs where I sat down and decided by hand whether each claim was supported. Same judge model throughout. Three versions of the judge prompt.</a:t>
            </a:r>
          </a:p>
          <a:p/>
          <a:p>
            <a:r>
              <a:t>v1, a reasonable first draft. Eighty-five percent agreement with my labels. It blessed two bad memos and flagged one good one.</a:t>
            </a:r>
          </a:p>
          <a:p/>
          <a:p>
            <a:r>
              <a:t>v2. I read v1's mistakes and wrote a stricter prompt. (pause) Eighty-five percent. (pause) Identical headline score.</a:t>
            </a:r>
          </a:p>
          <a:p/>
          <a:p>
            <a:r>
              <a:t>Now. If eighty-five to eighty-five is all you're looking at, what do you do? You throw the change away. You say "prompt engineering doesn't work, the numbers didn't move," and you go and look for a bigger model. (pause)</a:t>
            </a:r>
          </a:p>
          <a:p/>
          <a:p>
            <a:r>
              <a:t>Look at the columns. v2 blessed zero bad memos. It eliminated the entire dangerous error class. What it did instead was flag three good memos — it got twitchy. And in this domain those two error classes have wildly different costs: a false accept is a wrong number in front of a client, and a false reject is a five-minute conversation with an engineer.</a:t>
            </a:r>
          </a:p>
          <a:p/>
          <a:p>
            <a:r>
              <a:t>A single agreement number would have told you to throw away the change that mattered most. That is the whole slide.</a:t>
            </a:r>
          </a:p>
          <a:p/>
          <a:p>
            <a:r>
              <a:t>v3 is calibrated — I kept v2's strictness and gave it explicit guidance on the class of thing it was over-flagging. Ninety-five percent, zero false accepts, one false reject.</a:t>
            </a:r>
          </a:p>
          <a:p/>
          <a:p>
            <a:r>
              <a:t>So the lesson is not "write a better prompt." The lesson is: an evaluator is an application. It has inputs, outputs, failure modes, and a version history. It needs its own labelled test set and its own error analysis, and you need that before you believe a single score it produces. (pause) This is why so many teams have eval dashboards they quietly stopped looking at. Not because the dashboard is wrong — because nobody ever checked whether it was right, so nobody trusts it, so nobody acts on it.</a:t>
            </a:r>
          </a:p>
          <a:p/>
          <a:p>
            <a:r>
              <a:t>And building the labelled set is the step everybody skips because it feels like homework. Twenty examples, hand-labelled against one fixed evidence body — then pushed to a LangSmith dataset in about three lines with create_dataset and create_examples, so an experiment can run against them. Twenty beats zero by an enormous margin, and waiting until you can do two hundred properly is procrastination with better branding.</a:t>
            </a:r>
          </a:p>
          <a:p/>
          <a:p>
            <a:r>
              <a:t>If asked here: "Who decides the ground truth?" — I did, and that's a real limitation, so say it plainly. In production this is an annotation queue with the people who actually own the risk — the compliance reviewers. What doesn't change is the mechanism: their labels become the dataset, agreement becomes the metric, and disagreements are the thing you read.</a:t>
            </a:r>
          </a:p>
        </p:txBody>
      </p:sp>
      <p:sp>
        <p:nvSpPr>
          <p:cNvPr id="306" name="Google Shape;306;g3f75f2bbabb_2_24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f75f2bbabb_2_2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g3f75f2bbabb_2_2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Enterprise controls  —  3 minutes</a:t>
            </a:r>
          </a:p>
          <a:p/>
          <a:p>
            <a:r>
              <a:t>Quickly, because in a regulated room these questions arrive whether or not I put them on a slide.</a:t>
            </a:r>
          </a:p>
          <a:p/>
          <a:p>
            <a:r>
              <a:t>Tools come in over MCP — the Trading and Banking servers. Every one of them goes through a blast-radius classifier before the agent ever sees it. Verb rules, and it fails closed: if the classifier can't confidently place a tool, it's treated as dangerous. That default is the whole value of the thing.</a:t>
            </a:r>
          </a:p>
          <a:p/>
          <a:p>
            <a:r>
              <a:t>Three buckets. Read — visible to the model, no ceremony. Write — anything that changes account state. Hidden by default; and if you do enable it, it's wrapped in interrupt_on, which is a LangGraph interrupt: the run pauses, a human approves or rejects, and the run resumes from exactly where it stopped. Secret — anything that would put a credential in a context window. Never exposed at all, at any setting.</a:t>
            </a:r>
          </a:p>
          <a:p/>
          <a:p>
            <a:r>
              <a:t>The thing I want you to notice is that those are two independent switches, not one. Visibility is separate from execution. ALLOW_WRITE_TOOLS controls whether the model can even see a write tool. interrupt_on controls whether a visible one can fire without a person. Collapsing those into a single flag is how you end up with an agent that's one config change away from trading.</a:t>
            </a:r>
          </a:p>
          <a:p/>
          <a:p>
            <a:r>
              <a:t>And then the honest part. (pause) This demo runs on synthetic data, an offline replay server, and InMemorySaver — an in-memory checkpointer. That is a demo choice and I'm not going to pretend otherwise. Production needs a durable checkpoint store and stable thread ids, so a crash resumes instead of restarting.</a:t>
            </a:r>
          </a:p>
          <a:p/>
          <a:p>
            <a:r>
              <a:t>One thing people get wrong about that: durable execution preserves progress. It does not make external actions exactly-once. If your agent placed a trade and then the process died, resuming will happily place it again. Side effects still need idempotency keys. That's your problem, not the framework's.</a:t>
            </a:r>
          </a:p>
          <a:p/>
          <a:p>
            <a:r>
              <a:t>Plus tenant isolation and an append-only audit log, which for this use case is the ledger you've already seen — it was designed for compliance, and observability was the bonus.</a:t>
            </a:r>
          </a:p>
          <a:p/>
          <a:p>
            <a:r>
              <a:t>If asked here — and this one usually arrives in the first ten minutes: "Our data can't leave the building." — Three things, ninety seconds. Self-hosted LangSmith exists. Input and output masking exists, so you can trace structure without payloads. And this entire demo runs offline, which is a reasonable model for local development. Happy to go deeper after.</a:t>
            </a:r>
          </a:p>
        </p:txBody>
      </p:sp>
      <p:sp>
        <p:nvSpPr>
          <p:cNvPr id="338" name="Google Shape;338;g3f75f2bbabb_2_27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f75f2bbabb_2_30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0" name="Google Shape;370;g3f75f2bbabb_2_30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Close  —  2 minutes</a:t>
            </a:r>
          </a:p>
          <a:p/>
          <a:p>
            <a:r>
              <a:t>Back to where we started. Compliance signs off Monday.</a:t>
            </a:r>
          </a:p>
          <a:p/>
          <a:p>
            <a:r>
              <a:t>The agent doesn't earn that signature because the prose is polished. It earns it because claims link to recorded evidence, risky actions cross an explicit boundary, and every evaluator in the path has been measured against human labels.</a:t>
            </a:r>
          </a:p>
          <a:p/>
          <a:p>
            <a:r>
              <a:t>If you forget this stack tomorrow, two practices survive.</a:t>
            </a:r>
          </a:p>
          <a:p/>
          <a:p>
            <a:r>
              <a:t>One. Record evidence at the moment it arrives. In middleware, not in your tools. Make the audit trail the default rather than an optional habit — because habits are things people forget, and forgetting doesn't throw.</a:t>
            </a:r>
          </a:p>
          <a:p/>
          <a:p>
            <a:r>
              <a:t>Two. Measure the judge before you trust it. A score is only useful once you understand the evaluator's own error distribution. Twenty labelled examples. Read the disagreements, not the average.</a:t>
            </a:r>
          </a:p>
          <a:p/>
          <a:p>
            <a:r>
              <a:t>Both of those transfer to whatever framework you're using, and both of them are why the customer's reviewer checks two flagged claims instead of re-deriving a hundred and forty-two. (pause) That ratio is the product.</a:t>
            </a:r>
          </a:p>
          <a:p/>
          <a:p>
            <a:r>
              <a:t>Where this sits: agent fundamentals before, deployment and online evaluation after — the offline loop becomes continuous, with alerting and annotation queues and real user feedback. And the honest footnote is that verification roughly doubles tail latency, which deserves its own session rather than a bullet here.</a:t>
            </a:r>
          </a:p>
          <a:p/>
          <a:p>
            <a:r>
              <a:t>Thank you. What did I get wrong?</a:t>
            </a:r>
          </a:p>
        </p:txBody>
      </p:sp>
      <p:sp>
        <p:nvSpPr>
          <p:cNvPr id="371" name="Google Shape;371;g3f75f2bbabb_2_30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What this is  —  2.5 minutes</a:t>
            </a:r>
          </a:p>
          <a:p/>
          <a:p>
            <a:r>
              <a:t>Before the topic, the thing itself. It's much easier to argue about how you verify something once you can see what's being verified.</a:t>
            </a:r>
          </a:p>
          <a:p/>
          <a:p>
            <a:r>
              <a:t>A wealth memo is a document an advisor writes before sitting down with a client. It says four things: here is what you own, here is where your money went, here is what I think you should change, and here is the evidence for each of those claims. Producing one by hand is several hours, and honestly most of those hours are not judgment. They're reconciliation, categorisation, computing weights against a policy, deriving trade sizes, chasing sources, formatting.</a:t>
            </a:r>
          </a:p>
          <a:p/>
          <a:p>
            <a:r>
              <a:t>What goes in. Four inputs. Positions and balances — that's the Robinhood Trading MCP server. Six months of card transactions — the Banking MCP server. Both of those come in as ordinary LangChain tools; MCP is just a transport, and once they're loaded the agent doesn't know or care that they came over a protocol. Third, an investment policy — a checked-in JSON file with the target allocation, the tolerance bands, and a cash floor. It's a file on purpose, so a compliance officer can read it and a diff can show you when it changed. And fourth, live market context from web search, where every page that gets fetched is written to disk.</a:t>
            </a:r>
          </a:p>
          <a:p/>
          <a:p>
            <a:r>
              <a:t>What comes out. Not "consider reducing your technology exposure." This: (pause) trim Apple by eleven thousand seven hundred fifty-nine dollars and forty-eight cents, because Information Technology is sitting at thirty-four point seven one percent of equity against a twenty-five percent target with a five-point band.</a:t>
            </a:r>
          </a:p>
          <a:p/>
          <a:p>
            <a:r>
              <a:t>That's specific enough to act on, which is exactly what makes it dangerous. So two design commitments. Every dollar figure on that line was computed by a Python function, not by a model. And every market claim carries the id of a page that was actually fetched. In the report itself, every number is clickable — click it and you see which tool produced it and which agent was holding it at the time.</a:t>
            </a:r>
          </a:p>
          <a:p/>
          <a:p>
            <a:r>
              <a:t>And the line at the bottom is the customer's version of the value. Notice it has two halves, because there are two problems here, not one. (pause) Hours of mechanical assembly become about four minutes and roughly a dollar — that's problem one. A hundred and forty-two claims checked automatically with two needing a person — that's problem two.</a:t>
            </a:r>
          </a:p>
          <a:p/>
          <a:p>
            <a:r>
              <a:t>I'll take them in that order, because the second problem only exists once you've solved the first.</a:t>
            </a:r>
          </a:p>
          <a:p/>
          <a:p>
            <a:r>
              <a:t>If asked here: "Is this real Robinhood data?" — The servers are real, and they use OAuth 2.1 with dynamic client registration; getting a headless Python agent through that flow is in the repo and is a genuinely useful five minutes on its own. The data you'll see is synthetic and deterministic, served by a local server that mirrors the real tool surface. Generated, not redacted — redaction preserves shape but breaks arithmetic, and a session about numbers being checkable can't run on numbers that don't add up.</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problem the agent solves  —  1 minute</a:t>
            </a:r>
          </a:p>
          <a:p/>
          <a:p>
            <a:r>
              <a:t>[Advance. Stop talking. Let them read it.]</a:t>
            </a:r>
          </a:p>
          <a:p/>
          <a:p>
            <a:r>
              <a:t>That is the problem this agent exists to solve. One sentence, and it has nothing to do with AI. (pause)</a:t>
            </a:r>
          </a:p>
          <a:p/>
          <a:p>
            <a:r>
              <a:t>It's worth being specific about what those hours actually are, because almost none of them are judgment. Reconciling positions against the last statement. Categorising six months of card transactions into something you can reason about. Computing each holding's weight and comparing it against the policy. Working out the dollar size of every trade that would bring it back inside its band. Chasing down what's changed about the holdings. Then formatting the whole thing so a client can read it.</a:t>
            </a:r>
          </a:p>
          <a:p/>
          <a:p>
            <a:r>
              <a:t>The advisor's actual value is the judgment at the end — which drift matters, what to say, what to leave alone. (pause) They spend most of their afternoon on everything before that.</a:t>
            </a:r>
          </a:p>
          <a:p/>
          <a:p>
            <a:r>
              <a:t>That is the part the agent does. About four minutes and a dollar instead of an afternoon. (pause) And if this deck stopped right here, it would be a perfectly reasonable product pitch.</a:t>
            </a:r>
          </a:p>
          <a:p/>
          <a:p>
            <a:r>
              <a:t>Delivery note: the silence at the start is the slide. Don't read the sentence out loud — they can read. And say "nothing to do with AI" deliberately: it signals you're selling an outcome, not a technology.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81C"/>
        </a:solidFill>
      </p:bgPr>
    </p:bg>
    <p:spTree>
      <p:nvGrpSpPr>
        <p:cNvPr id="56" name="Shape 56"/>
        <p:cNvGrpSpPr/>
        <p:nvPr/>
      </p:nvGrpSpPr>
      <p:grpSpPr>
        <a:xfrm>
          <a:off x="0" y="0"/>
          <a:ext cx="0" cy="0"/>
          <a:chOff x="0" y="0"/>
          <a:chExt cx="0" cy="0"/>
        </a:xfrm>
      </p:grpSpPr>
      <p:sp>
        <p:nvSpPr>
          <p:cNvPr id="57" name="Google Shape;57;p15"/>
          <p:cNvSpPr/>
          <p:nvPr/>
        </p:nvSpPr>
        <p:spPr>
          <a:xfrm>
            <a:off x="0" y="0"/>
            <a:ext cx="100013" cy="5143500"/>
          </a:xfrm>
          <a:prstGeom prst="rect">
            <a:avLst/>
          </a:prstGeom>
          <a:solidFill>
            <a:srgbClr val="24726A"/>
          </a:solidFill>
          <a:ln cap="flat" cmpd="sng" w="95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 name="Google Shape;58;p15"/>
          <p:cNvSpPr/>
          <p:nvPr/>
        </p:nvSpPr>
        <p:spPr>
          <a:xfrm>
            <a:off x="585788" y="500063"/>
            <a:ext cx="4000500"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3B5A8"/>
              </a:buClr>
              <a:buSzPts val="800"/>
              <a:buFont typeface="Roboto Mono"/>
              <a:buNone/>
            </a:pPr>
            <a:r>
              <a:rPr b="1" lang="en" sz="800">
                <a:solidFill>
                  <a:srgbClr val="63B5A8"/>
                </a:solidFill>
                <a:latin typeface="Roboto Mono"/>
                <a:ea typeface="Roboto Mono"/>
                <a:cs typeface="Roboto Mono"/>
                <a:sym typeface="Roboto Mono"/>
              </a:rPr>
              <a:t>TECHNICAL WORKSHOP · 45 MIN + Q&amp;A</a:t>
            </a:r>
            <a:endParaRPr sz="1100"/>
          </a:p>
        </p:txBody>
      </p:sp>
      <p:sp>
        <p:nvSpPr>
          <p:cNvPr id="59" name="Google Shape;59;p15"/>
          <p:cNvSpPr/>
          <p:nvPr/>
        </p:nvSpPr>
        <p:spPr>
          <a:xfrm>
            <a:off x="585788" y="928688"/>
            <a:ext cx="5715000" cy="628650"/>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3900"/>
              <a:buFont typeface="Arial"/>
              <a:buNone/>
            </a:pPr>
            <a:r>
              <a:rPr b="1" lang="en" sz="3900">
                <a:solidFill>
                  <a:srgbClr val="FFFFFF"/>
                </a:solidFill>
              </a:rPr>
              <a:t>Wealth Agent</a:t>
            </a:r>
            <a:endParaRPr sz="1100"/>
          </a:p>
        </p:txBody>
      </p:sp>
      <p:sp>
        <p:nvSpPr>
          <p:cNvPr id="60" name="Google Shape;60;p15"/>
          <p:cNvSpPr/>
          <p:nvPr/>
        </p:nvSpPr>
        <p:spPr>
          <a:xfrm>
            <a:off x="600075" y="1685925"/>
            <a:ext cx="5429250" cy="371475"/>
          </a:xfrm>
          <a:prstGeom prst="rect">
            <a:avLst/>
          </a:prstGeom>
          <a:noFill/>
          <a:ln>
            <a:noFill/>
          </a:ln>
        </p:spPr>
        <p:txBody>
          <a:bodyPr anchorCtr="0" anchor="t" bIns="0" lIns="0" spcFirstLastPara="1" rIns="0" wrap="square" tIns="0">
            <a:noAutofit/>
          </a:bodyPr>
          <a:lstStyle/>
          <a:p>
            <a:pPr indent="0" lvl="0" marL="0" rtl="0" algn="l">
              <a:lnSpc>
                <a:spcPct val="108000"/>
              </a:lnSpc>
              <a:spcBef>
                <a:spcPts val="0"/>
              </a:spcBef>
              <a:spcAft>
                <a:spcPts val="0"/>
              </a:spcAft>
              <a:buClr>
                <a:srgbClr val="E4E9E6"/>
              </a:buClr>
              <a:buSzPts val="1400"/>
              <a:buFont typeface="Arial"/>
              <a:buNone/>
            </a:pPr>
            <a:r>
              <a:rPr lang="en">
                <a:solidFill>
                  <a:srgbClr val="E4E9E6"/>
                </a:solidFill>
              </a:rPr>
              <a:t>Trust, but verify — making a deep agent's output provable</a:t>
            </a:r>
            <a:endParaRPr sz="1100"/>
          </a:p>
        </p:txBody>
      </p:sp>
      <p:cxnSp>
        <p:nvCxnSpPr>
          <p:cNvPr id="61" name="Google Shape;61;p15"/>
          <p:cNvCxnSpPr/>
          <p:nvPr/>
        </p:nvCxnSpPr>
        <p:spPr>
          <a:xfrm>
            <a:off x="600075" y="2357438"/>
            <a:ext cx="7929563" cy="0"/>
          </a:xfrm>
          <a:prstGeom prst="straightConnector1">
            <a:avLst/>
          </a:prstGeom>
          <a:noFill/>
          <a:ln cap="flat" cmpd="sng" w="12375">
            <a:solidFill>
              <a:srgbClr val="3D4A50"/>
            </a:solidFill>
            <a:prstDash val="solid"/>
            <a:round/>
            <a:headEnd len="sm" w="sm" type="none"/>
            <a:tailEnd len="sm" w="sm" type="none"/>
          </a:ln>
        </p:spPr>
      </p:cxnSp>
      <p:sp>
        <p:nvSpPr>
          <p:cNvPr id="63" name="Google Shape;63;p15"/>
          <p:cNvSpPr/>
          <p:nvPr/>
        </p:nvSpPr>
        <p:spPr>
          <a:xfrm>
            <a:off x="600075" y="4157663"/>
            <a:ext cx="3143250" cy="17859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Roboto Mono"/>
              <a:buNone/>
            </a:pPr>
            <a:r>
              <a:rPr b="1" lang="en" sz="1000">
                <a:solidFill>
                  <a:srgbClr val="FFFFFF"/>
                </a:solidFill>
                <a:latin typeface="Roboto Mono"/>
                <a:ea typeface="Roboto Mono"/>
                <a:cs typeface="Roboto Mono"/>
                <a:sym typeface="Roboto Mono"/>
              </a:rPr>
              <a:t>ADITHYA NATARAJAN</a:t>
            </a:r>
            <a:endParaRPr sz="1100"/>
          </a:p>
        </p:txBody>
      </p:sp>
      <p:sp>
        <p:nvSpPr>
          <p:cNvPr id="64" name="Google Shape;64;p15"/>
          <p:cNvSpPr/>
          <p:nvPr/>
        </p:nvSpPr>
        <p:spPr>
          <a:xfrm>
            <a:off x="600075" y="4400550"/>
            <a:ext cx="51435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EB9B7"/>
              </a:buClr>
              <a:buSzPts val="1100"/>
              <a:buFont typeface="Arial"/>
              <a:buNone/>
            </a:pPr>
            <a:r>
              <a:rPr b="0" lang="en" sz="1100">
                <a:solidFill>
                  <a:srgbClr val="AEB9B7"/>
                </a:solidFill>
                <a:latin typeface="Arial"/>
                <a:ea typeface="Arial"/>
                <a:cs typeface="Arial"/>
                <a:sym typeface="Arial"/>
              </a:rPr>
              <a:t>Senior Software Engineer</a:t>
            </a:r>
            <a:endParaRPr sz="1100"/>
          </a:p>
        </p:txBody>
      </p:sp>
      <p:sp>
        <p:nvSpPr>
          <p:cNvPr id="65" name="Google Shape;65;p15"/>
          <p:cNvSpPr/>
          <p:nvPr/>
        </p:nvSpPr>
        <p:spPr>
          <a:xfrm>
            <a:off x="5643563" y="4443413"/>
            <a:ext cx="2886075" cy="1571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3B5A8"/>
              </a:buClr>
              <a:buSzPts val="800"/>
              <a:buFont typeface="Roboto Mono"/>
              <a:buNone/>
            </a:pPr>
            <a:r>
              <a:rPr b="1" lang="en" sz="800">
                <a:solidFill>
                  <a:srgbClr val="63B5A8"/>
                </a:solidFill>
                <a:latin typeface="Roboto Mono"/>
                <a:ea typeface="Roboto Mono"/>
                <a:cs typeface="Roboto Mono"/>
                <a:sym typeface="Roboto Mono"/>
              </a:rPr>
              <a:t>DEEP AGENTS  ·  LANGGRAPH  ·  LANGSMITH</a:t>
            </a:r>
            <a:endParaRPr sz="1100"/>
          </a:p>
        </p:txBody>
      </p:sp>
      <p:sp>
        <p:nvSpPr>
          <p:cNvPr id="9012" name="title-oneliner"/>
          <p:cNvSpPr/>
          <p:nvPr/>
        </p:nvSpPr>
        <p:spPr>
          <a:xfrm>
            <a:off x="603504" y="2615184"/>
            <a:ext cx="6583680" cy="548640"/>
          </a:xfrm>
          <a:prstGeom prst="rect">
            <a:avLst/>
          </a:prstGeom>
          <a:noFill/>
          <a:ln>
            <a:noFill/>
          </a:ln>
        </p:spPr>
        <p:txBody>
          <a:bodyPr anchorCtr="0" anchor="t" bIns="0" lIns="0" spcFirstLastPara="1" rIns="0" wrap="square" tIns="0">
            <a:noAutofit/>
          </a:bodyPr>
          <a:lstStyle/>
          <a:p>
            <a:pPr indent="0" lvl="0" marL="0" rtl="0" algn="l">
              <a:lnSpc>
                <a:spcPct val="108000"/>
              </a:lnSpc>
              <a:spcBef>
                <a:spcPts val="0"/>
              </a:spcBef>
              <a:spcAft>
                <a:spcPts val="0"/>
              </a:spcAft>
              <a:buClr>
                <a:srgbClr val="E4E9E6"/>
              </a:buClr>
              <a:buSzPts val="1400"/>
              <a:buFont typeface="Arial"/>
              <a:buNone/>
            </a:pPr>
            <a:r>
              <a:rPr lang="en" sz="1300">
                <a:solidFill>
                  <a:srgbClr val="AEB9B7"/>
                </a:solidFill>
              </a:rPr>
              <a:t>It reads a brokerage account, six months of card spending, and an investment policy — then says what to move, and shows where every number came from.</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70" name="Shape 70"/>
        <p:cNvGrpSpPr/>
        <p:nvPr/>
      </p:nvGrpSpPr>
      <p:grpSpPr>
        <a:xfrm>
          <a:off x="0" y="0"/>
          <a:ext cx="0" cy="0"/>
          <a:chOff x="0" y="0"/>
          <a:chExt cx="0" cy="0"/>
        </a:xfrm>
      </p:grpSpPr>
      <p:sp>
        <p:nvSpPr>
          <p:cNvPr id="71" name="Google Shape;71;p16"/>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WHAT THIS IS</a:t>
            </a:r>
            <a:endParaRPr sz="1100"/>
          </a:p>
        </p:txBody>
      </p:sp>
      <p:sp>
        <p:nvSpPr>
          <p:cNvPr id="72" name="Google Shape;72;p16"/>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Account data in. A defensible client memo out.</a:t>
            </a:r>
            <a:endParaRPr sz="1100"/>
          </a:p>
        </p:txBody>
      </p:sp>
      <p:cxnSp>
        <p:nvCxnSpPr>
          <p:cNvPr id="73" name="Google Shape;73;p16"/>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74" name="Google Shape;74;p16"/>
          <p:cNvSpPr/>
          <p:nvPr/>
        </p:nvSpPr>
        <p:spPr>
          <a:xfrm>
            <a:off x="512064" y="1261872"/>
            <a:ext cx="4005072" cy="54864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14181C"/>
              </a:buClr>
              <a:buSzPts val="1800"/>
              <a:buFont typeface="Arial"/>
              <a:buNone/>
            </a:pPr>
            <a:r>
              <a:rPr b="1" lang="en" sz="1700">
                <a:solidFill>
                  <a:srgbClr val="14181C"/>
                </a:solidFill>
                <a:latin typeface="Arial"/>
                <a:ea typeface="Arial"/>
                <a:cs typeface="Arial"/>
                <a:sym typeface="Arial"/>
              </a:rPr>
              <a:t>A wealth memo is what an advisor writes before a client review.</a:t>
            </a:r>
            <a:endParaRPr sz="1100"/>
          </a:p>
        </p:txBody>
      </p:sp>
      <p:sp>
        <p:nvSpPr>
          <p:cNvPr id="75" name="Google Shape;75;p16"/>
          <p:cNvSpPr/>
          <p:nvPr/>
        </p:nvSpPr>
        <p:spPr>
          <a:xfrm>
            <a:off x="512064" y="1883664"/>
            <a:ext cx="4005072" cy="1828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44E54"/>
              </a:buClr>
              <a:buSzPts val="1200"/>
              <a:buFont typeface="Arial"/>
              <a:buNone/>
            </a:pPr>
            <a:r>
              <a:rPr b="1" lang="en" sz="900">
                <a:solidFill>
                  <a:srgbClr val="24726A"/>
                </a:solidFill>
                <a:latin typeface="Arial"/>
                <a:ea typeface="Arial"/>
                <a:cs typeface="Arial"/>
                <a:sym typeface="Arial"/>
              </a:rPr>
              <a:t>WHAT GOES IN</a:t>
            </a:r>
            <a:endParaRPr sz="1100"/>
          </a:p>
        </p:txBody>
      </p:sp>
      <p:sp>
        <p:nvSpPr>
          <p:cNvPr id="76" name="Google Shape;76;p16"/>
          <p:cNvSpPr/>
          <p:nvPr/>
        </p:nvSpPr>
        <p:spPr>
          <a:xfrm>
            <a:off x="512064" y="2194560"/>
            <a:ext cx="34747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lang="en" sz="900">
                <a:solidFill>
                  <a:srgbClr val="24726A"/>
                </a:solidFill>
                <a:latin typeface="Roboto Mono"/>
                <a:ea typeface="Roboto Mono"/>
                <a:cs typeface="Roboto Mono"/>
                <a:sym typeface="Roboto Mono"/>
              </a:rPr>
              <a:t>01</a:t>
            </a:r>
            <a:endParaRPr sz="1100"/>
          </a:p>
        </p:txBody>
      </p:sp>
      <p:sp>
        <p:nvSpPr>
          <p:cNvPr id="77" name="Google Shape;77;p16"/>
          <p:cNvSpPr/>
          <p:nvPr/>
        </p:nvSpPr>
        <p:spPr>
          <a:xfrm>
            <a:off x="941832" y="2185416"/>
            <a:ext cx="3602736"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lang="en" sz="1100">
                <a:solidFill>
                  <a:srgbClr val="14181C"/>
                </a:solidFill>
                <a:latin typeface="Arial"/>
                <a:ea typeface="Arial"/>
                <a:cs typeface="Arial"/>
                <a:sym typeface="Arial"/>
              </a:rPr>
              <a:t>Positions and balances — Trading MCP server</a:t>
            </a:r>
            <a:endParaRPr sz="1100"/>
          </a:p>
        </p:txBody>
      </p:sp>
      <p:cxnSp>
        <p:nvCxnSpPr>
          <p:cNvPr id="78" name="Google Shape;78;p16"/>
          <p:cNvCxnSpPr/>
          <p:nvPr/>
        </p:nvCxnSpPr>
        <p:spPr>
          <a:xfrm>
            <a:off x="941832" y="2542032"/>
            <a:ext cx="3429000" cy="0"/>
          </a:xfrm>
          <a:prstGeom prst="straightConnector1">
            <a:avLst/>
          </a:prstGeom>
          <a:noFill/>
          <a:ln cap="flat" cmpd="sng" w="9525">
            <a:solidFill>
              <a:srgbClr val="CBD2CA"/>
            </a:solidFill>
            <a:prstDash val="solid"/>
            <a:round/>
            <a:headEnd len="sm" w="sm" type="none"/>
            <a:tailEnd len="sm" w="sm" type="none"/>
          </a:ln>
        </p:spPr>
      </p:cxnSp>
      <p:sp>
        <p:nvSpPr>
          <p:cNvPr id="79" name="Google Shape;79;p16"/>
          <p:cNvSpPr/>
          <p:nvPr/>
        </p:nvSpPr>
        <p:spPr>
          <a:xfrm>
            <a:off x="512064" y="2651760"/>
            <a:ext cx="34747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lang="en" sz="900">
                <a:solidFill>
                  <a:srgbClr val="24726A"/>
                </a:solidFill>
                <a:latin typeface="Roboto Mono"/>
                <a:ea typeface="Roboto Mono"/>
                <a:cs typeface="Roboto Mono"/>
                <a:sym typeface="Roboto Mono"/>
              </a:rPr>
              <a:t>02</a:t>
            </a:r>
            <a:endParaRPr sz="1100"/>
          </a:p>
        </p:txBody>
      </p:sp>
      <p:sp>
        <p:nvSpPr>
          <p:cNvPr id="80" name="Google Shape;80;p16"/>
          <p:cNvSpPr/>
          <p:nvPr/>
        </p:nvSpPr>
        <p:spPr>
          <a:xfrm>
            <a:off x="941832" y="2642616"/>
            <a:ext cx="3602736"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lang="en" sz="1100">
                <a:solidFill>
                  <a:srgbClr val="14181C"/>
                </a:solidFill>
                <a:latin typeface="Arial"/>
                <a:ea typeface="Arial"/>
                <a:cs typeface="Arial"/>
                <a:sym typeface="Arial"/>
              </a:rPr>
              <a:t>Six months of transactions — Banking MCP server</a:t>
            </a:r>
            <a:endParaRPr sz="1100"/>
          </a:p>
        </p:txBody>
      </p:sp>
      <p:cxnSp>
        <p:nvCxnSpPr>
          <p:cNvPr id="81" name="Google Shape;81;p16"/>
          <p:cNvCxnSpPr/>
          <p:nvPr/>
        </p:nvCxnSpPr>
        <p:spPr>
          <a:xfrm>
            <a:off x="941832" y="2999232"/>
            <a:ext cx="3429000" cy="0"/>
          </a:xfrm>
          <a:prstGeom prst="straightConnector1">
            <a:avLst/>
          </a:prstGeom>
          <a:noFill/>
          <a:ln cap="flat" cmpd="sng" w="9525">
            <a:solidFill>
              <a:srgbClr val="CBD2CA"/>
            </a:solidFill>
            <a:prstDash val="solid"/>
            <a:round/>
            <a:headEnd len="sm" w="sm" type="none"/>
            <a:tailEnd len="sm" w="sm" type="none"/>
          </a:ln>
        </p:spPr>
      </p:cxnSp>
      <p:sp>
        <p:nvSpPr>
          <p:cNvPr id="82" name="Google Shape;82;p16"/>
          <p:cNvSpPr/>
          <p:nvPr/>
        </p:nvSpPr>
        <p:spPr>
          <a:xfrm>
            <a:off x="512064" y="3108960"/>
            <a:ext cx="34747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lang="en" sz="900">
                <a:solidFill>
                  <a:srgbClr val="24726A"/>
                </a:solidFill>
                <a:latin typeface="Roboto Mono"/>
                <a:ea typeface="Roboto Mono"/>
                <a:cs typeface="Roboto Mono"/>
                <a:sym typeface="Roboto Mono"/>
              </a:rPr>
              <a:t>03</a:t>
            </a:r>
            <a:endParaRPr sz="1100"/>
          </a:p>
        </p:txBody>
      </p:sp>
      <p:sp>
        <p:nvSpPr>
          <p:cNvPr id="83" name="Google Shape;83;p16"/>
          <p:cNvSpPr/>
          <p:nvPr/>
        </p:nvSpPr>
        <p:spPr>
          <a:xfrm>
            <a:off x="941832" y="3099816"/>
            <a:ext cx="3602736"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lang="en" sz="1100">
                <a:solidFill>
                  <a:srgbClr val="14181C"/>
                </a:solidFill>
                <a:latin typeface="Arial"/>
                <a:ea typeface="Arial"/>
                <a:cs typeface="Arial"/>
                <a:sym typeface="Arial"/>
              </a:rPr>
              <a:t>An investment policy — targets, bands, cash floor</a:t>
            </a:r>
            <a:endParaRPr sz="1100"/>
          </a:p>
        </p:txBody>
      </p:sp>
      <p:sp>
        <p:nvSpPr>
          <p:cNvPr id="84" name="Google Shape;84;p16"/>
          <p:cNvSpPr/>
          <p:nvPr/>
        </p:nvSpPr>
        <p:spPr>
          <a:xfrm>
            <a:off x="5001768" y="1261872"/>
            <a:ext cx="3630168" cy="2706624"/>
          </a:xfrm>
          <a:prstGeom prst="roundRect">
            <a:avLst>
              <a:gd fmla="val 1163" name="adj"/>
            </a:avLst>
          </a:prstGeom>
          <a:solidFill>
            <a:srgbClr val="FAFBF8"/>
          </a:solidFill>
          <a:ln cap="flat" cmpd="sng" w="11425">
            <a:solidFill>
              <a:srgbClr val="A9B3AC"/>
            </a:solidFill>
            <a:prstDash val="solid"/>
            <a:round/>
            <a:headEnd len="sm" w="sm" type="none"/>
            <a:tailEnd len="sm" w="sm" type="none"/>
          </a:ln>
          <a:effectLst>
            <a:outerShdw blurRad="19050" dir="5400000" dist="9525">
              <a:srgbClr val="000000">
                <a:alpha val="5882"/>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6"/>
          <p:cNvSpPr/>
          <p:nvPr/>
        </p:nvSpPr>
        <p:spPr>
          <a:xfrm>
            <a:off x="5212080" y="1444752"/>
            <a:ext cx="3200400" cy="1554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lang="en" sz="800">
                <a:solidFill>
                  <a:srgbClr val="6E7A80"/>
                </a:solidFill>
                <a:latin typeface="Roboto Mono"/>
                <a:ea typeface="Roboto Mono"/>
                <a:cs typeface="Roboto Mono"/>
                <a:sym typeface="Roboto Mono"/>
              </a:rPr>
              <a:t>WHAT COMES OUT · ONE LINE OF THE MEMO</a:t>
            </a:r>
            <a:endParaRPr sz="1100"/>
          </a:p>
        </p:txBody>
      </p:sp>
      <p:cxnSp>
        <p:nvCxnSpPr>
          <p:cNvPr id="86" name="Google Shape;86;p16"/>
          <p:cNvCxnSpPr/>
          <p:nvPr/>
        </p:nvCxnSpPr>
        <p:spPr>
          <a:xfrm>
            <a:off x="5212080" y="1700784"/>
            <a:ext cx="3200400" cy="0"/>
          </a:xfrm>
          <a:prstGeom prst="straightConnector1">
            <a:avLst/>
          </a:prstGeom>
          <a:noFill/>
          <a:ln cap="flat" cmpd="sng" w="9525">
            <a:solidFill>
              <a:srgbClr val="A9B3AC"/>
            </a:solidFill>
            <a:prstDash val="solid"/>
            <a:round/>
            <a:headEnd len="sm" w="sm" type="none"/>
            <a:tailEnd len="sm" w="sm" type="none"/>
          </a:ln>
        </p:spPr>
      </p:cxnSp>
      <p:sp>
        <p:nvSpPr>
          <p:cNvPr id="87" name="Google Shape;87;p16"/>
          <p:cNvSpPr/>
          <p:nvPr/>
        </p:nvSpPr>
        <p:spPr>
          <a:xfrm>
            <a:off x="5212080" y="1883664"/>
            <a:ext cx="66751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E3E36"/>
              </a:buClr>
              <a:buSzPts val="1100"/>
              <a:buFont typeface="Roboto Mono"/>
              <a:buNone/>
            </a:pPr>
            <a:r>
              <a:rPr b="1" lang="en" sz="1100">
                <a:solidFill>
                  <a:srgbClr val="9E3E36"/>
                </a:solidFill>
                <a:latin typeface="Roboto Mono"/>
                <a:ea typeface="Roboto Mono"/>
                <a:cs typeface="Roboto Mono"/>
                <a:sym typeface="Roboto Mono"/>
              </a:rPr>
              <a:t>TRIM</a:t>
            </a:r>
            <a:endParaRPr sz="1100"/>
          </a:p>
        </p:txBody>
      </p:sp>
      <p:sp>
        <p:nvSpPr>
          <p:cNvPr id="88" name="Google Shape;88;p16"/>
          <p:cNvSpPr/>
          <p:nvPr/>
        </p:nvSpPr>
        <p:spPr>
          <a:xfrm>
            <a:off x="5989320" y="1865376"/>
            <a:ext cx="859536"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Roboto Mono"/>
              <a:buNone/>
            </a:pPr>
            <a:r>
              <a:rPr b="1" lang="en" sz="1500">
                <a:solidFill>
                  <a:srgbClr val="14181C"/>
                </a:solidFill>
                <a:latin typeface="Roboto Mono"/>
                <a:ea typeface="Roboto Mono"/>
                <a:cs typeface="Roboto Mono"/>
                <a:sym typeface="Roboto Mono"/>
              </a:rPr>
              <a:t>AAPL</a:t>
            </a:r>
            <a:endParaRPr sz="1100"/>
          </a:p>
        </p:txBody>
      </p:sp>
      <p:sp>
        <p:nvSpPr>
          <p:cNvPr id="89" name="Google Shape;89;p16"/>
          <p:cNvSpPr/>
          <p:nvPr/>
        </p:nvSpPr>
        <p:spPr>
          <a:xfrm>
            <a:off x="6903720" y="1865376"/>
            <a:ext cx="1499616" cy="256032"/>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500"/>
              <a:buFont typeface="Roboto Mono"/>
              <a:buNone/>
            </a:pPr>
            <a:r>
              <a:rPr b="1" lang="en" sz="1500">
                <a:solidFill>
                  <a:srgbClr val="14181C"/>
                </a:solidFill>
                <a:latin typeface="Roboto Mono"/>
                <a:ea typeface="Roboto Mono"/>
                <a:cs typeface="Roboto Mono"/>
                <a:sym typeface="Roboto Mono"/>
              </a:rPr>
              <a:t>−$11,759.48</a:t>
            </a:r>
            <a:endParaRPr sz="1100"/>
          </a:p>
        </p:txBody>
      </p:sp>
      <p:sp>
        <p:nvSpPr>
          <p:cNvPr id="90" name="Google Shape;90;p16"/>
          <p:cNvSpPr/>
          <p:nvPr/>
        </p:nvSpPr>
        <p:spPr>
          <a:xfrm>
            <a:off x="5212080" y="2267712"/>
            <a:ext cx="3200400" cy="56692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444E54"/>
              </a:buClr>
              <a:buSzPts val="1200"/>
              <a:buFont typeface="Arial"/>
              <a:buNone/>
            </a:pPr>
            <a:r>
              <a:rPr b="0" lang="en" sz="1100">
                <a:solidFill>
                  <a:srgbClr val="444E54"/>
                </a:solidFill>
                <a:latin typeface="Arial"/>
                <a:ea typeface="Arial"/>
                <a:cs typeface="Arial"/>
                <a:sym typeface="Arial"/>
              </a:rPr>
              <a:t>Information Technology is 34.71% of equity against a 25% target with a 5-point band.</a:t>
            </a:r>
            <a:endParaRPr sz="1100"/>
          </a:p>
        </p:txBody>
      </p:sp>
      <p:cxnSp>
        <p:nvCxnSpPr>
          <p:cNvPr id="91" name="Google Shape;91;p16"/>
          <p:cNvCxnSpPr/>
          <p:nvPr/>
        </p:nvCxnSpPr>
        <p:spPr>
          <a:xfrm>
            <a:off x="5212080" y="2889504"/>
            <a:ext cx="3200400" cy="0"/>
          </a:xfrm>
          <a:prstGeom prst="straightConnector1">
            <a:avLst/>
          </a:prstGeom>
          <a:noFill/>
          <a:ln cap="flat" cmpd="sng" w="9525">
            <a:solidFill>
              <a:srgbClr val="CBD2CA"/>
            </a:solidFill>
            <a:prstDash val="solid"/>
            <a:round/>
            <a:headEnd len="sm" w="sm" type="none"/>
            <a:tailEnd len="sm" w="sm" type="none"/>
          </a:ln>
        </p:spPr>
      </p:cxnSp>
      <p:sp>
        <p:nvSpPr>
          <p:cNvPr id="92" name="Google Shape;92;p16"/>
          <p:cNvSpPr/>
          <p:nvPr/>
        </p:nvSpPr>
        <p:spPr>
          <a:xfrm>
            <a:off x="5212080" y="3054096"/>
            <a:ext cx="3200400" cy="40233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1C"/>
              </a:buClr>
              <a:buSzPts val="1400"/>
              <a:buFont typeface="Arial"/>
              <a:buNone/>
            </a:pPr>
            <a:r>
              <a:rPr b="1" lang="en" sz="1300">
                <a:solidFill>
                  <a:srgbClr val="14181C"/>
                </a:solidFill>
                <a:latin typeface="Arial"/>
                <a:ea typeface="Arial"/>
                <a:cs typeface="Arial"/>
                <a:sym typeface="Arial"/>
              </a:rPr>
              <a:t>Python computed every figure. Every market claim names a fetched page.</a:t>
            </a:r>
            <a:endParaRPr sz="1100"/>
          </a:p>
        </p:txBody>
      </p:sp>
      <p:sp>
        <p:nvSpPr>
          <p:cNvPr id="93" name="Google Shape;93;p16"/>
          <p:cNvSpPr/>
          <p:nvPr/>
        </p:nvSpPr>
        <p:spPr>
          <a:xfrm>
            <a:off x="5212080" y="3566160"/>
            <a:ext cx="3200400"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1000"/>
              <a:buFont typeface="Roboto Mono"/>
              <a:buNone/>
            </a:pPr>
            <a:r>
              <a:rPr b="1" lang="en" sz="1000">
                <a:solidFill>
                  <a:srgbClr val="24726A"/>
                </a:solidFill>
                <a:latin typeface="Roboto Mono"/>
                <a:ea typeface="Roboto Mono"/>
                <a:cs typeface="Roboto Mono"/>
                <a:sym typeface="Roboto Mono"/>
              </a:rPr>
              <a:t>Click any number for the tool behind it.</a:t>
            </a:r>
            <a:endParaRPr sz="1100"/>
          </a:p>
        </p:txBody>
      </p:sp>
      <p:sp>
        <p:nvSpPr>
          <p:cNvPr id="94" name="Google Shape;94;p16"/>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95" name="Google Shape;95;p16"/>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02</a:t>
            </a:r>
            <a:endParaRPr sz="1100"/>
          </a:p>
        </p:txBody>
      </p:sp>
      <p:sp>
        <p:nvSpPr>
          <p:cNvPr id="9028" name="row4-chip"/>
          <p:cNvSpPr/>
          <p:nvPr/>
        </p:nvSpPr>
        <p:spPr>
          <a:xfrm>
            <a:off x="512064" y="3566160"/>
            <a:ext cx="34747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lang="en" sz="900">
                <a:solidFill>
                  <a:srgbClr val="24726A"/>
                </a:solidFill>
                <a:latin typeface="Roboto Mono"/>
                <a:ea typeface="Roboto Mono"/>
                <a:cs typeface="Roboto Mono"/>
                <a:sym typeface="Roboto Mono"/>
              </a:rPr>
              <a:t>04</a:t>
            </a:r>
            <a:endParaRPr sz="1100"/>
          </a:p>
        </p:txBody>
      </p:sp>
      <p:sp>
        <p:nvSpPr>
          <p:cNvPr id="9029" name="row4-text"/>
          <p:cNvSpPr/>
          <p:nvPr/>
        </p:nvSpPr>
        <p:spPr>
          <a:xfrm>
            <a:off x="941832" y="3557016"/>
            <a:ext cx="3602736"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lang="en" sz="1100">
                <a:solidFill>
                  <a:srgbClr val="14181C"/>
                </a:solidFill>
                <a:latin typeface="Arial"/>
                <a:ea typeface="Arial"/>
                <a:cs typeface="Arial"/>
                <a:sym typeface="Arial"/>
              </a:rPr>
              <a:t>Market context — live web search, pages stored</a:t>
            </a:r>
            <a:endParaRPr sz="1100"/>
          </a:p>
        </p:txBody>
      </p:sp>
      <p:cxnSp>
        <p:nvCxnSpPr>
          <p:cNvPr id="9030" name="row3-rule"/>
          <p:cNvCxnSpPr/>
          <p:nvPr/>
        </p:nvCxnSpPr>
        <p:spPr>
          <a:xfrm>
            <a:off x="941832" y="3456432"/>
            <a:ext cx="3429000" cy="0"/>
          </a:xfrm>
          <a:prstGeom prst="straightConnector1">
            <a:avLst/>
          </a:prstGeom>
          <a:noFill/>
          <a:ln cap="flat" cmpd="sng" w="9525">
            <a:solidFill>
              <a:srgbClr val="CBD2CA"/>
            </a:solidFill>
            <a:prstDash val="solid"/>
            <a:round/>
            <a:headEnd len="sm" w="sm" type="none"/>
            <a:tailEnd len="sm" w="sm" type="none"/>
          </a:ln>
        </p:spPr>
      </p:cxnSp>
      <p:sp>
        <p:nvSpPr>
          <p:cNvPr id="9031" name="value-band"/>
          <p:cNvSpPr/>
          <p:nvPr/>
        </p:nvSpPr>
        <p:spPr>
          <a:xfrm>
            <a:off x="512064" y="4059936"/>
            <a:ext cx="8119872" cy="566928"/>
          </a:xfrm>
          <a:prstGeom prst="roundRect">
            <a:avLst>
              <a:gd fmla="val 1163" name="adj"/>
            </a:avLst>
          </a:prstGeom>
          <a:solidFill>
            <a:srgbClr val="FAFBF8"/>
          </a:solidFill>
          <a:ln cap="flat" cmpd="sng" w="11425">
            <a:solidFill>
              <a:srgbClr val="A9B3AC"/>
            </a:solidFill>
            <a:prstDash val="solid"/>
            <a:round/>
            <a:headEnd len="sm" w="sm" type="none"/>
            <a:tailEnd len="sm" w="sm" type="none"/>
          </a:ln>
          <a:effectLst>
            <a:outerShdw blurRad="19050" dir="5400000" dist="9525">
              <a:srgbClr val="000000">
                <a:alpha val="5882"/>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32" name="value-band-text"/>
          <p:cNvSpPr/>
          <p:nvPr/>
        </p:nvSpPr>
        <p:spPr>
          <a:xfrm>
            <a:off x="704088" y="4178808"/>
            <a:ext cx="7735824" cy="34747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1C"/>
              </a:buClr>
              <a:buSzPts val="1400"/>
              <a:buFont typeface="Arial"/>
              <a:buNone/>
            </a:pPr>
            <a:r>
              <a:rPr b="1" lang="en" sz="1300">
                <a:solidFill>
                  <a:srgbClr val="14181C"/>
                </a:solidFill>
                <a:latin typeface="Arial"/>
                <a:ea typeface="Arial"/>
                <a:cs typeface="Arial"/>
                <a:sym typeface="Arial"/>
              </a:rPr>
              <a:t>Hours of mechanical assembly per review become about four minutes and a dollar — and the reviewer checks 2 flagged claims instead of re-deriving 142.</a:t>
            </a:r>
            <a:endParaRPr sz="1100"/>
          </a:p>
        </p:txBody>
      </p:sp>
      <p:sp>
        <p:nvSpPr>
          <p:cNvPr id="9033" name="concept-tag"/>
          <p:cNvSpPr/>
          <p:nvPr/>
        </p:nvSpPr>
        <p:spPr>
          <a:xfrm>
            <a:off x="4059936" y="310896"/>
            <a:ext cx="4572000" cy="173736"/>
          </a:xfrm>
          <a:prstGeom prst="rect">
            <a:avLst/>
          </a:prstGeom>
          <a:noFill/>
          <a:ln>
            <a:noFill/>
          </a:ln>
        </p:spPr>
        <p:txBody>
          <a:bodyPr anchorCtr="0" anchor="t" bIns="0" lIns="0" spcFirstLastPara="1" rIns="0" wrap="none" tIns="0">
            <a:noAutofit/>
          </a:bodyPr>
          <a:lstStyle/>
          <a:p>
            <a:pPr indent="0" lvl="0" marL="0" marR="0" rtl="0" algn="r">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MCP TOOL LOADING  ·  @tool  ·  DEEP AGENT FILESYSTEM</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70" name="Shape 70"/>
        <p:cNvGrpSpPr/>
        <p:nvPr/>
      </p:nvGrpSpPr>
      <p:grpSpPr>
        <a:xfrm>
          <a:off x="0" y="0"/>
          <a:ext cx="0" cy="0"/>
          <a:chOff x="0" y="0"/>
          <a:chExt cx="0" cy="0"/>
        </a:xfrm>
      </p:grpSpPr>
      <p:sp>
        <p:nvSpPr>
          <p:cNvPr id="71" name="Google Shape;71;p16"/>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THE PROBLEM</a:t>
            </a:r>
            <a:endParaRPr sz="1100"/>
          </a:p>
        </p:txBody>
      </p:sp>
      <p:cxnSp>
        <p:nvCxnSpPr>
          <p:cNvPr id="73" name="Google Shape;73;p16"/>
          <p:cNvCxnSpPr/>
          <p:nvPr/>
        </p:nvCxnSpPr>
        <p:spPr>
          <a:xfrm>
            <a:off x="512064" y="914400"/>
            <a:ext cx="8119872" cy="0"/>
          </a:xfrm>
          <a:prstGeom prst="straightConnector1">
            <a:avLst/>
          </a:prstGeom>
          <a:noFill/>
          <a:ln cap="flat" cmpd="sng" w="14275">
            <a:solidFill>
              <a:srgbClr val="14181C"/>
            </a:solidFill>
            <a:prstDash val="solid"/>
            <a:round/>
            <a:headEnd len="sm" w="sm" type="none"/>
            <a:tailEnd len="sm" w="sm" type="none"/>
          </a:ln>
        </p:spPr>
      </p:cxnSp>
      <p:sp>
        <p:nvSpPr>
          <p:cNvPr id="94" name="Google Shape;94;p16"/>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95" name="Google Shape;95;p16"/>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03</a:t>
            </a:r>
            <a:endParaRPr sz="1100"/>
          </a:p>
        </p:txBody>
      </p:sp>
      <p:sp>
        <p:nvSpPr>
          <p:cNvPr id="9028" name="plain-problem"/>
          <p:cNvSpPr/>
          <p:nvPr/>
        </p:nvSpPr>
        <p:spPr>
          <a:xfrm>
            <a:off x="512064" y="1828800"/>
            <a:ext cx="7863840" cy="1737360"/>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3800">
                <a:solidFill>
                  <a:srgbClr val="14181C"/>
                </a:solidFill>
                <a:latin typeface="Arial"/>
                <a:ea typeface="Arial"/>
                <a:cs typeface="Arial"/>
                <a:sym typeface="Arial"/>
              </a:rPr>
              <a:t>Before every client review, an advisor spends hours putting the same numbers together by hand.</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70" name="Shape 70"/>
        <p:cNvGrpSpPr/>
        <p:nvPr/>
      </p:nvGrpSpPr>
      <p:grpSpPr>
        <a:xfrm>
          <a:off x="0" y="0"/>
          <a:ext cx="0" cy="0"/>
          <a:chOff x="0" y="0"/>
          <a:chExt cx="0" cy="0"/>
        </a:xfrm>
      </p:grpSpPr>
      <p:sp>
        <p:nvSpPr>
          <p:cNvPr id="71" name="Google Shape;71;p16"/>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THE CATCH</a:t>
            </a:r>
            <a:endParaRPr sz="1100"/>
          </a:p>
        </p:txBody>
      </p:sp>
      <p:sp>
        <p:nvSpPr>
          <p:cNvPr id="72" name="Google Shape;72;p16"/>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The hours come back if nobody can check it</a:t>
            </a:r>
            <a:endParaRPr sz="1100"/>
          </a:p>
        </p:txBody>
      </p:sp>
      <p:cxnSp>
        <p:nvCxnSpPr>
          <p:cNvPr id="73" name="Google Shape;73;p16"/>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74" name="Google Shape;74;p16"/>
          <p:cNvSpPr/>
          <p:nvPr/>
        </p:nvSpPr>
        <p:spPr>
          <a:xfrm>
            <a:off x="512064" y="1261872"/>
            <a:ext cx="4005072" cy="786384"/>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14181C"/>
              </a:buClr>
              <a:buSzPts val="1800"/>
              <a:buFont typeface="Arial"/>
              <a:buNone/>
            </a:pPr>
            <a:r>
              <a:rPr b="1" lang="en" sz="1700">
                <a:solidFill>
                  <a:srgbClr val="14181C"/>
                </a:solidFill>
                <a:latin typeface="Arial"/>
                <a:ea typeface="Arial"/>
                <a:cs typeface="Arial"/>
                <a:sym typeface="Arial"/>
              </a:rPr>
              <a:t>A wrong figure in a client-facing memo is not a rough edge. It is a compliance finding.</a:t>
            </a:r>
            <a:endParaRPr sz="1100"/>
          </a:p>
        </p:txBody>
      </p:sp>
      <p:sp>
        <p:nvSpPr>
          <p:cNvPr id="75" name="Google Shape;75;p16"/>
          <p:cNvSpPr/>
          <p:nvPr/>
        </p:nvSpPr>
        <p:spPr>
          <a:xfrm>
            <a:off x="512064" y="2157984"/>
            <a:ext cx="4005072" cy="1828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44E54"/>
              </a:buClr>
              <a:buSzPts val="1200"/>
              <a:buFont typeface="Arial"/>
              <a:buNone/>
            </a:pPr>
            <a:r>
              <a:rPr b="1" lang="en" sz="900">
                <a:solidFill>
                  <a:srgbClr val="24726A"/>
                </a:solidFill>
                <a:latin typeface="Arial"/>
                <a:ea typeface="Arial"/>
                <a:cs typeface="Arial"/>
                <a:sym typeface="Arial"/>
              </a:rPr>
              <a:t>SO BEFORE ANYONE ACTS ON IT</a:t>
            </a:r>
            <a:endParaRPr sz="1100"/>
          </a:p>
        </p:txBody>
      </p:sp>
      <p:sp>
        <p:nvSpPr>
          <p:cNvPr id="76" name="Google Shape;76;p16"/>
          <p:cNvSpPr/>
          <p:nvPr/>
        </p:nvSpPr>
        <p:spPr>
          <a:xfrm>
            <a:off x="512064" y="2468880"/>
            <a:ext cx="34747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lang="en" sz="900">
                <a:solidFill>
                  <a:srgbClr val="24726A"/>
                </a:solidFill>
                <a:latin typeface="Roboto Mono"/>
                <a:ea typeface="Roboto Mono"/>
                <a:cs typeface="Roboto Mono"/>
                <a:sym typeface="Roboto Mono"/>
              </a:rPr>
              <a:t>01</a:t>
            </a:r>
            <a:endParaRPr sz="1100"/>
          </a:p>
        </p:txBody>
      </p:sp>
      <p:sp>
        <p:nvSpPr>
          <p:cNvPr id="77" name="Google Shape;77;p16"/>
          <p:cNvSpPr/>
          <p:nvPr/>
        </p:nvSpPr>
        <p:spPr>
          <a:xfrm>
            <a:off x="941832" y="2450592"/>
            <a:ext cx="360273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lang="en" sz="1300">
                <a:solidFill>
                  <a:srgbClr val="14181C"/>
                </a:solidFill>
                <a:latin typeface="Arial"/>
                <a:ea typeface="Arial"/>
                <a:cs typeface="Arial"/>
                <a:sym typeface="Arial"/>
              </a:rPr>
              <a:t>Where did every number come from?</a:t>
            </a:r>
            <a:endParaRPr sz="1100"/>
          </a:p>
        </p:txBody>
      </p:sp>
      <p:cxnSp>
        <p:nvCxnSpPr>
          <p:cNvPr id="78" name="Google Shape;78;p16"/>
          <p:cNvCxnSpPr/>
          <p:nvPr/>
        </p:nvCxnSpPr>
        <p:spPr>
          <a:xfrm>
            <a:off x="941832" y="2834640"/>
            <a:ext cx="3429000" cy="0"/>
          </a:xfrm>
          <a:prstGeom prst="straightConnector1">
            <a:avLst/>
          </a:prstGeom>
          <a:noFill/>
          <a:ln cap="flat" cmpd="sng" w="9525">
            <a:solidFill>
              <a:srgbClr val="CBD2CA"/>
            </a:solidFill>
            <a:prstDash val="solid"/>
            <a:round/>
            <a:headEnd len="sm" w="sm" type="none"/>
            <a:tailEnd len="sm" w="sm" type="none"/>
          </a:ln>
        </p:spPr>
      </p:cxnSp>
      <p:sp>
        <p:nvSpPr>
          <p:cNvPr id="79" name="Google Shape;79;p16"/>
          <p:cNvSpPr/>
          <p:nvPr/>
        </p:nvSpPr>
        <p:spPr>
          <a:xfrm>
            <a:off x="512064" y="2962656"/>
            <a:ext cx="34747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lang="en" sz="900">
                <a:solidFill>
                  <a:srgbClr val="24726A"/>
                </a:solidFill>
                <a:latin typeface="Roboto Mono"/>
                <a:ea typeface="Roboto Mono"/>
                <a:cs typeface="Roboto Mono"/>
                <a:sym typeface="Roboto Mono"/>
              </a:rPr>
              <a:t>02</a:t>
            </a:r>
            <a:endParaRPr sz="1100"/>
          </a:p>
        </p:txBody>
      </p:sp>
      <p:sp>
        <p:nvSpPr>
          <p:cNvPr id="80" name="Google Shape;80;p16"/>
          <p:cNvSpPr/>
          <p:nvPr/>
        </p:nvSpPr>
        <p:spPr>
          <a:xfrm>
            <a:off x="941832" y="2944368"/>
            <a:ext cx="360273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lang="en" sz="1300">
                <a:solidFill>
                  <a:srgbClr val="14181C"/>
                </a:solidFill>
                <a:latin typeface="Arial"/>
                <a:ea typeface="Arial"/>
                <a:cs typeface="Arial"/>
                <a:sym typeface="Arial"/>
              </a:rPr>
              <a:t>Which source supports each market claim?</a:t>
            </a:r>
            <a:endParaRPr sz="1100"/>
          </a:p>
        </p:txBody>
      </p:sp>
      <p:cxnSp>
        <p:nvCxnSpPr>
          <p:cNvPr id="81" name="Google Shape;81;p16"/>
          <p:cNvCxnSpPr/>
          <p:nvPr/>
        </p:nvCxnSpPr>
        <p:spPr>
          <a:xfrm>
            <a:off x="941832" y="3328416"/>
            <a:ext cx="3429000" cy="0"/>
          </a:xfrm>
          <a:prstGeom prst="straightConnector1">
            <a:avLst/>
          </a:prstGeom>
          <a:noFill/>
          <a:ln cap="flat" cmpd="sng" w="9525">
            <a:solidFill>
              <a:srgbClr val="CBD2CA"/>
            </a:solidFill>
            <a:prstDash val="solid"/>
            <a:round/>
            <a:headEnd len="sm" w="sm" type="none"/>
            <a:tailEnd len="sm" w="sm" type="none"/>
          </a:ln>
        </p:spPr>
      </p:cxnSp>
      <p:sp>
        <p:nvSpPr>
          <p:cNvPr id="82" name="Google Shape;82;p16"/>
          <p:cNvSpPr/>
          <p:nvPr/>
        </p:nvSpPr>
        <p:spPr>
          <a:xfrm>
            <a:off x="512064" y="3456432"/>
            <a:ext cx="34747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lang="en" sz="900">
                <a:solidFill>
                  <a:srgbClr val="24726A"/>
                </a:solidFill>
                <a:latin typeface="Roboto Mono"/>
                <a:ea typeface="Roboto Mono"/>
                <a:cs typeface="Roboto Mono"/>
                <a:sym typeface="Roboto Mono"/>
              </a:rPr>
              <a:t>03</a:t>
            </a:r>
            <a:endParaRPr sz="1100"/>
          </a:p>
        </p:txBody>
      </p:sp>
      <p:sp>
        <p:nvSpPr>
          <p:cNvPr id="83" name="Google Shape;83;p16"/>
          <p:cNvSpPr/>
          <p:nvPr/>
        </p:nvSpPr>
        <p:spPr>
          <a:xfrm>
            <a:off x="941832" y="3438144"/>
            <a:ext cx="360273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lang="en" sz="1300">
                <a:solidFill>
                  <a:srgbClr val="14181C"/>
                </a:solidFill>
                <a:latin typeface="Arial"/>
                <a:ea typeface="Arial"/>
                <a:cs typeface="Arial"/>
                <a:sym typeface="Arial"/>
              </a:rPr>
              <a:t>What stops an unsafe change to the account?</a:t>
            </a:r>
            <a:endParaRPr sz="1100"/>
          </a:p>
        </p:txBody>
      </p:sp>
      <p:sp>
        <p:nvSpPr>
          <p:cNvPr id="84" name="Google Shape;84;p16"/>
          <p:cNvSpPr/>
          <p:nvPr/>
        </p:nvSpPr>
        <p:spPr>
          <a:xfrm>
            <a:off x="5001768" y="1261872"/>
            <a:ext cx="3630168" cy="2706624"/>
          </a:xfrm>
          <a:prstGeom prst="roundRect">
            <a:avLst>
              <a:gd fmla="val 1163" name="adj"/>
            </a:avLst>
          </a:prstGeom>
          <a:solidFill>
            <a:srgbClr val="FAFBF8"/>
          </a:solidFill>
          <a:ln cap="flat" cmpd="sng" w="11425">
            <a:solidFill>
              <a:srgbClr val="A9B3AC"/>
            </a:solidFill>
            <a:prstDash val="solid"/>
            <a:round/>
            <a:headEnd len="sm" w="sm" type="none"/>
            <a:tailEnd len="sm" w="sm" type="none"/>
          </a:ln>
          <a:effectLst>
            <a:outerShdw blurRad="19050" dir="5400000" dist="9525">
              <a:srgbClr val="000000">
                <a:alpha val="5882"/>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6"/>
          <p:cNvSpPr/>
          <p:nvPr/>
        </p:nvSpPr>
        <p:spPr>
          <a:xfrm>
            <a:off x="5212080" y="1444752"/>
            <a:ext cx="3200400" cy="1554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lang="en" sz="800">
                <a:solidFill>
                  <a:srgbClr val="6E7A80"/>
                </a:solidFill>
                <a:latin typeface="Roboto Mono"/>
                <a:ea typeface="Roboto Mono"/>
                <a:cs typeface="Roboto Mono"/>
                <a:sym typeface="Roboto Mono"/>
              </a:rPr>
              <a:t>WHAT ONE MEMO ASKS A REVIEWER TO TRUST</a:t>
            </a:r>
            <a:endParaRPr sz="1100"/>
          </a:p>
        </p:txBody>
      </p:sp>
      <p:cxnSp>
        <p:nvCxnSpPr>
          <p:cNvPr id="86" name="Google Shape;86;p16"/>
          <p:cNvCxnSpPr/>
          <p:nvPr/>
        </p:nvCxnSpPr>
        <p:spPr>
          <a:xfrm>
            <a:off x="5212080" y="1700784"/>
            <a:ext cx="3200400" cy="0"/>
          </a:xfrm>
          <a:prstGeom prst="straightConnector1">
            <a:avLst/>
          </a:prstGeom>
          <a:noFill/>
          <a:ln cap="flat" cmpd="sng" w="9525">
            <a:solidFill>
              <a:srgbClr val="A9B3AC"/>
            </a:solidFill>
            <a:prstDash val="solid"/>
            <a:round/>
            <a:headEnd len="sm" w="sm" type="none"/>
            <a:tailEnd len="sm" w="sm" type="none"/>
          </a:ln>
        </p:spPr>
      </p:cxnSp>
      <p:sp>
        <p:nvSpPr>
          <p:cNvPr id="88" name="Google Shape;88;p16"/>
          <p:cNvSpPr/>
          <p:nvPr/>
        </p:nvSpPr>
        <p:spPr>
          <a:xfrm>
            <a:off x="5212080" y="1847088"/>
            <a:ext cx="1463040" cy="53035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Roboto Mono"/>
              <a:buNone/>
            </a:pPr>
            <a:r>
              <a:rPr b="1" lang="en" sz="3600">
                <a:solidFill>
                  <a:srgbClr val="14181C"/>
                </a:solidFill>
                <a:latin typeface="Roboto Mono"/>
                <a:ea typeface="Roboto Mono"/>
                <a:cs typeface="Roboto Mono"/>
                <a:sym typeface="Roboto Mono"/>
              </a:rPr>
              <a:t>142</a:t>
            </a:r>
            <a:endParaRPr sz="1100"/>
          </a:p>
        </p:txBody>
      </p:sp>
      <p:sp>
        <p:nvSpPr>
          <p:cNvPr id="89" name="Google Shape;89;p16"/>
          <p:cNvSpPr/>
          <p:nvPr/>
        </p:nvSpPr>
        <p:spPr>
          <a:xfrm>
            <a:off x="5212080" y="2432304"/>
            <a:ext cx="3200400" cy="2377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Roboto Mono"/>
              <a:buNone/>
            </a:pPr>
            <a:r>
              <a:rPr b="0" lang="en" sz="1100">
                <a:solidFill>
                  <a:srgbClr val="444E54"/>
                </a:solidFill>
                <a:latin typeface="Roboto Mono"/>
                <a:ea typeface="Roboto Mono"/>
                <a:cs typeface="Roboto Mono"/>
                <a:sym typeface="Roboto Mono"/>
              </a:rPr>
              <a:t>figures and claims in one memo</a:t>
            </a:r>
            <a:endParaRPr sz="1100"/>
          </a:p>
        </p:txBody>
      </p:sp>
      <p:cxnSp>
        <p:nvCxnSpPr>
          <p:cNvPr id="91" name="Google Shape;91;p16"/>
          <p:cNvCxnSpPr/>
          <p:nvPr/>
        </p:nvCxnSpPr>
        <p:spPr>
          <a:xfrm>
            <a:off x="5212080" y="2834640"/>
            <a:ext cx="3200400" cy="0"/>
          </a:xfrm>
          <a:prstGeom prst="straightConnector1">
            <a:avLst/>
          </a:prstGeom>
          <a:noFill/>
          <a:ln cap="flat" cmpd="sng" w="9525">
            <a:solidFill>
              <a:srgbClr val="CBD2CA"/>
            </a:solidFill>
            <a:prstDash val="solid"/>
            <a:round/>
            <a:headEnd len="sm" w="sm" type="none"/>
            <a:tailEnd len="sm" w="sm" type="none"/>
          </a:ln>
        </p:spPr>
      </p:cxnSp>
      <p:sp>
        <p:nvSpPr>
          <p:cNvPr id="92" name="Google Shape;92;p16"/>
          <p:cNvSpPr/>
          <p:nvPr/>
        </p:nvSpPr>
        <p:spPr>
          <a:xfrm>
            <a:off x="5212080" y="2999232"/>
            <a:ext cx="3200400" cy="56692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1C"/>
              </a:buClr>
              <a:buSzPts val="1400"/>
              <a:buFont typeface="Arial"/>
              <a:buNone/>
            </a:pPr>
            <a:r>
              <a:rPr b="1" lang="en" sz="1200">
                <a:solidFill>
                  <a:srgbClr val="14181C"/>
                </a:solidFill>
                <a:latin typeface="Arial"/>
                <a:ea typeface="Arial"/>
                <a:cs typeface="Arial"/>
                <a:sym typeface="Arial"/>
              </a:rPr>
              <a:t>An agent that saves an analyst three hours and costs a reviewer three hours has saved nobody anything.</a:t>
            </a:r>
            <a:endParaRPr sz="1100"/>
          </a:p>
        </p:txBody>
      </p:sp>
      <p:sp>
        <p:nvSpPr>
          <p:cNvPr id="93" name="Google Shape;93;p16"/>
          <p:cNvSpPr/>
          <p:nvPr/>
        </p:nvSpPr>
        <p:spPr>
          <a:xfrm>
            <a:off x="5212080" y="3639312"/>
            <a:ext cx="3200400"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1000"/>
              <a:buFont typeface="Roboto Mono"/>
              <a:buNone/>
            </a:pPr>
            <a:r>
              <a:rPr b="1" lang="en" sz="1000">
                <a:solidFill>
                  <a:srgbClr val="24726A"/>
                </a:solidFill>
                <a:latin typeface="Roboto Mono"/>
                <a:ea typeface="Roboto Mono"/>
                <a:cs typeface="Roboto Mono"/>
                <a:sym typeface="Roboto Mono"/>
              </a:rPr>
              <a:t>Fluency is visible. Proof is engineered.</a:t>
            </a:r>
            <a:endParaRPr sz="1100"/>
          </a:p>
        </p:txBody>
      </p:sp>
      <p:sp>
        <p:nvSpPr>
          <p:cNvPr id="94" name="Google Shape;94;p16"/>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95" name="Google Shape;95;p16"/>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04</a:t>
            </a:r>
            <a:endParaRPr sz="1100"/>
          </a:p>
        </p:txBody>
      </p:sp>
      <p:sp>
        <p:nvSpPr>
          <p:cNvPr id="9026" name="problem-band"/>
          <p:cNvSpPr/>
          <p:nvPr/>
        </p:nvSpPr>
        <p:spPr>
          <a:xfrm>
            <a:off x="512064" y="4059936"/>
            <a:ext cx="8119872" cy="566928"/>
          </a:xfrm>
          <a:prstGeom prst="roundRect">
            <a:avLst>
              <a:gd fmla="val 1163" name="adj"/>
            </a:avLst>
          </a:prstGeom>
          <a:solidFill>
            <a:srgbClr val="FAFBF8"/>
          </a:solidFill>
          <a:ln cap="flat" cmpd="sng" w="11425">
            <a:solidFill>
              <a:srgbClr val="A9B3AC"/>
            </a:solidFill>
            <a:prstDash val="solid"/>
            <a:round/>
            <a:headEnd len="sm" w="sm" type="none"/>
            <a:tailEnd len="sm" w="sm" type="none"/>
          </a:ln>
          <a:effectLst>
            <a:outerShdw blurRad="19050" dir="5400000" dist="9525">
              <a:srgbClr val="000000">
                <a:alpha val="5882"/>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27" name="problem-band-text"/>
          <p:cNvSpPr/>
          <p:nvPr/>
        </p:nvSpPr>
        <p:spPr>
          <a:xfrm>
            <a:off x="704088" y="4178808"/>
            <a:ext cx="7735824" cy="34747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1C"/>
              </a:buClr>
              <a:buSzPts val="1400"/>
              <a:buFont typeface="Arial"/>
              <a:buNone/>
            </a:pPr>
            <a:r>
              <a:rPr b="1" lang="en" sz="1300">
                <a:solidFill>
                  <a:srgbClr val="14181C"/>
                </a:solidFill>
                <a:latin typeface="Arial"/>
                <a:ea typeface="Arial"/>
                <a:cs typeface="Arial"/>
                <a:sym typeface="Arial"/>
              </a:rPr>
              <a:t>Answering all three mechanically, on every run, without a human re-deriving anything — that is what the rest of this session builds.</a:t>
            </a:r>
            <a:endParaRPr sz="1100"/>
          </a:p>
        </p:txBody>
      </p:sp>
      <p:sp>
        <p:nvSpPr>
          <p:cNvPr id="9028" name="concept-tag"/>
          <p:cNvSpPr/>
          <p:nvPr/>
        </p:nvSpPr>
        <p:spPr>
          <a:xfrm>
            <a:off x="4059936" y="310896"/>
            <a:ext cx="4572000" cy="173736"/>
          </a:xfrm>
          <a:prstGeom prst="rect">
            <a:avLst/>
          </a:prstGeom>
          <a:noFill/>
          <a:ln>
            <a:noFill/>
          </a:ln>
        </p:spPr>
        <p:txBody>
          <a:bodyPr anchorCtr="0" anchor="t" bIns="0" lIns="0" spcFirstLastPara="1" rIns="0" wrap="none" tIns="0">
            <a:noAutofit/>
          </a:bodyPr>
          <a:lstStyle/>
          <a:p>
            <a:pPr indent="0" lvl="0" marL="0" marR="0" rtl="0" algn="r">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LANGSMITH TRACES  ·  MIDDLEWARE  ·  EVALUATORS</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100" name="Shape 100"/>
        <p:cNvGrpSpPr/>
        <p:nvPr/>
      </p:nvGrpSpPr>
      <p:grpSpPr>
        <a:xfrm>
          <a:off x="0" y="0"/>
          <a:ext cx="0" cy="0"/>
          <a:chOff x="0" y="0"/>
          <a:chExt cx="0" cy="0"/>
        </a:xfrm>
      </p:grpSpPr>
      <p:sp>
        <p:nvSpPr>
          <p:cNvPr id="101" name="Google Shape;101;p17"/>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FRAMEWORK MAP</a:t>
            </a:r>
            <a:endParaRPr sz="1100"/>
          </a:p>
        </p:txBody>
      </p:sp>
      <p:sp>
        <p:nvSpPr>
          <p:cNvPr id="102" name="Google Shape;102;p17"/>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Use each LangChain layer for the job it does best</a:t>
            </a:r>
            <a:endParaRPr sz="1100"/>
          </a:p>
        </p:txBody>
      </p:sp>
      <p:cxnSp>
        <p:nvCxnSpPr>
          <p:cNvPr id="103" name="Google Shape;103;p17"/>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104" name="Google Shape;104;p17"/>
          <p:cNvSpPr/>
          <p:nvPr/>
        </p:nvSpPr>
        <p:spPr>
          <a:xfrm>
            <a:off x="600075" y="1228725"/>
            <a:ext cx="1214438"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lang="en" sz="800">
                <a:solidFill>
                  <a:srgbClr val="6E7A80"/>
                </a:solidFill>
                <a:latin typeface="Roboto Mono"/>
                <a:ea typeface="Roboto Mono"/>
                <a:cs typeface="Roboto Mono"/>
                <a:sym typeface="Roboto Mono"/>
              </a:rPr>
              <a:t>LAYER</a:t>
            </a:r>
            <a:endParaRPr sz="1100"/>
          </a:p>
        </p:txBody>
      </p:sp>
      <p:sp>
        <p:nvSpPr>
          <p:cNvPr id="105" name="Google Shape;105;p17"/>
          <p:cNvSpPr/>
          <p:nvPr/>
        </p:nvSpPr>
        <p:spPr>
          <a:xfrm>
            <a:off x="2214563" y="1228725"/>
            <a:ext cx="2357438"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lang="en" sz="800">
                <a:solidFill>
                  <a:srgbClr val="6E7A80"/>
                </a:solidFill>
                <a:latin typeface="Roboto Mono"/>
                <a:ea typeface="Roboto Mono"/>
                <a:cs typeface="Roboto Mono"/>
                <a:sym typeface="Roboto Mono"/>
              </a:rPr>
              <a:t>WHAT IT ADDS</a:t>
            </a:r>
            <a:endParaRPr sz="1100"/>
          </a:p>
        </p:txBody>
      </p:sp>
      <p:sp>
        <p:nvSpPr>
          <p:cNvPr id="106" name="Google Shape;106;p17"/>
          <p:cNvSpPr/>
          <p:nvPr/>
        </p:nvSpPr>
        <p:spPr>
          <a:xfrm>
            <a:off x="5250656" y="1228725"/>
            <a:ext cx="328612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lang="en" sz="800">
                <a:solidFill>
                  <a:srgbClr val="6E7A80"/>
                </a:solidFill>
                <a:latin typeface="Roboto Mono"/>
                <a:ea typeface="Roboto Mono"/>
                <a:cs typeface="Roboto Mono"/>
                <a:sym typeface="Roboto Mono"/>
              </a:rPr>
              <a:t>WHAT THE WEALTH AGENT USES FROM IT</a:t>
            </a:r>
            <a:endParaRPr sz="1100"/>
          </a:p>
        </p:txBody>
      </p:sp>
      <p:sp>
        <p:nvSpPr>
          <p:cNvPr id="107" name="Google Shape;107;p17"/>
          <p:cNvSpPr/>
          <p:nvPr/>
        </p:nvSpPr>
        <p:spPr>
          <a:xfrm>
            <a:off x="514350" y="1514475"/>
            <a:ext cx="8058150" cy="614363"/>
          </a:xfrm>
          <a:prstGeom prst="rect">
            <a:avLst/>
          </a:prstGeom>
          <a:solidFill>
            <a:srgbClr val="DCE8E5"/>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8" name="Google Shape;108;p17"/>
          <p:cNvSpPr/>
          <p:nvPr/>
        </p:nvSpPr>
        <p:spPr>
          <a:xfrm>
            <a:off x="657225" y="1643063"/>
            <a:ext cx="1414463" cy="221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LangChain</a:t>
            </a:r>
            <a:endParaRPr sz="1100"/>
          </a:p>
        </p:txBody>
      </p:sp>
      <p:sp>
        <p:nvSpPr>
          <p:cNvPr id="109" name="Google Shape;109;p17"/>
          <p:cNvSpPr/>
          <p:nvPr/>
        </p:nvSpPr>
        <p:spPr>
          <a:xfrm>
            <a:off x="2214563" y="1657350"/>
            <a:ext cx="22860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Agent framework</a:t>
            </a:r>
            <a:endParaRPr sz="1100"/>
          </a:p>
        </p:txBody>
      </p:sp>
      <p:sp>
        <p:nvSpPr>
          <p:cNvPr id="110" name="Google Shape;110;p17"/>
          <p:cNvSpPr/>
          <p:nvPr/>
        </p:nvSpPr>
        <p:spPr>
          <a:xfrm>
            <a:off x="5250656" y="1628775"/>
            <a:ext cx="3143250" cy="38576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4181C"/>
              </a:buClr>
              <a:buSzPts val="1100"/>
              <a:buFont typeface="Arial"/>
              <a:buNone/>
            </a:pPr>
            <a:r>
              <a:rPr b="0" lang="en" sz="1100">
                <a:solidFill>
                  <a:srgbClr val="14181C"/>
                </a:solidFill>
                <a:latin typeface="Arial"/>
                <a:ea typeface="Arial"/>
                <a:cs typeface="Arial"/>
                <a:sym typeface="Arial"/>
              </a:rPr>
              <a:t>create_agent, @tool, middleware, typed structured output</a:t>
            </a:r>
            <a:endParaRPr sz="1100"/>
          </a:p>
        </p:txBody>
      </p:sp>
      <p:sp>
        <p:nvSpPr>
          <p:cNvPr id="111" name="Google Shape;111;p17"/>
          <p:cNvSpPr/>
          <p:nvPr/>
        </p:nvSpPr>
        <p:spPr>
          <a:xfrm>
            <a:off x="514350" y="2200275"/>
            <a:ext cx="8058150" cy="614363"/>
          </a:xfrm>
          <a:prstGeom prst="rect">
            <a:avLst/>
          </a:prstGeom>
          <a:solidFill>
            <a:srgbClr val="E7EAE4"/>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17"/>
          <p:cNvSpPr/>
          <p:nvPr/>
        </p:nvSpPr>
        <p:spPr>
          <a:xfrm>
            <a:off x="657225" y="2328863"/>
            <a:ext cx="1414463" cy="221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LangGraph</a:t>
            </a:r>
            <a:endParaRPr sz="1100"/>
          </a:p>
        </p:txBody>
      </p:sp>
      <p:sp>
        <p:nvSpPr>
          <p:cNvPr id="113" name="Google Shape;113;p17"/>
          <p:cNvSpPr/>
          <p:nvPr/>
        </p:nvSpPr>
        <p:spPr>
          <a:xfrm>
            <a:off x="2214563" y="2343150"/>
            <a:ext cx="22860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Durable runtime</a:t>
            </a:r>
            <a:endParaRPr sz="1100"/>
          </a:p>
        </p:txBody>
      </p:sp>
      <p:sp>
        <p:nvSpPr>
          <p:cNvPr id="114" name="Google Shape;114;p17"/>
          <p:cNvSpPr/>
          <p:nvPr/>
        </p:nvSpPr>
        <p:spPr>
          <a:xfrm>
            <a:off x="5250656" y="2314575"/>
            <a:ext cx="3143250" cy="38576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4181C"/>
              </a:buClr>
              <a:buSzPts val="1100"/>
              <a:buFont typeface="Arial"/>
              <a:buNone/>
            </a:pPr>
            <a:r>
              <a:rPr b="0" lang="en" sz="1100">
                <a:solidFill>
                  <a:srgbClr val="14181C"/>
                </a:solidFill>
                <a:latin typeface="Arial"/>
                <a:ea typeface="Arial"/>
                <a:cs typeface="Arial"/>
                <a:sym typeface="Arial"/>
              </a:rPr>
              <a:t>InMemorySaver checkpointing, interrupts, resume</a:t>
            </a:r>
            <a:endParaRPr sz="1100"/>
          </a:p>
        </p:txBody>
      </p:sp>
      <p:sp>
        <p:nvSpPr>
          <p:cNvPr id="115" name="Google Shape;115;p17"/>
          <p:cNvSpPr/>
          <p:nvPr/>
        </p:nvSpPr>
        <p:spPr>
          <a:xfrm>
            <a:off x="514350" y="2886075"/>
            <a:ext cx="8058150" cy="614363"/>
          </a:xfrm>
          <a:prstGeom prst="rect">
            <a:avLst/>
          </a:prstGeom>
          <a:solidFill>
            <a:srgbClr val="FAFBF8"/>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 name="Google Shape;116;p17"/>
          <p:cNvSpPr/>
          <p:nvPr/>
        </p:nvSpPr>
        <p:spPr>
          <a:xfrm>
            <a:off x="657225" y="3014663"/>
            <a:ext cx="1414463" cy="221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Deep Agents</a:t>
            </a:r>
            <a:endParaRPr sz="1100"/>
          </a:p>
        </p:txBody>
      </p:sp>
      <p:sp>
        <p:nvSpPr>
          <p:cNvPr id="117" name="Google Shape;117;p17"/>
          <p:cNvSpPr/>
          <p:nvPr/>
        </p:nvSpPr>
        <p:spPr>
          <a:xfrm>
            <a:off x="2214563" y="3028950"/>
            <a:ext cx="22860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Opinionated harness</a:t>
            </a:r>
            <a:endParaRPr sz="1100"/>
          </a:p>
        </p:txBody>
      </p:sp>
      <p:sp>
        <p:nvSpPr>
          <p:cNvPr id="118" name="Google Shape;118;p17"/>
          <p:cNvSpPr/>
          <p:nvPr/>
        </p:nvSpPr>
        <p:spPr>
          <a:xfrm>
            <a:off x="5250656" y="3000375"/>
            <a:ext cx="3143250" cy="38576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4181C"/>
              </a:buClr>
              <a:buSzPts val="1100"/>
              <a:buFont typeface="Arial"/>
              <a:buNone/>
            </a:pPr>
            <a:r>
              <a:rPr b="0" lang="en" sz="1100">
                <a:solidFill>
                  <a:srgbClr val="14181C"/>
                </a:solidFill>
                <a:latin typeface="Arial"/>
                <a:ea typeface="Arial"/>
                <a:cs typeface="Arial"/>
                <a:sym typeface="Arial"/>
              </a:rPr>
              <a:t>create_deep_agent — planning, subagents, filesystem, skills</a:t>
            </a:r>
            <a:endParaRPr sz="1100"/>
          </a:p>
        </p:txBody>
      </p:sp>
      <p:sp>
        <p:nvSpPr>
          <p:cNvPr id="119" name="Google Shape;119;p17"/>
          <p:cNvSpPr/>
          <p:nvPr/>
        </p:nvSpPr>
        <p:spPr>
          <a:xfrm>
            <a:off x="514350" y="3571875"/>
            <a:ext cx="8058150" cy="614363"/>
          </a:xfrm>
          <a:prstGeom prst="rect">
            <a:avLst/>
          </a:prstGeom>
          <a:solidFill>
            <a:srgbClr val="E2ECE4"/>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0" name="Google Shape;120;p17"/>
          <p:cNvSpPr/>
          <p:nvPr/>
        </p:nvSpPr>
        <p:spPr>
          <a:xfrm>
            <a:off x="657225" y="3700463"/>
            <a:ext cx="1414463" cy="221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LangSmith</a:t>
            </a:r>
            <a:endParaRPr sz="1100"/>
          </a:p>
        </p:txBody>
      </p:sp>
      <p:sp>
        <p:nvSpPr>
          <p:cNvPr id="121" name="Google Shape;121;p17"/>
          <p:cNvSpPr/>
          <p:nvPr/>
        </p:nvSpPr>
        <p:spPr>
          <a:xfrm>
            <a:off x="2214563" y="3714750"/>
            <a:ext cx="22860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Engineering lifecycle</a:t>
            </a:r>
            <a:endParaRPr sz="1100"/>
          </a:p>
        </p:txBody>
      </p:sp>
      <p:sp>
        <p:nvSpPr>
          <p:cNvPr id="122" name="Google Shape;122;p17"/>
          <p:cNvSpPr/>
          <p:nvPr/>
        </p:nvSpPr>
        <p:spPr>
          <a:xfrm>
            <a:off x="5250656" y="3686175"/>
            <a:ext cx="3143250" cy="38576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4181C"/>
              </a:buClr>
              <a:buSzPts val="1100"/>
              <a:buFont typeface="Arial"/>
              <a:buNone/>
            </a:pPr>
            <a:r>
              <a:rPr b="0" lang="en" sz="1100">
                <a:solidFill>
                  <a:srgbClr val="14181C"/>
                </a:solidFill>
                <a:latin typeface="Arial"/>
                <a:ea typeface="Arial"/>
                <a:cs typeface="Arial"/>
                <a:sym typeface="Arial"/>
              </a:rPr>
              <a:t>Traces, datasets, experiments, custom evaluators</a:t>
            </a:r>
            <a:endParaRPr sz="1100"/>
          </a:p>
        </p:txBody>
      </p:sp>
      <p:sp>
        <p:nvSpPr>
          <p:cNvPr id="123" name="Google Shape;123;p17"/>
          <p:cNvSpPr/>
          <p:nvPr/>
        </p:nvSpPr>
        <p:spPr>
          <a:xfrm>
            <a:off x="514350" y="4414838"/>
            <a:ext cx="8058150" cy="24288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4726A"/>
              </a:buClr>
              <a:buSzPts val="1500"/>
              <a:buFont typeface="Arial"/>
              <a:buNone/>
            </a:pPr>
            <a:r>
              <a:rPr b="1" lang="en" sz="1500">
                <a:solidFill>
                  <a:srgbClr val="24726A"/>
                </a:solidFill>
                <a:latin typeface="Arial"/>
                <a:ea typeface="Arial"/>
                <a:cs typeface="Arial"/>
                <a:sym typeface="Arial"/>
              </a:rPr>
              <a:t>Start at the smallest layer that solves the problem.</a:t>
            </a:r>
            <a:endParaRPr sz="1100"/>
          </a:p>
        </p:txBody>
      </p:sp>
      <p:sp>
        <p:nvSpPr>
          <p:cNvPr id="124" name="Google Shape;124;p17"/>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125" name="Google Shape;125;p17"/>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05</a:t>
            </a:r>
            <a:endParaRPr sz="1100"/>
          </a:p>
        </p:txBody>
      </p:sp>
      <p:sp>
        <p:nvSpPr>
          <p:cNvPr id="9028" name="concept-tag"/>
          <p:cNvSpPr/>
          <p:nvPr/>
        </p:nvSpPr>
        <p:spPr>
          <a:xfrm>
            <a:off x="4059936" y="310896"/>
            <a:ext cx="4572000" cy="173736"/>
          </a:xfrm>
          <a:prstGeom prst="rect">
            <a:avLst/>
          </a:prstGeom>
          <a:noFill/>
          <a:ln>
            <a:noFill/>
          </a:ln>
        </p:spPr>
        <p:txBody>
          <a:bodyPr anchorCtr="0" anchor="t" bIns="0" lIns="0" spcFirstLastPara="1" rIns="0" wrap="none" tIns="0">
            <a:noAutofit/>
          </a:bodyPr>
          <a:lstStyle/>
          <a:p>
            <a:pPr indent="0" lvl="0" marL="0" marR="0" rtl="0" algn="r">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create_agent  ·  InMemorySaver  ·  create_deep_agent  ·  LANGSMITH SDK</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130" name="Shape 130"/>
        <p:cNvGrpSpPr/>
        <p:nvPr/>
      </p:nvGrpSpPr>
      <p:grpSpPr>
        <a:xfrm>
          <a:off x="0" y="0"/>
          <a:ext cx="0" cy="0"/>
          <a:chOff x="0" y="0"/>
          <a:chExt cx="0" cy="0"/>
        </a:xfrm>
      </p:grpSpPr>
      <p:sp>
        <p:nvSpPr>
          <p:cNvPr id="131" name="Google Shape;131;p18"/>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ARCHITECTURE</a:t>
            </a:r>
            <a:endParaRPr sz="1100"/>
          </a:p>
        </p:txBody>
      </p:sp>
      <p:sp>
        <p:nvSpPr>
          <p:cNvPr id="132" name="Google Shape;132;p18"/>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A subagent is a context window with a job</a:t>
            </a:r>
            <a:endParaRPr sz="1100"/>
          </a:p>
        </p:txBody>
      </p:sp>
      <p:cxnSp>
        <p:nvCxnSpPr>
          <p:cNvPr id="133" name="Google Shape;133;p18"/>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134" name="Google Shape;134;p18"/>
          <p:cNvSpPr/>
          <p:nvPr/>
        </p:nvSpPr>
        <p:spPr>
          <a:xfrm>
            <a:off x="2786063" y="1200150"/>
            <a:ext cx="3571875" cy="557213"/>
          </a:xfrm>
          <a:prstGeom prst="roundRect">
            <a:avLst>
              <a:gd fmla="val 8974" name="adj"/>
            </a:avLst>
          </a:prstGeom>
          <a:solidFill>
            <a:srgbClr val="DCE8E5"/>
          </a:solidFill>
          <a:ln cap="flat" cmpd="sng" w="152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5" name="Google Shape;135;p18"/>
          <p:cNvSpPr/>
          <p:nvPr/>
        </p:nvSpPr>
        <p:spPr>
          <a:xfrm>
            <a:off x="2886075" y="1293019"/>
            <a:ext cx="337185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wealth supervisor</a:t>
            </a:r>
            <a:endParaRPr sz="1100"/>
          </a:p>
        </p:txBody>
      </p:sp>
      <p:sp>
        <p:nvSpPr>
          <p:cNvPr id="136" name="Google Shape;136;p18"/>
          <p:cNvSpPr/>
          <p:nvPr/>
        </p:nvSpPr>
        <p:spPr>
          <a:xfrm>
            <a:off x="2886075" y="1535906"/>
            <a:ext cx="3371850" cy="171450"/>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900"/>
              <a:buFont typeface="Arial"/>
              <a:buNone/>
            </a:pPr>
            <a:r>
              <a:rPr b="0" lang="en" sz="900">
                <a:solidFill>
                  <a:srgbClr val="6E7A80"/>
                </a:solidFill>
                <a:latin typeface="Arial"/>
                <a:ea typeface="Arial"/>
                <a:cs typeface="Arial"/>
                <a:sym typeface="Arial"/>
              </a:rPr>
              <a:t>create_deep_agent · plans, delegates, writes the memo</a:t>
            </a:r>
            <a:endParaRPr sz="1100"/>
          </a:p>
        </p:txBody>
      </p:sp>
      <p:sp>
        <p:nvSpPr>
          <p:cNvPr id="137" name="Google Shape;137;p18"/>
          <p:cNvSpPr/>
          <p:nvPr/>
        </p:nvSpPr>
        <p:spPr>
          <a:xfrm>
            <a:off x="514350" y="2300288"/>
            <a:ext cx="1785937" cy="671513"/>
          </a:xfrm>
          <a:prstGeom prst="roundRect">
            <a:avLst>
              <a:gd fmla="val 7447" name="adj"/>
            </a:avLst>
          </a:prstGeom>
          <a:solidFill>
            <a:srgbClr val="FAFBF8"/>
          </a:solidFill>
          <a:ln cap="flat" cmpd="sng" w="11425">
            <a:solidFill>
              <a:srgbClr val="A9B3A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8" name="Google Shape;138;p18"/>
          <p:cNvSpPr/>
          <p:nvPr/>
        </p:nvSpPr>
        <p:spPr>
          <a:xfrm>
            <a:off x="614363" y="2393156"/>
            <a:ext cx="158591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portfolio analyst</a:t>
            </a:r>
            <a:endParaRPr sz="1100"/>
          </a:p>
        </p:txBody>
      </p:sp>
      <p:sp>
        <p:nvSpPr>
          <p:cNvPr id="139" name="Google Shape;139;p18"/>
          <p:cNvSpPr/>
          <p:nvPr/>
        </p:nvSpPr>
        <p:spPr>
          <a:xfrm>
            <a:off x="614363" y="2636044"/>
            <a:ext cx="1585913" cy="285750"/>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Roboto Mono"/>
              <a:buNone/>
            </a:pPr>
            <a:r>
              <a:rPr b="0" lang="en" sz="800">
                <a:solidFill>
                  <a:srgbClr val="6E7A80"/>
                </a:solidFill>
                <a:latin typeface="Roboto Mono"/>
                <a:ea typeface="Roboto Mono"/>
                <a:cs typeface="Roboto Mono"/>
                <a:sym typeface="Roboto Mono"/>
              </a:rPr>
              <a:t>DEEP · holdings and concentration</a:t>
            </a:r>
            <a:endParaRPr sz="1100"/>
          </a:p>
        </p:txBody>
      </p:sp>
      <p:sp>
        <p:nvSpPr>
          <p:cNvPr id="140" name="Google Shape;140;p18"/>
          <p:cNvSpPr/>
          <p:nvPr/>
        </p:nvSpPr>
        <p:spPr>
          <a:xfrm>
            <a:off x="2457450" y="2300288"/>
            <a:ext cx="1785938" cy="671513"/>
          </a:xfrm>
          <a:prstGeom prst="roundRect">
            <a:avLst>
              <a:gd fmla="val 7447" name="adj"/>
            </a:avLst>
          </a:prstGeom>
          <a:solidFill>
            <a:srgbClr val="FAFBF8"/>
          </a:solidFill>
          <a:ln cap="flat" cmpd="sng" w="11425">
            <a:solidFill>
              <a:srgbClr val="A9B3A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1" name="Google Shape;141;p18"/>
          <p:cNvSpPr/>
          <p:nvPr/>
        </p:nvSpPr>
        <p:spPr>
          <a:xfrm>
            <a:off x="2557463" y="2393156"/>
            <a:ext cx="158591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spend analyst</a:t>
            </a:r>
            <a:endParaRPr sz="1100"/>
          </a:p>
        </p:txBody>
      </p:sp>
      <p:sp>
        <p:nvSpPr>
          <p:cNvPr id="142" name="Google Shape;142;p18"/>
          <p:cNvSpPr/>
          <p:nvPr/>
        </p:nvSpPr>
        <p:spPr>
          <a:xfrm>
            <a:off x="2557463" y="2636044"/>
            <a:ext cx="1585913" cy="285750"/>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Roboto Mono"/>
              <a:buNone/>
            </a:pPr>
            <a:r>
              <a:rPr b="0" lang="en" sz="800">
                <a:solidFill>
                  <a:srgbClr val="6E7A80"/>
                </a:solidFill>
                <a:latin typeface="Roboto Mono"/>
                <a:ea typeface="Roboto Mono"/>
                <a:cs typeface="Roboto Mono"/>
                <a:sym typeface="Roboto Mono"/>
              </a:rPr>
              <a:t>DEEP · six months of transactions</a:t>
            </a:r>
            <a:endParaRPr sz="1100"/>
          </a:p>
        </p:txBody>
      </p:sp>
      <p:sp>
        <p:nvSpPr>
          <p:cNvPr id="143" name="Google Shape;143;p18"/>
          <p:cNvSpPr/>
          <p:nvPr/>
        </p:nvSpPr>
        <p:spPr>
          <a:xfrm>
            <a:off x="4400550" y="2300288"/>
            <a:ext cx="1785938" cy="671513"/>
          </a:xfrm>
          <a:prstGeom prst="roundRect">
            <a:avLst>
              <a:gd fmla="val 7447" name="adj"/>
            </a:avLst>
          </a:prstGeom>
          <a:solidFill>
            <a:srgbClr val="FAFBF8"/>
          </a:solidFill>
          <a:ln cap="flat" cmpd="sng" w="11425">
            <a:solidFill>
              <a:srgbClr val="A9B3A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4" name="Google Shape;144;p18"/>
          <p:cNvSpPr/>
          <p:nvPr/>
        </p:nvSpPr>
        <p:spPr>
          <a:xfrm>
            <a:off x="4500563" y="2393156"/>
            <a:ext cx="158591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market researcher</a:t>
            </a:r>
            <a:endParaRPr sz="1100"/>
          </a:p>
        </p:txBody>
      </p:sp>
      <p:sp>
        <p:nvSpPr>
          <p:cNvPr id="145" name="Google Shape;145;p18"/>
          <p:cNvSpPr/>
          <p:nvPr/>
        </p:nvSpPr>
        <p:spPr>
          <a:xfrm>
            <a:off x="4500563" y="2636044"/>
            <a:ext cx="1585913" cy="285750"/>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Roboto Mono"/>
              <a:buNone/>
            </a:pPr>
            <a:r>
              <a:rPr b="0" lang="en" sz="800">
                <a:solidFill>
                  <a:srgbClr val="6E7A80"/>
                </a:solidFill>
                <a:latin typeface="Roboto Mono"/>
                <a:ea typeface="Roboto Mono"/>
                <a:cs typeface="Roboto Mono"/>
                <a:sym typeface="Roboto Mono"/>
              </a:rPr>
              <a:t>DEEP · search, read, follow leads</a:t>
            </a:r>
            <a:endParaRPr sz="1100"/>
          </a:p>
        </p:txBody>
      </p:sp>
      <p:sp>
        <p:nvSpPr>
          <p:cNvPr id="146" name="Google Shape;146;p18"/>
          <p:cNvSpPr/>
          <p:nvPr/>
        </p:nvSpPr>
        <p:spPr>
          <a:xfrm>
            <a:off x="6343650" y="2300288"/>
            <a:ext cx="2286000" cy="671513"/>
          </a:xfrm>
          <a:prstGeom prst="roundRect">
            <a:avLst>
              <a:gd fmla="val 7447" name="adj"/>
            </a:avLst>
          </a:prstGeom>
          <a:solidFill>
            <a:srgbClr val="FAFBF8"/>
          </a:solidFill>
          <a:ln cap="flat" cmpd="sng" w="11425">
            <a:solidFill>
              <a:srgbClr val="A9B3AC"/>
            </a:solidFill>
            <a:prstDash val="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7" name="Google Shape;147;p18"/>
          <p:cNvSpPr/>
          <p:nvPr/>
        </p:nvSpPr>
        <p:spPr>
          <a:xfrm>
            <a:off x="6443663" y="2393156"/>
            <a:ext cx="2085975"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allocation strategist</a:t>
            </a:r>
            <a:endParaRPr sz="1100"/>
          </a:p>
        </p:txBody>
      </p:sp>
      <p:sp>
        <p:nvSpPr>
          <p:cNvPr id="148" name="Google Shape;148;p18"/>
          <p:cNvSpPr/>
          <p:nvPr/>
        </p:nvSpPr>
        <p:spPr>
          <a:xfrm>
            <a:off x="6443663" y="2636044"/>
            <a:ext cx="2085975" cy="285750"/>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Roboto Mono"/>
              <a:buNone/>
            </a:pPr>
            <a:r>
              <a:rPr b="0" lang="en" sz="800">
                <a:solidFill>
                  <a:srgbClr val="6E7A80"/>
                </a:solidFill>
                <a:latin typeface="Roboto Mono"/>
                <a:ea typeface="Roboto Mono"/>
                <a:cs typeface="Roboto Mono"/>
                <a:sym typeface="Roboto Mono"/>
              </a:rPr>
              <a:t>SHALLOW · create_agent + response_format</a:t>
            </a:r>
            <a:endParaRPr sz="1100"/>
          </a:p>
        </p:txBody>
      </p:sp>
      <p:sp>
        <p:nvSpPr>
          <p:cNvPr id="149" name="Google Shape;149;p18"/>
          <p:cNvSpPr/>
          <p:nvPr/>
        </p:nvSpPr>
        <p:spPr>
          <a:xfrm>
            <a:off x="1000125" y="3729038"/>
            <a:ext cx="5286375" cy="542925"/>
          </a:xfrm>
          <a:prstGeom prst="roundRect">
            <a:avLst>
              <a:gd fmla="val 9211" name="adj"/>
            </a:avLst>
          </a:prstGeom>
          <a:solidFill>
            <a:srgbClr val="FAFBF8"/>
          </a:solidFill>
          <a:ln cap="flat" cmpd="sng" w="171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18"/>
          <p:cNvSpPr/>
          <p:nvPr/>
        </p:nvSpPr>
        <p:spPr>
          <a:xfrm>
            <a:off x="1100137" y="3821906"/>
            <a:ext cx="508635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4726A"/>
              </a:buClr>
              <a:buSzPts val="1300"/>
              <a:buFont typeface="Arial"/>
              <a:buNone/>
            </a:pPr>
            <a:r>
              <a:rPr b="1" lang="en" sz="1300">
                <a:solidFill>
                  <a:srgbClr val="24726A"/>
                </a:solidFill>
                <a:latin typeface="Arial"/>
                <a:ea typeface="Arial"/>
                <a:cs typeface="Arial"/>
                <a:sym typeface="Arial"/>
              </a:rPr>
              <a:t>append-only grounding ledger</a:t>
            </a:r>
            <a:endParaRPr sz="1100"/>
          </a:p>
        </p:txBody>
      </p:sp>
      <p:sp>
        <p:nvSpPr>
          <p:cNvPr id="151" name="Google Shape;151;p18"/>
          <p:cNvSpPr/>
          <p:nvPr/>
        </p:nvSpPr>
        <p:spPr>
          <a:xfrm>
            <a:off x="1100137" y="4064794"/>
            <a:ext cx="5086350" cy="157163"/>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900"/>
              <a:buFont typeface="Arial"/>
              <a:buNone/>
            </a:pPr>
            <a:r>
              <a:rPr b="0" lang="en" sz="900">
                <a:solidFill>
                  <a:srgbClr val="6E7A80"/>
                </a:solidFill>
                <a:latin typeface="Arial"/>
                <a:ea typeface="Arial"/>
                <a:cs typeface="Arial"/>
                <a:sym typeface="Arial"/>
              </a:rPr>
              <a:t>Every tool result · GroundingLedgerMiddleware, installed per agent</a:t>
            </a:r>
            <a:endParaRPr sz="1100"/>
          </a:p>
        </p:txBody>
      </p:sp>
      <p:sp>
        <p:nvSpPr>
          <p:cNvPr id="152" name="Google Shape;152;p18"/>
          <p:cNvSpPr/>
          <p:nvPr/>
        </p:nvSpPr>
        <p:spPr>
          <a:xfrm>
            <a:off x="6657975" y="3729038"/>
            <a:ext cx="1971675" cy="542925"/>
          </a:xfrm>
          <a:prstGeom prst="roundRect">
            <a:avLst>
              <a:gd fmla="val 9211" name="adj"/>
            </a:avLst>
          </a:prstGeom>
          <a:solidFill>
            <a:srgbClr val="FAFBF8"/>
          </a:solidFill>
          <a:ln cap="flat" cmpd="sng" w="11425">
            <a:solidFill>
              <a:srgbClr val="444E54"/>
            </a:solidFill>
            <a:prstDash val="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3" name="Google Shape;153;p18"/>
          <p:cNvSpPr/>
          <p:nvPr/>
        </p:nvSpPr>
        <p:spPr>
          <a:xfrm>
            <a:off x="6757988" y="3821906"/>
            <a:ext cx="177165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300"/>
              <a:buFont typeface="Arial"/>
              <a:buNone/>
            </a:pPr>
            <a:r>
              <a:rPr b="1" lang="en" sz="1300">
                <a:solidFill>
                  <a:srgbClr val="14181C"/>
                </a:solidFill>
                <a:latin typeface="Arial"/>
                <a:ea typeface="Arial"/>
                <a:cs typeface="Arial"/>
                <a:sym typeface="Arial"/>
              </a:rPr>
              <a:t>verifier</a:t>
            </a:r>
            <a:endParaRPr sz="1100"/>
          </a:p>
        </p:txBody>
      </p:sp>
      <p:sp>
        <p:nvSpPr>
          <p:cNvPr id="154" name="Google Shape;154;p18"/>
          <p:cNvSpPr/>
          <p:nvPr/>
        </p:nvSpPr>
        <p:spPr>
          <a:xfrm>
            <a:off x="6757988" y="4064794"/>
            <a:ext cx="1771650" cy="157163"/>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lang="en" sz="800">
                <a:solidFill>
                  <a:srgbClr val="6E7A80"/>
                </a:solidFill>
                <a:latin typeface="Arial"/>
                <a:ea typeface="Arial"/>
                <a:cs typeface="Arial"/>
                <a:sym typeface="Arial"/>
              </a:rPr>
              <a:t>SHALLOW · fixed checks</a:t>
            </a:r>
            <a:endParaRPr sz="1100"/>
          </a:p>
        </p:txBody>
      </p:sp>
      <p:cxnSp>
        <p:nvCxnSpPr>
          <p:cNvPr id="155" name="Google Shape;155;p18"/>
          <p:cNvCxnSpPr>
            <a:stCxn id="134" idx="2"/>
            <a:endCxn id="137" idx="0"/>
          </p:cNvCxnSpPr>
          <p:nvPr/>
        </p:nvCxnSpPr>
        <p:spPr>
          <a:xfrm rot="5400000">
            <a:off x="2718150" y="446513"/>
            <a:ext cx="543000" cy="3164700"/>
          </a:xfrm>
          <a:prstGeom prst="bentConnector4">
            <a:avLst>
              <a:gd fmla="val 0" name="adj1"/>
              <a:gd fmla="val 0" name="adj2"/>
            </a:avLst>
          </a:prstGeom>
          <a:noFill/>
          <a:ln cap="flat" cmpd="sng" w="14275">
            <a:solidFill>
              <a:srgbClr val="A9B3AC"/>
            </a:solidFill>
            <a:prstDash val="solid"/>
            <a:round/>
            <a:headEnd len="sm" w="sm" type="none"/>
            <a:tailEnd len="sm" w="sm" type="triangle"/>
          </a:ln>
        </p:spPr>
      </p:cxnSp>
      <p:cxnSp>
        <p:nvCxnSpPr>
          <p:cNvPr id="156" name="Google Shape;156;p18"/>
          <p:cNvCxnSpPr>
            <a:stCxn id="134" idx="2"/>
            <a:endCxn id="140" idx="0"/>
          </p:cNvCxnSpPr>
          <p:nvPr/>
        </p:nvCxnSpPr>
        <p:spPr>
          <a:xfrm rot="5400000">
            <a:off x="3689700" y="1418063"/>
            <a:ext cx="543000" cy="1221600"/>
          </a:xfrm>
          <a:prstGeom prst="bentConnector4">
            <a:avLst>
              <a:gd fmla="val 0" name="adj1"/>
              <a:gd fmla="val 0" name="adj2"/>
            </a:avLst>
          </a:prstGeom>
          <a:noFill/>
          <a:ln cap="flat" cmpd="sng" w="14275">
            <a:solidFill>
              <a:srgbClr val="A9B3AC"/>
            </a:solidFill>
            <a:prstDash val="solid"/>
            <a:round/>
            <a:headEnd len="sm" w="sm" type="none"/>
            <a:tailEnd len="sm" w="sm" type="triangle"/>
          </a:ln>
        </p:spPr>
      </p:cxnSp>
      <p:cxnSp>
        <p:nvCxnSpPr>
          <p:cNvPr id="157" name="Google Shape;157;p18"/>
          <p:cNvCxnSpPr>
            <a:stCxn id="134" idx="2"/>
            <a:endCxn id="143" idx="0"/>
          </p:cNvCxnSpPr>
          <p:nvPr/>
        </p:nvCxnSpPr>
        <p:spPr>
          <a:xfrm flipH="1" rot="-5400000">
            <a:off x="4661250" y="1668113"/>
            <a:ext cx="543000" cy="721500"/>
          </a:xfrm>
          <a:prstGeom prst="bentConnector4">
            <a:avLst>
              <a:gd fmla="val 0" name="adj1"/>
              <a:gd fmla="val 0" name="adj2"/>
            </a:avLst>
          </a:prstGeom>
          <a:noFill/>
          <a:ln cap="flat" cmpd="sng" w="14275">
            <a:solidFill>
              <a:srgbClr val="A9B3AC"/>
            </a:solidFill>
            <a:prstDash val="solid"/>
            <a:round/>
            <a:headEnd len="sm" w="sm" type="none"/>
            <a:tailEnd len="sm" w="sm" type="triangle"/>
          </a:ln>
        </p:spPr>
      </p:cxnSp>
      <p:cxnSp>
        <p:nvCxnSpPr>
          <p:cNvPr id="158" name="Google Shape;158;p18"/>
          <p:cNvCxnSpPr>
            <a:stCxn id="134" idx="2"/>
            <a:endCxn id="146" idx="0"/>
          </p:cNvCxnSpPr>
          <p:nvPr/>
        </p:nvCxnSpPr>
        <p:spPr>
          <a:xfrm flipH="1" rot="-5400000">
            <a:off x="5757900" y="571463"/>
            <a:ext cx="543000" cy="2914800"/>
          </a:xfrm>
          <a:prstGeom prst="bentConnector4">
            <a:avLst>
              <a:gd fmla="val 0" name="adj1"/>
              <a:gd fmla="val 0" name="adj2"/>
            </a:avLst>
          </a:prstGeom>
          <a:noFill/>
          <a:ln cap="flat" cmpd="sng" w="14275">
            <a:solidFill>
              <a:srgbClr val="A9B3AC"/>
            </a:solidFill>
            <a:prstDash val="solid"/>
            <a:round/>
            <a:headEnd len="sm" w="sm" type="none"/>
            <a:tailEnd len="sm" w="sm" type="triangle"/>
          </a:ln>
        </p:spPr>
      </p:cxnSp>
      <p:cxnSp>
        <p:nvCxnSpPr>
          <p:cNvPr id="159" name="Google Shape;159;p18"/>
          <p:cNvCxnSpPr>
            <a:stCxn id="137" idx="2"/>
            <a:endCxn id="149" idx="0"/>
          </p:cNvCxnSpPr>
          <p:nvPr/>
        </p:nvCxnSpPr>
        <p:spPr>
          <a:xfrm flipH="1" rot="-5400000">
            <a:off x="2146669" y="2232450"/>
            <a:ext cx="757200" cy="2235900"/>
          </a:xfrm>
          <a:prstGeom prst="bentConnector4">
            <a:avLst>
              <a:gd fmla="val 0" name="adj1"/>
              <a:gd fmla="val 0" name="adj2"/>
            </a:avLst>
          </a:prstGeom>
          <a:noFill/>
          <a:ln cap="flat" cmpd="sng" w="11900">
            <a:solidFill>
              <a:srgbClr val="24726A"/>
            </a:solidFill>
            <a:prstDash val="solid"/>
            <a:round/>
            <a:headEnd len="sm" w="sm" type="none"/>
            <a:tailEnd len="sm" w="sm" type="triangle"/>
          </a:ln>
        </p:spPr>
      </p:cxnSp>
      <p:cxnSp>
        <p:nvCxnSpPr>
          <p:cNvPr id="160" name="Google Shape;160;p18"/>
          <p:cNvCxnSpPr>
            <a:stCxn id="140" idx="2"/>
            <a:endCxn id="149" idx="0"/>
          </p:cNvCxnSpPr>
          <p:nvPr/>
        </p:nvCxnSpPr>
        <p:spPr>
          <a:xfrm flipH="1" rot="-5400000">
            <a:off x="3118219" y="3204000"/>
            <a:ext cx="757200" cy="292800"/>
          </a:xfrm>
          <a:prstGeom prst="bentConnector4">
            <a:avLst>
              <a:gd fmla="val 0" name="adj1"/>
              <a:gd fmla="val 0" name="adj2"/>
            </a:avLst>
          </a:prstGeom>
          <a:noFill/>
          <a:ln cap="flat" cmpd="sng" w="11900">
            <a:solidFill>
              <a:srgbClr val="24726A"/>
            </a:solidFill>
            <a:prstDash val="solid"/>
            <a:round/>
            <a:headEnd len="sm" w="sm" type="none"/>
            <a:tailEnd len="sm" w="sm" type="triangle"/>
          </a:ln>
        </p:spPr>
      </p:cxnSp>
      <p:cxnSp>
        <p:nvCxnSpPr>
          <p:cNvPr id="161" name="Google Shape;161;p18"/>
          <p:cNvCxnSpPr>
            <a:stCxn id="143" idx="2"/>
            <a:endCxn id="149" idx="0"/>
          </p:cNvCxnSpPr>
          <p:nvPr/>
        </p:nvCxnSpPr>
        <p:spPr>
          <a:xfrm rot="5400000">
            <a:off x="4089769" y="2525250"/>
            <a:ext cx="757200" cy="1650300"/>
          </a:xfrm>
          <a:prstGeom prst="bentConnector4">
            <a:avLst>
              <a:gd fmla="val 0" name="adj1"/>
              <a:gd fmla="val 0" name="adj2"/>
            </a:avLst>
          </a:prstGeom>
          <a:noFill/>
          <a:ln cap="flat" cmpd="sng" w="11900">
            <a:solidFill>
              <a:srgbClr val="24726A"/>
            </a:solidFill>
            <a:prstDash val="solid"/>
            <a:round/>
            <a:headEnd len="sm" w="sm" type="none"/>
            <a:tailEnd len="sm" w="sm" type="triangle"/>
          </a:ln>
        </p:spPr>
      </p:cxnSp>
      <p:cxnSp>
        <p:nvCxnSpPr>
          <p:cNvPr id="162" name="Google Shape;162;p18"/>
          <p:cNvCxnSpPr>
            <a:stCxn id="146" idx="2"/>
            <a:endCxn id="149" idx="0"/>
          </p:cNvCxnSpPr>
          <p:nvPr/>
        </p:nvCxnSpPr>
        <p:spPr>
          <a:xfrm rot="5400000">
            <a:off x="5186400" y="1428750"/>
            <a:ext cx="757200" cy="3843300"/>
          </a:xfrm>
          <a:prstGeom prst="bentConnector4">
            <a:avLst>
              <a:gd fmla="val 0" name="adj1"/>
              <a:gd fmla="val 0" name="adj2"/>
            </a:avLst>
          </a:prstGeom>
          <a:noFill/>
          <a:ln cap="flat" cmpd="sng" w="11900">
            <a:solidFill>
              <a:srgbClr val="24726A"/>
            </a:solidFill>
            <a:prstDash val="solid"/>
            <a:round/>
            <a:headEnd len="sm" w="sm" type="none"/>
            <a:tailEnd len="sm" w="sm" type="triangle"/>
          </a:ln>
        </p:spPr>
      </p:cxnSp>
      <p:cxnSp>
        <p:nvCxnSpPr>
          <p:cNvPr id="163" name="Google Shape;163;p18"/>
          <p:cNvCxnSpPr>
            <a:stCxn id="149" idx="3"/>
            <a:endCxn id="152" idx="1"/>
          </p:cNvCxnSpPr>
          <p:nvPr/>
        </p:nvCxnSpPr>
        <p:spPr>
          <a:xfrm>
            <a:off x="6286500" y="4000500"/>
            <a:ext cx="371400" cy="0"/>
          </a:xfrm>
          <a:prstGeom prst="straightConnector1">
            <a:avLst/>
          </a:prstGeom>
          <a:noFill/>
          <a:ln cap="flat" cmpd="sng" w="14275">
            <a:solidFill>
              <a:srgbClr val="444E54"/>
            </a:solidFill>
            <a:prstDash val="solid"/>
            <a:round/>
            <a:headEnd len="sm" w="sm" type="none"/>
            <a:tailEnd len="sm" w="sm" type="triangle"/>
          </a:ln>
        </p:spPr>
      </p:cxnSp>
      <p:sp>
        <p:nvSpPr>
          <p:cNvPr id="164" name="Google Shape;164;p18"/>
          <p:cNvSpPr/>
          <p:nvPr/>
        </p:nvSpPr>
        <p:spPr>
          <a:xfrm>
            <a:off x="6515100" y="1785938"/>
            <a:ext cx="857250"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0" lang="en" sz="800">
                <a:solidFill>
                  <a:srgbClr val="6E7A80"/>
                </a:solidFill>
                <a:latin typeface="Roboto Mono"/>
                <a:ea typeface="Roboto Mono"/>
                <a:cs typeface="Roboto Mono"/>
                <a:sym typeface="Roboto Mono"/>
              </a:rPr>
              <a:t>delegates</a:t>
            </a:r>
            <a:endParaRPr sz="1100"/>
          </a:p>
        </p:txBody>
      </p:sp>
      <p:sp>
        <p:nvSpPr>
          <p:cNvPr id="165" name="Google Shape;165;p18"/>
          <p:cNvSpPr/>
          <p:nvPr/>
        </p:nvSpPr>
        <p:spPr>
          <a:xfrm>
            <a:off x="514350" y="3044952"/>
            <a:ext cx="107156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0" lang="en" sz="800">
                <a:solidFill>
                  <a:srgbClr val="24726A"/>
                </a:solidFill>
                <a:latin typeface="Roboto Mono"/>
                <a:ea typeface="Roboto Mono"/>
                <a:cs typeface="Roboto Mono"/>
                <a:sym typeface="Roboto Mono"/>
              </a:rPr>
              <a:t>writes evidence</a:t>
            </a:r>
            <a:endParaRPr sz="1100"/>
          </a:p>
        </p:txBody>
      </p:sp>
      <p:sp>
        <p:nvSpPr>
          <p:cNvPr id="166" name="Google Shape;166;p18"/>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167" name="Google Shape;167;p18"/>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06</a:t>
            </a:r>
            <a:endParaRPr sz="1100"/>
          </a:p>
        </p:txBody>
      </p:sp>
      <p:sp>
        <p:nvSpPr>
          <p:cNvPr id="9040" name="takeaway"/>
          <p:cNvSpPr/>
          <p:nvPr/>
        </p:nvSpPr>
        <p:spPr>
          <a:xfrm>
            <a:off x="512064" y="4443984"/>
            <a:ext cx="8119872" cy="24688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4726A"/>
              </a:buClr>
              <a:buSzPts val="1300"/>
              <a:buFont typeface="Arial"/>
              <a:buNone/>
            </a:pPr>
            <a:r>
              <a:rPr b="1" lang="en" sz="1400">
                <a:solidFill>
                  <a:srgbClr val="24726A"/>
                </a:solidFill>
                <a:latin typeface="Arial"/>
                <a:ea typeface="Arial"/>
                <a:cs typeface="Arial"/>
                <a:sym typeface="Arial"/>
              </a:rPr>
              <a:t>Deep where the work is open-ended. Shallow where there is exactly one right answer.</a:t>
            </a:r>
            <a:endParaRPr sz="1100"/>
          </a:p>
        </p:txBody>
      </p:sp>
      <p:sp>
        <p:nvSpPr>
          <p:cNvPr id="9041" name="concept-tag"/>
          <p:cNvSpPr/>
          <p:nvPr/>
        </p:nvSpPr>
        <p:spPr>
          <a:xfrm>
            <a:off x="4059936" y="310896"/>
            <a:ext cx="4572000" cy="173736"/>
          </a:xfrm>
          <a:prstGeom prst="rect">
            <a:avLst/>
          </a:prstGeom>
          <a:noFill/>
          <a:ln>
            <a:noFill/>
          </a:ln>
        </p:spPr>
        <p:txBody>
          <a:bodyPr anchorCtr="0" anchor="t" bIns="0" lIns="0" spcFirstLastPara="1" rIns="0" wrap="none" tIns="0">
            <a:noAutofit/>
          </a:bodyPr>
          <a:lstStyle/>
          <a:p>
            <a:pPr indent="0" lvl="0" marL="0" marR="0" rtl="0" algn="r">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create_deep_agent  ·  SubAgent  ·  CompiledSubAgent  ·  AgentMiddleware</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172" name="Shape 172"/>
        <p:cNvGrpSpPr/>
        <p:nvPr/>
      </p:nvGrpSpPr>
      <p:grpSpPr>
        <a:xfrm>
          <a:off x="0" y="0"/>
          <a:ext cx="0" cy="0"/>
          <a:chOff x="0" y="0"/>
          <a:chExt cx="0" cy="0"/>
        </a:xfrm>
      </p:grpSpPr>
      <p:sp>
        <p:nvSpPr>
          <p:cNvPr id="173" name="Google Shape;173;p19"/>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DESIGN PRINCIPLE</a:t>
            </a:r>
            <a:endParaRPr sz="1100"/>
          </a:p>
        </p:txBody>
      </p:sp>
      <p:sp>
        <p:nvSpPr>
          <p:cNvPr id="174" name="Google Shape;174;p19"/>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Agentic decisions. Deterministic checks.</a:t>
            </a:r>
            <a:endParaRPr sz="1100"/>
          </a:p>
        </p:txBody>
      </p:sp>
      <p:cxnSp>
        <p:nvCxnSpPr>
          <p:cNvPr id="175" name="Google Shape;175;p19"/>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cxnSp>
        <p:nvCxnSpPr>
          <p:cNvPr id="176" name="Google Shape;176;p19"/>
          <p:cNvCxnSpPr/>
          <p:nvPr/>
        </p:nvCxnSpPr>
        <p:spPr>
          <a:xfrm>
            <a:off x="4572000" y="1414463"/>
            <a:ext cx="0" cy="2657475"/>
          </a:xfrm>
          <a:prstGeom prst="straightConnector1">
            <a:avLst/>
          </a:prstGeom>
          <a:noFill/>
          <a:ln cap="flat" cmpd="sng" w="14275">
            <a:solidFill>
              <a:srgbClr val="A9B3AC"/>
            </a:solidFill>
            <a:prstDash val="solid"/>
            <a:round/>
            <a:headEnd len="sm" w="sm" type="none"/>
            <a:tailEnd len="sm" w="sm" type="none"/>
          </a:ln>
        </p:spPr>
      </p:cxnSp>
      <p:sp>
        <p:nvSpPr>
          <p:cNvPr id="177" name="Google Shape;177;p19"/>
          <p:cNvSpPr/>
          <p:nvPr/>
        </p:nvSpPr>
        <p:spPr>
          <a:xfrm>
            <a:off x="628650" y="1357313"/>
            <a:ext cx="3357563"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lang="en" sz="900">
                <a:solidFill>
                  <a:srgbClr val="24726A"/>
                </a:solidFill>
                <a:latin typeface="Roboto Mono"/>
                <a:ea typeface="Roboto Mono"/>
                <a:cs typeface="Roboto Mono"/>
                <a:sym typeface="Roboto Mono"/>
              </a:rPr>
              <a:t>THE MODEL DECIDES</a:t>
            </a:r>
            <a:endParaRPr sz="1100"/>
          </a:p>
        </p:txBody>
      </p:sp>
      <p:sp>
        <p:nvSpPr>
          <p:cNvPr id="178" name="Google Shape;178;p19"/>
          <p:cNvSpPr/>
          <p:nvPr/>
        </p:nvSpPr>
        <p:spPr>
          <a:xfrm>
            <a:off x="5000625" y="1357313"/>
            <a:ext cx="3357563"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900"/>
              <a:buFont typeface="Roboto Mono"/>
              <a:buNone/>
            </a:pPr>
            <a:r>
              <a:rPr b="1" lang="en" sz="900">
                <a:solidFill>
                  <a:srgbClr val="35704A"/>
                </a:solidFill>
                <a:latin typeface="Roboto Mono"/>
                <a:ea typeface="Roboto Mono"/>
                <a:cs typeface="Roboto Mono"/>
                <a:sym typeface="Roboto Mono"/>
              </a:rPr>
              <a:t>CODE ENFORCES</a:t>
            </a:r>
            <a:endParaRPr sz="1100"/>
          </a:p>
        </p:txBody>
      </p:sp>
      <p:sp>
        <p:nvSpPr>
          <p:cNvPr id="179" name="Google Shape;179;p19"/>
          <p:cNvSpPr/>
          <p:nvPr/>
        </p:nvSpPr>
        <p:spPr>
          <a:xfrm>
            <a:off x="628650" y="1785938"/>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Plan and delegate</a:t>
            </a:r>
            <a:endParaRPr sz="1100"/>
          </a:p>
        </p:txBody>
      </p:sp>
      <p:sp>
        <p:nvSpPr>
          <p:cNvPr id="180" name="Google Shape;180;p19"/>
          <p:cNvSpPr/>
          <p:nvPr/>
        </p:nvSpPr>
        <p:spPr>
          <a:xfrm>
            <a:off x="628650" y="2071688"/>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Which specialist should investigate next</a:t>
            </a:r>
            <a:endParaRPr sz="1100"/>
          </a:p>
        </p:txBody>
      </p:sp>
      <p:sp>
        <p:nvSpPr>
          <p:cNvPr id="181" name="Google Shape;181;p19"/>
          <p:cNvSpPr/>
          <p:nvPr/>
        </p:nvSpPr>
        <p:spPr>
          <a:xfrm>
            <a:off x="628650" y="2514600"/>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Research</a:t>
            </a:r>
            <a:endParaRPr sz="1100"/>
          </a:p>
        </p:txBody>
      </p:sp>
      <p:sp>
        <p:nvSpPr>
          <p:cNvPr id="182" name="Google Shape;182;p19"/>
          <p:cNvSpPr/>
          <p:nvPr/>
        </p:nvSpPr>
        <p:spPr>
          <a:xfrm>
            <a:off x="628650" y="2800350"/>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Which sources and follow-up leads matter</a:t>
            </a:r>
            <a:endParaRPr sz="1100"/>
          </a:p>
        </p:txBody>
      </p:sp>
      <p:sp>
        <p:nvSpPr>
          <p:cNvPr id="183" name="Google Shape;183;p19"/>
          <p:cNvSpPr/>
          <p:nvPr/>
        </p:nvSpPr>
        <p:spPr>
          <a:xfrm>
            <a:off x="628650" y="3243263"/>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Explain trade-offs</a:t>
            </a:r>
            <a:endParaRPr sz="1100"/>
          </a:p>
        </p:txBody>
      </p:sp>
      <p:sp>
        <p:nvSpPr>
          <p:cNvPr id="184" name="Google Shape;184;p19"/>
          <p:cNvSpPr/>
          <p:nvPr/>
        </p:nvSpPr>
        <p:spPr>
          <a:xfrm>
            <a:off x="628650" y="3529013"/>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How to communicate competing policy constraints</a:t>
            </a:r>
            <a:endParaRPr sz="1100"/>
          </a:p>
        </p:txBody>
      </p:sp>
      <p:sp>
        <p:nvSpPr>
          <p:cNvPr id="185" name="Google Shape;185;p19"/>
          <p:cNvSpPr/>
          <p:nvPr/>
        </p:nvSpPr>
        <p:spPr>
          <a:xfrm>
            <a:off x="5000625" y="1785938"/>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Compute</a:t>
            </a:r>
            <a:endParaRPr sz="1100"/>
          </a:p>
        </p:txBody>
      </p:sp>
      <p:sp>
        <p:nvSpPr>
          <p:cNvPr id="186" name="Google Shape;186;p19"/>
          <p:cNvSpPr/>
          <p:nvPr/>
        </p:nvSpPr>
        <p:spPr>
          <a:xfrm>
            <a:off x="5000625" y="2071688"/>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Portfolio weights, drift, runway, trade amounts</a:t>
            </a:r>
            <a:endParaRPr sz="1100"/>
          </a:p>
        </p:txBody>
      </p:sp>
      <p:sp>
        <p:nvSpPr>
          <p:cNvPr id="187" name="Google Shape;187;p19"/>
          <p:cNvSpPr/>
          <p:nvPr/>
        </p:nvSpPr>
        <p:spPr>
          <a:xfrm>
            <a:off x="5000625" y="2514600"/>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Record</a:t>
            </a:r>
            <a:endParaRPr sz="1100"/>
          </a:p>
        </p:txBody>
      </p:sp>
      <p:sp>
        <p:nvSpPr>
          <p:cNvPr id="188" name="Google Shape;188;p19"/>
          <p:cNvSpPr/>
          <p:nvPr/>
        </p:nvSpPr>
        <p:spPr>
          <a:xfrm>
            <a:off x="5000625" y="2800350"/>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Every tool result enters an append-only ledger, via middleware</a:t>
            </a:r>
            <a:endParaRPr sz="1100"/>
          </a:p>
        </p:txBody>
      </p:sp>
      <p:sp>
        <p:nvSpPr>
          <p:cNvPr id="189" name="Google Shape;189;p19"/>
          <p:cNvSpPr/>
          <p:nvPr/>
        </p:nvSpPr>
        <p:spPr>
          <a:xfrm>
            <a:off x="5000625" y="3243263"/>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Gate</a:t>
            </a:r>
            <a:endParaRPr sz="1100"/>
          </a:p>
        </p:txBody>
      </p:sp>
      <p:sp>
        <p:nvSpPr>
          <p:cNvPr id="190" name="Google Shape;190;p19"/>
          <p:cNvSpPr/>
          <p:nvPr/>
        </p:nvSpPr>
        <p:spPr>
          <a:xfrm>
            <a:off x="5000625" y="3529013"/>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Citations, figures, permissions, and release thresholds</a:t>
            </a:r>
            <a:endParaRPr sz="1100"/>
          </a:p>
        </p:txBody>
      </p:sp>
      <p:sp>
        <p:nvSpPr>
          <p:cNvPr id="191" name="Google Shape;191;p19"/>
          <p:cNvSpPr/>
          <p:nvPr/>
        </p:nvSpPr>
        <p:spPr>
          <a:xfrm>
            <a:off x="628650" y="4186238"/>
            <a:ext cx="7729538" cy="414338"/>
          </a:xfrm>
          <a:prstGeom prst="rect">
            <a:avLst/>
          </a:prstGeom>
          <a:solidFill>
            <a:srgbClr val="DCE8E5"/>
          </a:solidFill>
          <a:ln cap="flat" cmpd="sng" w="9525">
            <a:solidFill>
              <a:srgbClr val="DCE8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 name="Google Shape;192;p19"/>
          <p:cNvSpPr/>
          <p:nvPr/>
        </p:nvSpPr>
        <p:spPr>
          <a:xfrm>
            <a:off x="771525" y="4314825"/>
            <a:ext cx="7443787" cy="18573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000"/>
              <a:buFont typeface="Roboto Mono"/>
              <a:buNone/>
            </a:pPr>
            <a:r>
              <a:rPr b="1" lang="en" sz="1000">
                <a:solidFill>
                  <a:srgbClr val="14181C"/>
                </a:solidFill>
                <a:latin typeface="Roboto Mono"/>
                <a:ea typeface="Roboto Mono"/>
                <a:cs typeface="Roboto Mono"/>
                <a:sym typeface="Roboto Mono"/>
              </a:rPr>
              <a:t>create_deep_agent for open-ended work    ·    create_agent + response_format for bounded work</a:t>
            </a:r>
            <a:endParaRPr sz="1100"/>
          </a:p>
        </p:txBody>
      </p:sp>
      <p:sp>
        <p:nvSpPr>
          <p:cNvPr id="193" name="Google Shape;193;p19"/>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194" name="Google Shape;194;p19"/>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07</a:t>
            </a:r>
            <a:endParaRPr sz="1100"/>
          </a:p>
        </p:txBody>
      </p:sp>
      <p:sp>
        <p:nvSpPr>
          <p:cNvPr id="9025" name="concept-tag"/>
          <p:cNvSpPr/>
          <p:nvPr/>
        </p:nvSpPr>
        <p:spPr>
          <a:xfrm>
            <a:off x="4059936" y="310896"/>
            <a:ext cx="4572000" cy="173736"/>
          </a:xfrm>
          <a:prstGeom prst="rect">
            <a:avLst/>
          </a:prstGeom>
          <a:noFill/>
          <a:ln>
            <a:noFill/>
          </a:ln>
        </p:spPr>
        <p:txBody>
          <a:bodyPr anchorCtr="0" anchor="t" bIns="0" lIns="0" spcFirstLastPara="1" rIns="0" wrap="none" tIns="0">
            <a:noAutofit/>
          </a:bodyPr>
          <a:lstStyle/>
          <a:p>
            <a:pPr indent="0" lvl="0" marL="0" marR="0" rtl="0" algn="r">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@tool  ·  response_format  ·  AgentMiddleware  ·  wrap_tool_call</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199" name="Shape 199"/>
        <p:cNvGrpSpPr/>
        <p:nvPr/>
      </p:nvGrpSpPr>
      <p:grpSpPr>
        <a:xfrm>
          <a:off x="0" y="0"/>
          <a:ext cx="0" cy="0"/>
          <a:chOff x="0" y="0"/>
          <a:chExt cx="0" cy="0"/>
        </a:xfrm>
      </p:grpSpPr>
      <p:sp>
        <p:nvSpPr>
          <p:cNvPr id="200" name="Google Shape;200;p20"/>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DEMO</a:t>
            </a:r>
            <a:endParaRPr sz="1100"/>
          </a:p>
        </p:txBody>
      </p:sp>
      <p:sp>
        <p:nvSpPr>
          <p:cNvPr id="201" name="Google Shape;201;p20"/>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Two memos. Which one would you ship?</a:t>
            </a:r>
            <a:endParaRPr sz="1100"/>
          </a:p>
        </p:txBody>
      </p:sp>
      <p:cxnSp>
        <p:nvCxnSpPr>
          <p:cNvPr id="202" name="Google Shape;202;p20"/>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203" name="Google Shape;203;p20"/>
          <p:cNvSpPr/>
          <p:nvPr/>
        </p:nvSpPr>
        <p:spPr>
          <a:xfrm>
            <a:off x="514350" y="1357313"/>
            <a:ext cx="385763"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1000"/>
              <a:buFont typeface="Roboto Mono"/>
              <a:buNone/>
            </a:pPr>
            <a:r>
              <a:rPr b="1" lang="en" sz="1000">
                <a:solidFill>
                  <a:srgbClr val="24726A"/>
                </a:solidFill>
                <a:latin typeface="Roboto Mono"/>
                <a:ea typeface="Roboto Mono"/>
                <a:cs typeface="Roboto Mono"/>
                <a:sym typeface="Roboto Mono"/>
              </a:rPr>
              <a:t>01</a:t>
            </a:r>
            <a:endParaRPr sz="1100"/>
          </a:p>
        </p:txBody>
      </p:sp>
      <p:sp>
        <p:nvSpPr>
          <p:cNvPr id="204" name="Google Shape;204;p20"/>
          <p:cNvSpPr/>
          <p:nvPr/>
        </p:nvSpPr>
        <p:spPr>
          <a:xfrm>
            <a:off x="1028700" y="1328738"/>
            <a:ext cx="3214688"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Open the naive memo</a:t>
            </a:r>
            <a:endParaRPr sz="1100"/>
          </a:p>
        </p:txBody>
      </p:sp>
      <p:sp>
        <p:nvSpPr>
          <p:cNvPr id="205" name="Google Shape;205;p20"/>
          <p:cNvSpPr/>
          <p:nvPr/>
        </p:nvSpPr>
        <p:spPr>
          <a:xfrm>
            <a:off x="1028700" y="1643063"/>
            <a:ext cx="314325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Same data, same question, no verification. Let the room read its strongest recommendation.</a:t>
            </a:r>
            <a:endParaRPr sz="1100"/>
          </a:p>
        </p:txBody>
      </p:sp>
      <p:cxnSp>
        <p:nvCxnSpPr>
          <p:cNvPr id="206" name="Google Shape;206;p20"/>
          <p:cNvCxnSpPr/>
          <p:nvPr/>
        </p:nvCxnSpPr>
        <p:spPr>
          <a:xfrm>
            <a:off x="1028700" y="2157413"/>
            <a:ext cx="3143250" cy="0"/>
          </a:xfrm>
          <a:prstGeom prst="straightConnector1">
            <a:avLst/>
          </a:prstGeom>
          <a:noFill/>
          <a:ln cap="flat" cmpd="sng" w="9525">
            <a:solidFill>
              <a:srgbClr val="CBD2CA"/>
            </a:solidFill>
            <a:prstDash val="solid"/>
            <a:round/>
            <a:headEnd len="sm" w="sm" type="none"/>
            <a:tailEnd len="sm" w="sm" type="none"/>
          </a:ln>
        </p:spPr>
      </p:cxnSp>
      <p:sp>
        <p:nvSpPr>
          <p:cNvPr id="207" name="Google Shape;207;p20"/>
          <p:cNvSpPr/>
          <p:nvPr/>
        </p:nvSpPr>
        <p:spPr>
          <a:xfrm>
            <a:off x="514350" y="2328863"/>
            <a:ext cx="385763"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1000"/>
              <a:buFont typeface="Roboto Mono"/>
              <a:buNone/>
            </a:pPr>
            <a:r>
              <a:rPr b="1" lang="en" sz="1000">
                <a:solidFill>
                  <a:srgbClr val="24726A"/>
                </a:solidFill>
                <a:latin typeface="Roboto Mono"/>
                <a:ea typeface="Roboto Mono"/>
                <a:cs typeface="Roboto Mono"/>
                <a:sym typeface="Roboto Mono"/>
              </a:rPr>
              <a:t>02</a:t>
            </a:r>
            <a:endParaRPr sz="1100"/>
          </a:p>
        </p:txBody>
      </p:sp>
      <p:sp>
        <p:nvSpPr>
          <p:cNvPr id="208" name="Google Shape;208;p20"/>
          <p:cNvSpPr/>
          <p:nvPr/>
        </p:nvSpPr>
        <p:spPr>
          <a:xfrm>
            <a:off x="1028700" y="2300288"/>
            <a:ext cx="3214688"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Ask what would earn approval</a:t>
            </a:r>
            <a:endParaRPr sz="1100"/>
          </a:p>
        </p:txBody>
      </p:sp>
      <p:sp>
        <p:nvSpPr>
          <p:cNvPr id="209" name="Google Shape;209;p20"/>
          <p:cNvSpPr/>
          <p:nvPr/>
        </p:nvSpPr>
        <p:spPr>
          <a:xfrm>
            <a:off x="1028700" y="2614613"/>
            <a:ext cx="314325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It is the best-written of the three — and it attributes none of its twenty market claims.</a:t>
            </a:r>
            <a:endParaRPr sz="1100"/>
          </a:p>
        </p:txBody>
      </p:sp>
      <p:cxnSp>
        <p:nvCxnSpPr>
          <p:cNvPr id="210" name="Google Shape;210;p20"/>
          <p:cNvCxnSpPr/>
          <p:nvPr/>
        </p:nvCxnSpPr>
        <p:spPr>
          <a:xfrm>
            <a:off x="1028700" y="3128963"/>
            <a:ext cx="3143250" cy="0"/>
          </a:xfrm>
          <a:prstGeom prst="straightConnector1">
            <a:avLst/>
          </a:prstGeom>
          <a:noFill/>
          <a:ln cap="flat" cmpd="sng" w="9525">
            <a:solidFill>
              <a:srgbClr val="CBD2CA"/>
            </a:solidFill>
            <a:prstDash val="solid"/>
            <a:round/>
            <a:headEnd len="sm" w="sm" type="none"/>
            <a:tailEnd len="sm" w="sm" type="none"/>
          </a:ln>
        </p:spPr>
      </p:cxnSp>
      <p:sp>
        <p:nvSpPr>
          <p:cNvPr id="211" name="Google Shape;211;p20"/>
          <p:cNvSpPr/>
          <p:nvPr/>
        </p:nvSpPr>
        <p:spPr>
          <a:xfrm>
            <a:off x="514350" y="3300413"/>
            <a:ext cx="385763"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1000"/>
              <a:buFont typeface="Roboto Mono"/>
              <a:buNone/>
            </a:pPr>
            <a:r>
              <a:rPr b="1" lang="en" sz="1000">
                <a:solidFill>
                  <a:srgbClr val="24726A"/>
                </a:solidFill>
                <a:latin typeface="Roboto Mono"/>
                <a:ea typeface="Roboto Mono"/>
                <a:cs typeface="Roboto Mono"/>
                <a:sym typeface="Roboto Mono"/>
              </a:rPr>
              <a:t>03</a:t>
            </a:r>
            <a:endParaRPr sz="1100"/>
          </a:p>
        </p:txBody>
      </p:sp>
      <p:sp>
        <p:nvSpPr>
          <p:cNvPr id="212" name="Google Shape;212;p20"/>
          <p:cNvSpPr/>
          <p:nvPr/>
        </p:nvSpPr>
        <p:spPr>
          <a:xfrm>
            <a:off x="1028700" y="3271838"/>
            <a:ext cx="3214688"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Open the grounded memo</a:t>
            </a:r>
            <a:endParaRPr sz="1100"/>
          </a:p>
        </p:txBody>
      </p:sp>
      <p:sp>
        <p:nvSpPr>
          <p:cNvPr id="213" name="Google Shape;213;p20"/>
          <p:cNvSpPr/>
          <p:nvPr/>
        </p:nvSpPr>
        <p:spPr>
          <a:xfrm>
            <a:off x="1028700" y="3586163"/>
            <a:ext cx="314325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Click one number: the trace shows the tool that produced it and the agent holding it.</a:t>
            </a:r>
            <a:endParaRPr sz="1100"/>
          </a:p>
        </p:txBody>
      </p:sp>
      <p:sp>
        <p:nvSpPr>
          <p:cNvPr id="214" name="Google Shape;214;p20"/>
          <p:cNvSpPr/>
          <p:nvPr/>
        </p:nvSpPr>
        <p:spPr>
          <a:xfrm>
            <a:off x="4857750" y="1314450"/>
            <a:ext cx="3771900" cy="3043238"/>
          </a:xfrm>
          <a:prstGeom prst="roundRect">
            <a:avLst>
              <a:gd fmla="val 1174" name="adj"/>
            </a:avLst>
          </a:prstGeom>
          <a:solidFill>
            <a:srgbClr val="FAFBF8"/>
          </a:solidFill>
          <a:ln cap="flat" cmpd="sng" w="11425">
            <a:solidFill>
              <a:srgbClr val="A9B3AC"/>
            </a:solidFill>
            <a:prstDash val="solid"/>
            <a:round/>
            <a:headEnd len="sm" w="sm" type="none"/>
            <a:tailEnd len="sm" w="sm" type="none"/>
          </a:ln>
          <a:effectLst>
            <a:outerShdw blurRad="19050" dir="5400000" dist="9525">
              <a:srgbClr val="000000">
                <a:alpha val="5882"/>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5" name="Google Shape;215;p20"/>
          <p:cNvSpPr/>
          <p:nvPr/>
        </p:nvSpPr>
        <p:spPr>
          <a:xfrm>
            <a:off x="5072063" y="1514475"/>
            <a:ext cx="33432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lang="en" sz="800">
                <a:solidFill>
                  <a:srgbClr val="6E7A80"/>
                </a:solidFill>
                <a:latin typeface="Roboto Mono"/>
                <a:ea typeface="Roboto Mono"/>
                <a:cs typeface="Roboto Mono"/>
                <a:sym typeface="Roboto Mono"/>
              </a:rPr>
              <a:t>SAME DATA · SAME QUESTION</a:t>
            </a:r>
            <a:endParaRPr sz="1100"/>
          </a:p>
        </p:txBody>
      </p:sp>
      <p:cxnSp>
        <p:nvCxnSpPr>
          <p:cNvPr id="216" name="Google Shape;216;p20"/>
          <p:cNvCxnSpPr/>
          <p:nvPr/>
        </p:nvCxnSpPr>
        <p:spPr>
          <a:xfrm>
            <a:off x="5072063" y="1771650"/>
            <a:ext cx="3343275" cy="0"/>
          </a:xfrm>
          <a:prstGeom prst="straightConnector1">
            <a:avLst/>
          </a:prstGeom>
          <a:noFill/>
          <a:ln cap="flat" cmpd="sng" w="9525">
            <a:solidFill>
              <a:srgbClr val="A9B3AC"/>
            </a:solidFill>
            <a:prstDash val="solid"/>
            <a:round/>
            <a:headEnd len="sm" w="sm" type="none"/>
            <a:tailEnd len="sm" w="sm" type="none"/>
          </a:ln>
        </p:spPr>
      </p:cxnSp>
      <p:sp>
        <p:nvSpPr>
          <p:cNvPr id="217" name="Google Shape;217;p20"/>
          <p:cNvSpPr/>
          <p:nvPr/>
        </p:nvSpPr>
        <p:spPr>
          <a:xfrm>
            <a:off x="5072063" y="2000250"/>
            <a:ext cx="1143000"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E3E36"/>
              </a:buClr>
              <a:buSzPts val="1000"/>
              <a:buFont typeface="Roboto Mono"/>
              <a:buNone/>
            </a:pPr>
            <a:r>
              <a:rPr b="1" lang="en" sz="1000">
                <a:solidFill>
                  <a:srgbClr val="9E3E36"/>
                </a:solidFill>
                <a:latin typeface="Roboto Mono"/>
                <a:ea typeface="Roboto Mono"/>
                <a:cs typeface="Roboto Mono"/>
                <a:sym typeface="Roboto Mono"/>
              </a:rPr>
              <a:t>NAIVE</a:t>
            </a:r>
            <a:endParaRPr sz="1100"/>
          </a:p>
        </p:txBody>
      </p:sp>
      <p:sp>
        <p:nvSpPr>
          <p:cNvPr id="218" name="Google Shape;218;p20"/>
          <p:cNvSpPr/>
          <p:nvPr/>
        </p:nvSpPr>
        <p:spPr>
          <a:xfrm>
            <a:off x="5072063" y="2286000"/>
            <a:ext cx="857250" cy="51435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9E3E36"/>
              </a:buClr>
              <a:buSzPts val="3600"/>
              <a:buFont typeface="Roboto Mono"/>
              <a:buNone/>
            </a:pPr>
            <a:r>
              <a:rPr b="1" lang="en" sz="3600">
                <a:solidFill>
                  <a:srgbClr val="9E3E36"/>
                </a:solidFill>
                <a:latin typeface="Roboto Mono"/>
                <a:ea typeface="Roboto Mono"/>
                <a:cs typeface="Roboto Mono"/>
                <a:sym typeface="Roboto Mono"/>
              </a:rPr>
              <a:t>0</a:t>
            </a:r>
            <a:endParaRPr sz="1100"/>
          </a:p>
        </p:txBody>
      </p:sp>
      <p:sp>
        <p:nvSpPr>
          <p:cNvPr id="219" name="Google Shape;219;p20"/>
          <p:cNvSpPr/>
          <p:nvPr/>
        </p:nvSpPr>
        <p:spPr>
          <a:xfrm>
            <a:off x="5072063" y="2793206"/>
            <a:ext cx="1357313"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citations checked</a:t>
            </a:r>
            <a:endParaRPr sz="1100"/>
          </a:p>
        </p:txBody>
      </p:sp>
      <p:cxnSp>
        <p:nvCxnSpPr>
          <p:cNvPr id="220" name="Google Shape;220;p20"/>
          <p:cNvCxnSpPr/>
          <p:nvPr/>
        </p:nvCxnSpPr>
        <p:spPr>
          <a:xfrm>
            <a:off x="6657975" y="2000250"/>
            <a:ext cx="0" cy="1143000"/>
          </a:xfrm>
          <a:prstGeom prst="straightConnector1">
            <a:avLst/>
          </a:prstGeom>
          <a:noFill/>
          <a:ln cap="flat" cmpd="sng" w="11425">
            <a:solidFill>
              <a:srgbClr val="CBD2CA"/>
            </a:solidFill>
            <a:prstDash val="solid"/>
            <a:round/>
            <a:headEnd len="sm" w="sm" type="none"/>
            <a:tailEnd len="sm" w="sm" type="none"/>
          </a:ln>
        </p:spPr>
      </p:cxnSp>
      <p:sp>
        <p:nvSpPr>
          <p:cNvPr id="221" name="Google Shape;221;p20"/>
          <p:cNvSpPr/>
          <p:nvPr/>
        </p:nvSpPr>
        <p:spPr>
          <a:xfrm>
            <a:off x="6943725" y="2000250"/>
            <a:ext cx="1428750"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1000"/>
              <a:buFont typeface="Roboto Mono"/>
              <a:buNone/>
            </a:pPr>
            <a:r>
              <a:rPr b="1" lang="en" sz="1000">
                <a:solidFill>
                  <a:srgbClr val="35704A"/>
                </a:solidFill>
                <a:latin typeface="Roboto Mono"/>
                <a:ea typeface="Roboto Mono"/>
                <a:cs typeface="Roboto Mono"/>
                <a:sym typeface="Roboto Mono"/>
              </a:rPr>
              <a:t>GROUNDED</a:t>
            </a:r>
            <a:endParaRPr sz="1100"/>
          </a:p>
        </p:txBody>
      </p:sp>
      <p:sp>
        <p:nvSpPr>
          <p:cNvPr id="222" name="Google Shape;222;p20"/>
          <p:cNvSpPr/>
          <p:nvPr/>
        </p:nvSpPr>
        <p:spPr>
          <a:xfrm>
            <a:off x="6943725" y="2357438"/>
            <a:ext cx="1357313"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2100"/>
              <a:buFont typeface="Roboto Mono"/>
              <a:buNone/>
            </a:pPr>
            <a:r>
              <a:rPr b="1" lang="en" sz="2100">
                <a:solidFill>
                  <a:srgbClr val="35704A"/>
                </a:solidFill>
                <a:latin typeface="Roboto Mono"/>
                <a:ea typeface="Roboto Mono"/>
                <a:cs typeface="Roboto Mono"/>
                <a:sym typeface="Roboto Mono"/>
              </a:rPr>
              <a:t>CLICK</a:t>
            </a:r>
            <a:endParaRPr sz="1100"/>
          </a:p>
        </p:txBody>
      </p:sp>
      <p:sp>
        <p:nvSpPr>
          <p:cNvPr id="223" name="Google Shape;223;p20"/>
          <p:cNvSpPr/>
          <p:nvPr/>
        </p:nvSpPr>
        <p:spPr>
          <a:xfrm>
            <a:off x="6943725" y="2793206"/>
            <a:ext cx="1357313" cy="47148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a figure to open its evidence</a:t>
            </a:r>
            <a:endParaRPr sz="1100"/>
          </a:p>
        </p:txBody>
      </p:sp>
      <p:cxnSp>
        <p:nvCxnSpPr>
          <p:cNvPr id="224" name="Google Shape;224;p20"/>
          <p:cNvCxnSpPr/>
          <p:nvPr/>
        </p:nvCxnSpPr>
        <p:spPr>
          <a:xfrm>
            <a:off x="5072063" y="3429000"/>
            <a:ext cx="3343275" cy="0"/>
          </a:xfrm>
          <a:prstGeom prst="straightConnector1">
            <a:avLst/>
          </a:prstGeom>
          <a:noFill/>
          <a:ln cap="flat" cmpd="sng" w="9525">
            <a:solidFill>
              <a:srgbClr val="CBD2CA"/>
            </a:solidFill>
            <a:prstDash val="solid"/>
            <a:round/>
            <a:headEnd len="sm" w="sm" type="none"/>
            <a:tailEnd len="sm" w="sm" type="none"/>
          </a:ln>
        </p:spPr>
      </p:cxnSp>
      <p:sp>
        <p:nvSpPr>
          <p:cNvPr id="225" name="Google Shape;225;p20"/>
          <p:cNvSpPr/>
          <p:nvPr/>
        </p:nvSpPr>
        <p:spPr>
          <a:xfrm>
            <a:off x="5072063" y="3671888"/>
            <a:ext cx="3343275" cy="457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The persuasive memo is the least defensible one.</a:t>
            </a:r>
            <a:endParaRPr sz="1100"/>
          </a:p>
        </p:txBody>
      </p:sp>
      <p:sp>
        <p:nvSpPr>
          <p:cNvPr id="226" name="Google Shape;226;p20"/>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227" name="Google Shape;227;p20"/>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08</a:t>
            </a:r>
            <a:endParaRPr sz="1100"/>
          </a:p>
        </p:txBody>
      </p:sp>
      <p:sp>
        <p:nvSpPr>
          <p:cNvPr id="9031" name="concept-tag"/>
          <p:cNvSpPr/>
          <p:nvPr/>
        </p:nvSpPr>
        <p:spPr>
          <a:xfrm>
            <a:off x="4059936" y="310896"/>
            <a:ext cx="4572000" cy="173736"/>
          </a:xfrm>
          <a:prstGeom prst="rect">
            <a:avLst/>
          </a:prstGeom>
          <a:noFill/>
          <a:ln>
            <a:noFill/>
          </a:ln>
        </p:spPr>
        <p:txBody>
          <a:bodyPr anchorCtr="0" anchor="t" bIns="0" lIns="0" spcFirstLastPara="1" rIns="0" wrap="none" tIns="0">
            <a:noAutofit/>
          </a:bodyPr>
          <a:lstStyle/>
          <a:p>
            <a:pPr indent="0" lvl="0" marL="0" marR="0" rtl="0" algn="r">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LANGSMITH TRACING  ·  RUN TREE  ·  lc_agent_name FILTER</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232" name="Shape 232"/>
        <p:cNvGrpSpPr/>
        <p:nvPr/>
      </p:nvGrpSpPr>
      <p:grpSpPr>
        <a:xfrm>
          <a:off x="0" y="0"/>
          <a:ext cx="0" cy="0"/>
          <a:chOff x="0" y="0"/>
          <a:chExt cx="0" cy="0"/>
        </a:xfrm>
      </p:grpSpPr>
      <p:sp>
        <p:nvSpPr>
          <p:cNvPr id="233" name="Google Shape;233;p21"/>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FAILURE STORY</a:t>
            </a:r>
            <a:endParaRPr sz="1100"/>
          </a:p>
        </p:txBody>
      </p:sp>
      <p:sp>
        <p:nvSpPr>
          <p:cNvPr id="234" name="Google Shape;234;p21"/>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The middleware never reached the subagents</a:t>
            </a:r>
            <a:endParaRPr sz="1100"/>
          </a:p>
        </p:txBody>
      </p:sp>
      <p:cxnSp>
        <p:nvCxnSpPr>
          <p:cNvPr id="235" name="Google Shape;235;p21"/>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236" name="Google Shape;236;p21"/>
          <p:cNvSpPr/>
          <p:nvPr/>
        </p:nvSpPr>
        <p:spPr>
          <a:xfrm>
            <a:off x="514350" y="1257300"/>
            <a:ext cx="8115300" cy="585788"/>
          </a:xfrm>
          <a:prstGeom prst="rect">
            <a:avLst/>
          </a:prstGeom>
          <a:solidFill>
            <a:srgbClr val="F0E7D8"/>
          </a:solidFill>
          <a:ln cap="flat" cmpd="sng" w="9525">
            <a:solidFill>
              <a:srgbClr val="9668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7" name="Google Shape;237;p21"/>
          <p:cNvSpPr/>
          <p:nvPr/>
        </p:nvSpPr>
        <p:spPr>
          <a:xfrm>
            <a:off x="685800" y="1385888"/>
            <a:ext cx="1643063"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900"/>
              <a:buFont typeface="Roboto Mono"/>
              <a:buNone/>
            </a:pPr>
            <a:r>
              <a:rPr b="1" lang="en" sz="1900">
                <a:solidFill>
                  <a:srgbClr val="14181C"/>
                </a:solidFill>
                <a:latin typeface="Roboto Mono"/>
                <a:ea typeface="Roboto Mono"/>
                <a:cs typeface="Roboto Mono"/>
                <a:sym typeface="Roboto Mono"/>
              </a:rPr>
              <a:t>$18,420.55</a:t>
            </a:r>
            <a:endParaRPr sz="1100"/>
          </a:p>
        </p:txBody>
      </p:sp>
      <p:sp>
        <p:nvSpPr>
          <p:cNvPr id="238" name="Google Shape;238;p21"/>
          <p:cNvSpPr/>
          <p:nvPr/>
        </p:nvSpPr>
        <p:spPr>
          <a:xfrm>
            <a:off x="2443163" y="1414463"/>
            <a:ext cx="5929313" cy="2714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0" lang="en" sz="1400">
                <a:solidFill>
                  <a:srgbClr val="14181C"/>
                </a:solidFill>
                <a:latin typeface="Arial"/>
                <a:ea typeface="Arial"/>
                <a:cs typeface="Arial"/>
                <a:sym typeface="Arial"/>
              </a:rPr>
              <a:t>came from get_account_balances — and the verifier called it unsupported.</a:t>
            </a:r>
            <a:endParaRPr sz="1100"/>
          </a:p>
        </p:txBody>
      </p:sp>
      <p:sp>
        <p:nvSpPr>
          <p:cNvPr id="239" name="Google Shape;239;p21"/>
          <p:cNvSpPr/>
          <p:nvPr/>
        </p:nvSpPr>
        <p:spPr>
          <a:xfrm>
            <a:off x="600075" y="2171700"/>
            <a:ext cx="1143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E3E36"/>
              </a:buClr>
              <a:buSzPts val="900"/>
              <a:buFont typeface="Roboto Mono"/>
              <a:buNone/>
            </a:pPr>
            <a:r>
              <a:rPr b="1" lang="en" sz="900">
                <a:solidFill>
                  <a:srgbClr val="9E3E36"/>
                </a:solidFill>
                <a:latin typeface="Roboto Mono"/>
                <a:ea typeface="Roboto Mono"/>
                <a:cs typeface="Roboto Mono"/>
                <a:sym typeface="Roboto Mono"/>
              </a:rPr>
              <a:t>BEFORE</a:t>
            </a:r>
            <a:endParaRPr sz="1100"/>
          </a:p>
        </p:txBody>
      </p:sp>
      <p:sp>
        <p:nvSpPr>
          <p:cNvPr id="240" name="Google Shape;240;p21"/>
          <p:cNvSpPr/>
          <p:nvPr/>
        </p:nvSpPr>
        <p:spPr>
          <a:xfrm>
            <a:off x="600075" y="2457450"/>
            <a:ext cx="1500188" cy="514350"/>
          </a:xfrm>
          <a:prstGeom prst="roundRect">
            <a:avLst>
              <a:gd fmla="val 9722" name="adj"/>
            </a:avLst>
          </a:prstGeom>
          <a:solidFill>
            <a:srgbClr val="F2E1DF"/>
          </a:solidFill>
          <a:ln cap="flat" cmpd="sng" w="11425">
            <a:solidFill>
              <a:srgbClr val="9E3E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1" name="Google Shape;241;p21"/>
          <p:cNvSpPr/>
          <p:nvPr/>
        </p:nvSpPr>
        <p:spPr>
          <a:xfrm>
            <a:off x="700088" y="2550319"/>
            <a:ext cx="13001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supervisor</a:t>
            </a:r>
            <a:endParaRPr sz="1100"/>
          </a:p>
        </p:txBody>
      </p:sp>
      <p:sp>
        <p:nvSpPr>
          <p:cNvPr id="242" name="Google Shape;242;p21"/>
          <p:cNvSpPr/>
          <p:nvPr/>
        </p:nvSpPr>
        <p:spPr>
          <a:xfrm>
            <a:off x="700088" y="2793206"/>
            <a:ext cx="13001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lang="en" sz="800">
                <a:solidFill>
                  <a:srgbClr val="6E7A80"/>
                </a:solidFill>
                <a:latin typeface="Arial"/>
                <a:ea typeface="Arial"/>
                <a:cs typeface="Arial"/>
                <a:sym typeface="Arial"/>
              </a:rPr>
              <a:t>recorder installed</a:t>
            </a:r>
            <a:endParaRPr sz="1100"/>
          </a:p>
        </p:txBody>
      </p:sp>
      <p:sp>
        <p:nvSpPr>
          <p:cNvPr id="243" name="Google Shape;243;p21"/>
          <p:cNvSpPr/>
          <p:nvPr/>
        </p:nvSpPr>
        <p:spPr>
          <a:xfrm>
            <a:off x="2443163" y="2457450"/>
            <a:ext cx="1500188" cy="514350"/>
          </a:xfrm>
          <a:prstGeom prst="roundRect">
            <a:avLst>
              <a:gd fmla="val 9722" name="adj"/>
            </a:avLst>
          </a:prstGeom>
          <a:solidFill>
            <a:srgbClr val="FAFBF8"/>
          </a:solidFill>
          <a:ln cap="flat" cmpd="sng" w="11425">
            <a:solidFill>
              <a:srgbClr val="9E3E36"/>
            </a:solidFill>
            <a:prstDash val="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4" name="Google Shape;244;p21"/>
          <p:cNvSpPr/>
          <p:nvPr/>
        </p:nvSpPr>
        <p:spPr>
          <a:xfrm>
            <a:off x="2543175" y="2550319"/>
            <a:ext cx="13001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subagent</a:t>
            </a:r>
            <a:endParaRPr sz="1100"/>
          </a:p>
        </p:txBody>
      </p:sp>
      <p:sp>
        <p:nvSpPr>
          <p:cNvPr id="245" name="Google Shape;245;p21"/>
          <p:cNvSpPr/>
          <p:nvPr/>
        </p:nvSpPr>
        <p:spPr>
          <a:xfrm>
            <a:off x="2543175" y="2793206"/>
            <a:ext cx="13001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lang="en" sz="800">
                <a:solidFill>
                  <a:srgbClr val="6E7A80"/>
                </a:solidFill>
                <a:latin typeface="Arial"/>
                <a:ea typeface="Arial"/>
                <a:cs typeface="Arial"/>
                <a:sym typeface="Arial"/>
              </a:rPr>
              <a:t>no recorder</a:t>
            </a:r>
            <a:endParaRPr sz="1100"/>
          </a:p>
        </p:txBody>
      </p:sp>
      <p:sp>
        <p:nvSpPr>
          <p:cNvPr id="246" name="Google Shape;246;p21"/>
          <p:cNvSpPr/>
          <p:nvPr/>
        </p:nvSpPr>
        <p:spPr>
          <a:xfrm>
            <a:off x="2443163" y="3314700"/>
            <a:ext cx="1500188" cy="514350"/>
          </a:xfrm>
          <a:prstGeom prst="roundRect">
            <a:avLst>
              <a:gd fmla="val 9722" name="adj"/>
            </a:avLst>
          </a:prstGeom>
          <a:solidFill>
            <a:srgbClr val="FAFBF8"/>
          </a:solidFill>
          <a:ln cap="flat" cmpd="sng" w="11425">
            <a:solidFill>
              <a:srgbClr val="9E3E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7" name="Google Shape;247;p21"/>
          <p:cNvSpPr/>
          <p:nvPr/>
        </p:nvSpPr>
        <p:spPr>
          <a:xfrm>
            <a:off x="2543175" y="3407569"/>
            <a:ext cx="13001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E3E36"/>
              </a:buClr>
              <a:buSzPts val="1200"/>
              <a:buFont typeface="Arial"/>
              <a:buNone/>
            </a:pPr>
            <a:r>
              <a:rPr b="1" lang="en" sz="1200">
                <a:solidFill>
                  <a:srgbClr val="9E3E36"/>
                </a:solidFill>
                <a:latin typeface="Arial"/>
                <a:ea typeface="Arial"/>
                <a:cs typeface="Arial"/>
                <a:sym typeface="Arial"/>
              </a:rPr>
              <a:t>ledger</a:t>
            </a:r>
            <a:endParaRPr sz="1100"/>
          </a:p>
        </p:txBody>
      </p:sp>
      <p:sp>
        <p:nvSpPr>
          <p:cNvPr id="248" name="Google Shape;248;p21"/>
          <p:cNvSpPr/>
          <p:nvPr/>
        </p:nvSpPr>
        <p:spPr>
          <a:xfrm>
            <a:off x="2543175" y="3650456"/>
            <a:ext cx="13001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lang="en" sz="800">
                <a:solidFill>
                  <a:srgbClr val="6E7A80"/>
                </a:solidFill>
                <a:latin typeface="Arial"/>
                <a:ea typeface="Arial"/>
                <a:cs typeface="Arial"/>
                <a:sym typeface="Arial"/>
              </a:rPr>
              <a:t>evidence gap</a:t>
            </a:r>
            <a:endParaRPr sz="1100"/>
          </a:p>
        </p:txBody>
      </p:sp>
      <p:cxnSp>
        <p:nvCxnSpPr>
          <p:cNvPr id="249" name="Google Shape;249;p21"/>
          <p:cNvCxnSpPr>
            <a:stCxn id="240" idx="3"/>
            <a:endCxn id="243" idx="1"/>
          </p:cNvCxnSpPr>
          <p:nvPr/>
        </p:nvCxnSpPr>
        <p:spPr>
          <a:xfrm>
            <a:off x="2100263" y="2714625"/>
            <a:ext cx="342900" cy="0"/>
          </a:xfrm>
          <a:prstGeom prst="straightConnector1">
            <a:avLst/>
          </a:prstGeom>
          <a:noFill/>
          <a:ln cap="flat" cmpd="sng" w="14275">
            <a:solidFill>
              <a:srgbClr val="9E3E36"/>
            </a:solidFill>
            <a:prstDash val="solid"/>
            <a:round/>
            <a:headEnd len="sm" w="sm" type="none"/>
            <a:tailEnd len="sm" w="sm" type="triangle"/>
          </a:ln>
        </p:spPr>
      </p:cxnSp>
      <p:cxnSp>
        <p:nvCxnSpPr>
          <p:cNvPr id="250" name="Google Shape;250;p21"/>
          <p:cNvCxnSpPr>
            <a:stCxn id="243" idx="2"/>
            <a:endCxn id="246" idx="0"/>
          </p:cNvCxnSpPr>
          <p:nvPr/>
        </p:nvCxnSpPr>
        <p:spPr>
          <a:xfrm>
            <a:off x="3193256" y="2971800"/>
            <a:ext cx="0" cy="342900"/>
          </a:xfrm>
          <a:prstGeom prst="straightConnector1">
            <a:avLst/>
          </a:prstGeom>
          <a:noFill/>
          <a:ln cap="flat" cmpd="sng" w="14275">
            <a:solidFill>
              <a:srgbClr val="9E3E36"/>
            </a:solidFill>
            <a:prstDash val="dash"/>
            <a:round/>
            <a:headEnd len="sm" w="sm" type="none"/>
            <a:tailEnd len="sm" w="sm" type="triangle"/>
          </a:ln>
        </p:spPr>
      </p:cxnSp>
      <p:sp>
        <p:nvSpPr>
          <p:cNvPr id="251" name="Google Shape;251;p21"/>
          <p:cNvSpPr/>
          <p:nvPr/>
        </p:nvSpPr>
        <p:spPr>
          <a:xfrm>
            <a:off x="600075" y="3371850"/>
            <a:ext cx="1500188"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9E3E36"/>
              </a:buClr>
              <a:buSzPts val="2600"/>
              <a:buFont typeface="Roboto Mono"/>
              <a:buNone/>
            </a:pPr>
            <a:r>
              <a:rPr b="1" lang="en" sz="2600">
                <a:solidFill>
                  <a:srgbClr val="9E3E36"/>
                </a:solidFill>
                <a:latin typeface="Roboto Mono"/>
                <a:ea typeface="Roboto Mono"/>
                <a:cs typeface="Roboto Mono"/>
                <a:sym typeface="Roboto Mono"/>
              </a:rPr>
              <a:t>76.58%</a:t>
            </a:r>
            <a:endParaRPr sz="1100"/>
          </a:p>
        </p:txBody>
      </p:sp>
      <p:sp>
        <p:nvSpPr>
          <p:cNvPr id="252" name="Google Shape;252;p21"/>
          <p:cNvSpPr/>
          <p:nvPr/>
        </p:nvSpPr>
        <p:spPr>
          <a:xfrm>
            <a:off x="600075" y="3814763"/>
            <a:ext cx="1500188" cy="3429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000"/>
              <a:buFont typeface="Arial"/>
              <a:buNone/>
            </a:pPr>
            <a:r>
              <a:rPr b="0" lang="en" sz="1000">
                <a:solidFill>
                  <a:srgbClr val="444E54"/>
                </a:solidFill>
                <a:latin typeface="Arial"/>
                <a:ea typeface="Arial"/>
                <a:cs typeface="Arial"/>
                <a:sym typeface="Arial"/>
              </a:rPr>
              <a:t>grounding</a:t>
            </a:r>
            <a:endParaRPr sz="1100"/>
          </a:p>
        </p:txBody>
      </p:sp>
      <p:cxnSp>
        <p:nvCxnSpPr>
          <p:cNvPr id="253" name="Google Shape;253;p21"/>
          <p:cNvCxnSpPr/>
          <p:nvPr/>
        </p:nvCxnSpPr>
        <p:spPr>
          <a:xfrm>
            <a:off x="4572000" y="2171700"/>
            <a:ext cx="0" cy="2043113"/>
          </a:xfrm>
          <a:prstGeom prst="straightConnector1">
            <a:avLst/>
          </a:prstGeom>
          <a:noFill/>
          <a:ln cap="flat" cmpd="sng" w="14275">
            <a:solidFill>
              <a:srgbClr val="A9B3AC"/>
            </a:solidFill>
            <a:prstDash val="solid"/>
            <a:round/>
            <a:headEnd len="sm" w="sm" type="none"/>
            <a:tailEnd len="sm" w="sm" type="none"/>
          </a:ln>
        </p:spPr>
      </p:cxnSp>
      <p:sp>
        <p:nvSpPr>
          <p:cNvPr id="254" name="Google Shape;254;p21"/>
          <p:cNvSpPr/>
          <p:nvPr/>
        </p:nvSpPr>
        <p:spPr>
          <a:xfrm>
            <a:off x="5029200" y="2171700"/>
            <a:ext cx="1143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900"/>
              <a:buFont typeface="Roboto Mono"/>
              <a:buNone/>
            </a:pPr>
            <a:r>
              <a:rPr b="1" lang="en" sz="900">
                <a:solidFill>
                  <a:srgbClr val="35704A"/>
                </a:solidFill>
                <a:latin typeface="Roboto Mono"/>
                <a:ea typeface="Roboto Mono"/>
                <a:cs typeface="Roboto Mono"/>
                <a:sym typeface="Roboto Mono"/>
              </a:rPr>
              <a:t>AFTER</a:t>
            </a:r>
            <a:endParaRPr sz="1100"/>
          </a:p>
        </p:txBody>
      </p:sp>
      <p:sp>
        <p:nvSpPr>
          <p:cNvPr id="255" name="Google Shape;255;p21"/>
          <p:cNvSpPr/>
          <p:nvPr/>
        </p:nvSpPr>
        <p:spPr>
          <a:xfrm>
            <a:off x="5029200" y="2457450"/>
            <a:ext cx="1500188" cy="514350"/>
          </a:xfrm>
          <a:prstGeom prst="roundRect">
            <a:avLst>
              <a:gd fmla="val 9722" name="adj"/>
            </a:avLst>
          </a:prstGeom>
          <a:solidFill>
            <a:srgbClr val="E2ECE4"/>
          </a:solidFill>
          <a:ln cap="flat" cmpd="sng" w="11425">
            <a:solidFill>
              <a:srgbClr val="3570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6" name="Google Shape;256;p21"/>
          <p:cNvSpPr/>
          <p:nvPr/>
        </p:nvSpPr>
        <p:spPr>
          <a:xfrm>
            <a:off x="5129213" y="2550319"/>
            <a:ext cx="13001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supervisor</a:t>
            </a:r>
            <a:endParaRPr sz="1100"/>
          </a:p>
        </p:txBody>
      </p:sp>
      <p:sp>
        <p:nvSpPr>
          <p:cNvPr id="257" name="Google Shape;257;p21"/>
          <p:cNvSpPr/>
          <p:nvPr/>
        </p:nvSpPr>
        <p:spPr>
          <a:xfrm>
            <a:off x="5129213" y="2793206"/>
            <a:ext cx="13001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lang="en" sz="800">
                <a:solidFill>
                  <a:srgbClr val="6E7A80"/>
                </a:solidFill>
                <a:latin typeface="Arial"/>
                <a:ea typeface="Arial"/>
                <a:cs typeface="Arial"/>
                <a:sym typeface="Arial"/>
              </a:rPr>
              <a:t>recorder installed</a:t>
            </a:r>
            <a:endParaRPr sz="1100"/>
          </a:p>
        </p:txBody>
      </p:sp>
      <p:sp>
        <p:nvSpPr>
          <p:cNvPr id="258" name="Google Shape;258;p21"/>
          <p:cNvSpPr/>
          <p:nvPr/>
        </p:nvSpPr>
        <p:spPr>
          <a:xfrm>
            <a:off x="6872288" y="2457450"/>
            <a:ext cx="1614488" cy="514350"/>
          </a:xfrm>
          <a:prstGeom prst="roundRect">
            <a:avLst>
              <a:gd fmla="val 9722" name="adj"/>
            </a:avLst>
          </a:prstGeom>
          <a:solidFill>
            <a:srgbClr val="E2ECE4"/>
          </a:solidFill>
          <a:ln cap="flat" cmpd="sng" w="11425">
            <a:solidFill>
              <a:srgbClr val="3570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9" name="Google Shape;259;p21"/>
          <p:cNvSpPr/>
          <p:nvPr/>
        </p:nvSpPr>
        <p:spPr>
          <a:xfrm>
            <a:off x="6972300" y="2550319"/>
            <a:ext cx="14144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subagent</a:t>
            </a:r>
            <a:endParaRPr sz="1100"/>
          </a:p>
        </p:txBody>
      </p:sp>
      <p:sp>
        <p:nvSpPr>
          <p:cNvPr id="260" name="Google Shape;260;p21"/>
          <p:cNvSpPr/>
          <p:nvPr/>
        </p:nvSpPr>
        <p:spPr>
          <a:xfrm>
            <a:off x="6972300" y="2793206"/>
            <a:ext cx="14144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lang="en" sz="800">
                <a:solidFill>
                  <a:srgbClr val="6E7A80"/>
                </a:solidFill>
                <a:latin typeface="Arial"/>
                <a:ea typeface="Arial"/>
                <a:cs typeface="Arial"/>
                <a:sym typeface="Arial"/>
              </a:rPr>
              <a:t>recorder installed</a:t>
            </a:r>
            <a:endParaRPr sz="1100"/>
          </a:p>
        </p:txBody>
      </p:sp>
      <p:sp>
        <p:nvSpPr>
          <p:cNvPr id="261" name="Google Shape;261;p21"/>
          <p:cNvSpPr/>
          <p:nvPr/>
        </p:nvSpPr>
        <p:spPr>
          <a:xfrm>
            <a:off x="6872288" y="3314700"/>
            <a:ext cx="1614488" cy="514350"/>
          </a:xfrm>
          <a:prstGeom prst="roundRect">
            <a:avLst>
              <a:gd fmla="val 9722" name="adj"/>
            </a:avLst>
          </a:prstGeom>
          <a:solidFill>
            <a:srgbClr val="FAFBF8"/>
          </a:solidFill>
          <a:ln cap="flat" cmpd="sng" w="11425">
            <a:solidFill>
              <a:srgbClr val="3570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2" name="Google Shape;262;p21"/>
          <p:cNvSpPr/>
          <p:nvPr/>
        </p:nvSpPr>
        <p:spPr>
          <a:xfrm>
            <a:off x="6972300" y="3407569"/>
            <a:ext cx="14144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5704A"/>
              </a:buClr>
              <a:buSzPts val="1200"/>
              <a:buFont typeface="Arial"/>
              <a:buNone/>
            </a:pPr>
            <a:r>
              <a:rPr b="1" lang="en" sz="1200">
                <a:solidFill>
                  <a:srgbClr val="35704A"/>
                </a:solidFill>
                <a:latin typeface="Arial"/>
                <a:ea typeface="Arial"/>
                <a:cs typeface="Arial"/>
                <a:sym typeface="Arial"/>
              </a:rPr>
              <a:t>shared ledger</a:t>
            </a:r>
            <a:endParaRPr sz="1100"/>
          </a:p>
        </p:txBody>
      </p:sp>
      <p:sp>
        <p:nvSpPr>
          <p:cNvPr id="263" name="Google Shape;263;p21"/>
          <p:cNvSpPr/>
          <p:nvPr/>
        </p:nvSpPr>
        <p:spPr>
          <a:xfrm>
            <a:off x="6972300" y="3650456"/>
            <a:ext cx="14144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lang="en" sz="800">
                <a:solidFill>
                  <a:srgbClr val="6E7A80"/>
                </a:solidFill>
                <a:latin typeface="Arial"/>
                <a:ea typeface="Arial"/>
                <a:cs typeface="Arial"/>
                <a:sym typeface="Arial"/>
              </a:rPr>
              <a:t>complete evidence</a:t>
            </a:r>
            <a:endParaRPr sz="1100"/>
          </a:p>
        </p:txBody>
      </p:sp>
      <p:cxnSp>
        <p:nvCxnSpPr>
          <p:cNvPr id="264" name="Google Shape;264;p21"/>
          <p:cNvCxnSpPr>
            <a:stCxn id="255" idx="3"/>
            <a:endCxn id="258" idx="1"/>
          </p:cNvCxnSpPr>
          <p:nvPr/>
        </p:nvCxnSpPr>
        <p:spPr>
          <a:xfrm>
            <a:off x="6529388" y="2714625"/>
            <a:ext cx="342900" cy="0"/>
          </a:xfrm>
          <a:prstGeom prst="straightConnector1">
            <a:avLst/>
          </a:prstGeom>
          <a:noFill/>
          <a:ln cap="flat" cmpd="sng" w="14275">
            <a:solidFill>
              <a:srgbClr val="35704A"/>
            </a:solidFill>
            <a:prstDash val="solid"/>
            <a:round/>
            <a:headEnd len="sm" w="sm" type="none"/>
            <a:tailEnd len="sm" w="sm" type="triangle"/>
          </a:ln>
        </p:spPr>
      </p:cxnSp>
      <p:cxnSp>
        <p:nvCxnSpPr>
          <p:cNvPr id="265" name="Google Shape;265;p21"/>
          <p:cNvCxnSpPr>
            <a:stCxn id="258" idx="2"/>
            <a:endCxn id="261" idx="0"/>
          </p:cNvCxnSpPr>
          <p:nvPr/>
        </p:nvCxnSpPr>
        <p:spPr>
          <a:xfrm>
            <a:off x="7679531" y="2971800"/>
            <a:ext cx="0" cy="342900"/>
          </a:xfrm>
          <a:prstGeom prst="straightConnector1">
            <a:avLst/>
          </a:prstGeom>
          <a:noFill/>
          <a:ln cap="flat" cmpd="sng" w="14275">
            <a:solidFill>
              <a:srgbClr val="35704A"/>
            </a:solidFill>
            <a:prstDash val="solid"/>
            <a:round/>
            <a:headEnd len="sm" w="sm" type="none"/>
            <a:tailEnd len="sm" w="sm" type="triangle"/>
          </a:ln>
        </p:spPr>
      </p:cxnSp>
      <p:sp>
        <p:nvSpPr>
          <p:cNvPr id="266" name="Google Shape;266;p21"/>
          <p:cNvSpPr/>
          <p:nvPr/>
        </p:nvSpPr>
        <p:spPr>
          <a:xfrm>
            <a:off x="5029200" y="3371850"/>
            <a:ext cx="1500188"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35704A"/>
              </a:buClr>
              <a:buSzPts val="2600"/>
              <a:buFont typeface="Roboto Mono"/>
              <a:buNone/>
            </a:pPr>
            <a:r>
              <a:rPr b="1" lang="en" sz="2600">
                <a:solidFill>
                  <a:srgbClr val="35704A"/>
                </a:solidFill>
                <a:latin typeface="Roboto Mono"/>
                <a:ea typeface="Roboto Mono"/>
                <a:cs typeface="Roboto Mono"/>
                <a:sym typeface="Roboto Mono"/>
              </a:rPr>
              <a:t>99.24%</a:t>
            </a:r>
            <a:endParaRPr sz="1100"/>
          </a:p>
        </p:txBody>
      </p:sp>
      <p:sp>
        <p:nvSpPr>
          <p:cNvPr id="267" name="Google Shape;267;p21"/>
          <p:cNvSpPr/>
          <p:nvPr/>
        </p:nvSpPr>
        <p:spPr>
          <a:xfrm>
            <a:off x="5029200" y="3814763"/>
            <a:ext cx="1500188" cy="3429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000"/>
              <a:buFont typeface="Arial"/>
              <a:buNone/>
            </a:pPr>
            <a:r>
              <a:rPr b="0" lang="en" sz="1000">
                <a:solidFill>
                  <a:srgbClr val="444E54"/>
                </a:solidFill>
                <a:latin typeface="Arial"/>
                <a:ea typeface="Arial"/>
                <a:cs typeface="Arial"/>
                <a:sym typeface="Arial"/>
              </a:rPr>
              <a:t>grounding</a:t>
            </a:r>
            <a:endParaRPr sz="1100"/>
          </a:p>
        </p:txBody>
      </p:sp>
      <p:sp>
        <p:nvSpPr>
          <p:cNvPr id="268" name="Google Shape;268;p21"/>
          <p:cNvSpPr/>
          <p:nvPr/>
        </p:nvSpPr>
        <p:spPr>
          <a:xfrm>
            <a:off x="514350" y="4329113"/>
            <a:ext cx="8115300" cy="24288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300"/>
              <a:buFont typeface="Arial"/>
              <a:buNone/>
            </a:pPr>
            <a:r>
              <a:rPr b="1" lang="en" sz="1300">
                <a:solidFill>
                  <a:srgbClr val="14181C"/>
                </a:solidFill>
                <a:latin typeface="Arial"/>
                <a:ea typeface="Arial"/>
                <a:cs typeface="Arial"/>
                <a:sym typeface="Arial"/>
              </a:rPr>
              <a:t>Nothing errored. A cross-cutting control installed in one place failed silently everywhere else.</a:t>
            </a:r>
            <a:endParaRPr sz="1100"/>
          </a:p>
        </p:txBody>
      </p:sp>
      <p:sp>
        <p:nvSpPr>
          <p:cNvPr id="269" name="Google Shape;269;p21"/>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270" name="Google Shape;270;p21"/>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09</a:t>
            </a:r>
            <a:endParaRPr sz="1100"/>
          </a:p>
        </p:txBody>
      </p:sp>
      <p:sp>
        <p:nvSpPr>
          <p:cNvPr id="9041" name="concept-tag"/>
          <p:cNvSpPr/>
          <p:nvPr/>
        </p:nvSpPr>
        <p:spPr>
          <a:xfrm>
            <a:off x="4059936" y="310896"/>
            <a:ext cx="4572000" cy="173736"/>
          </a:xfrm>
          <a:prstGeom prst="rect">
            <a:avLst/>
          </a:prstGeom>
          <a:noFill/>
          <a:ln>
            <a:noFill/>
          </a:ln>
        </p:spPr>
        <p:txBody>
          <a:bodyPr anchorCtr="0" anchor="t" bIns="0" lIns="0" spcFirstLastPara="1" rIns="0" wrap="none" tIns="0">
            <a:noAutofit/>
          </a:bodyPr>
          <a:lstStyle/>
          <a:p>
            <a:pPr indent="0" lvl="0" marL="0" marR="0" rtl="0" algn="r">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AgentMiddleware  ·  wrap_tool_call  ·  PER-AGENT INSTALL</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275" name="Shape 275"/>
        <p:cNvGrpSpPr/>
        <p:nvPr/>
      </p:nvGrpSpPr>
      <p:grpSpPr>
        <a:xfrm>
          <a:off x="0" y="0"/>
          <a:ext cx="0" cy="0"/>
          <a:chOff x="0" y="0"/>
          <a:chExt cx="0" cy="0"/>
        </a:xfrm>
      </p:grpSpPr>
      <p:sp>
        <p:nvSpPr>
          <p:cNvPr id="276" name="Google Shape;276;p22"/>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EVALUATION</a:t>
            </a:r>
            <a:endParaRPr sz="1100"/>
          </a:p>
        </p:txBody>
      </p:sp>
      <p:sp>
        <p:nvSpPr>
          <p:cNvPr id="277" name="Google Shape;277;p22"/>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Use a judge only where code cannot answer</a:t>
            </a:r>
            <a:endParaRPr sz="1100"/>
          </a:p>
        </p:txBody>
      </p:sp>
      <p:cxnSp>
        <p:nvCxnSpPr>
          <p:cNvPr id="278" name="Google Shape;278;p22"/>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279" name="Google Shape;279;p22"/>
          <p:cNvSpPr/>
          <p:nvPr/>
        </p:nvSpPr>
        <p:spPr>
          <a:xfrm>
            <a:off x="514350" y="1443038"/>
            <a:ext cx="2428875" cy="2500313"/>
          </a:xfrm>
          <a:prstGeom prst="roundRect">
            <a:avLst>
              <a:gd fmla="val 2353" name="adj"/>
            </a:avLst>
          </a:prstGeom>
          <a:solidFill>
            <a:srgbClr val="DCE8E5"/>
          </a:solidFill>
          <a:ln cap="flat" cmpd="sng" w="114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0" name="Google Shape;280;p22"/>
          <p:cNvSpPr/>
          <p:nvPr/>
        </p:nvSpPr>
        <p:spPr>
          <a:xfrm>
            <a:off x="685800" y="1614488"/>
            <a:ext cx="357188"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01</a:t>
            </a:r>
            <a:endParaRPr sz="1100"/>
          </a:p>
        </p:txBody>
      </p:sp>
      <p:sp>
        <p:nvSpPr>
          <p:cNvPr id="281" name="Google Shape;281;p22"/>
          <p:cNvSpPr/>
          <p:nvPr/>
        </p:nvSpPr>
        <p:spPr>
          <a:xfrm>
            <a:off x="685800" y="1943100"/>
            <a:ext cx="2085975"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700"/>
              <a:buFont typeface="Arial"/>
              <a:buNone/>
            </a:pPr>
            <a:r>
              <a:rPr b="1" lang="en" sz="1700">
                <a:solidFill>
                  <a:srgbClr val="14181C"/>
                </a:solidFill>
                <a:latin typeface="Arial"/>
                <a:ea typeface="Arial"/>
                <a:cs typeface="Arial"/>
                <a:sym typeface="Arial"/>
              </a:rPr>
              <a:t>Deterministic</a:t>
            </a:r>
            <a:endParaRPr sz="1100"/>
          </a:p>
        </p:txBody>
      </p:sp>
      <p:sp>
        <p:nvSpPr>
          <p:cNvPr id="282" name="Google Shape;282;p22"/>
          <p:cNvSpPr/>
          <p:nvPr/>
        </p:nvSpPr>
        <p:spPr>
          <a:xfrm>
            <a:off x="685800" y="2328863"/>
            <a:ext cx="2085975" cy="442913"/>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200"/>
              <a:buFont typeface="Arial"/>
              <a:buNone/>
            </a:pPr>
            <a:r>
              <a:rPr b="0" lang="en" sz="1200">
                <a:solidFill>
                  <a:srgbClr val="444E54"/>
                </a:solidFill>
                <a:latin typeface="Arial"/>
                <a:ea typeface="Arial"/>
                <a:cs typeface="Arial"/>
                <a:sym typeface="Arial"/>
              </a:rPr>
              <a:t>Citations + numeric grounding</a:t>
            </a:r>
            <a:endParaRPr sz="1100"/>
          </a:p>
        </p:txBody>
      </p:sp>
      <p:cxnSp>
        <p:nvCxnSpPr>
          <p:cNvPr id="283" name="Google Shape;283;p22"/>
          <p:cNvCxnSpPr/>
          <p:nvPr/>
        </p:nvCxnSpPr>
        <p:spPr>
          <a:xfrm>
            <a:off x="685800" y="2886075"/>
            <a:ext cx="2085975" cy="0"/>
          </a:xfrm>
          <a:prstGeom prst="straightConnector1">
            <a:avLst/>
          </a:prstGeom>
          <a:noFill/>
          <a:ln cap="flat" cmpd="sng" w="9525">
            <a:solidFill>
              <a:srgbClr val="24726A"/>
            </a:solidFill>
            <a:prstDash val="solid"/>
            <a:round/>
            <a:headEnd len="sm" w="sm" type="none"/>
            <a:tailEnd len="sm" w="sm" type="none"/>
          </a:ln>
        </p:spPr>
      </p:cxnSp>
      <p:sp>
        <p:nvSpPr>
          <p:cNvPr id="284" name="Google Shape;284;p22"/>
          <p:cNvSpPr/>
          <p:nvPr/>
        </p:nvSpPr>
        <p:spPr>
          <a:xfrm>
            <a:off x="685800" y="3071813"/>
            <a:ext cx="2085975"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4726A"/>
              </a:buClr>
              <a:buSzPts val="2600"/>
              <a:buFont typeface="Roboto Mono"/>
              <a:buNone/>
            </a:pPr>
            <a:r>
              <a:rPr b="1" lang="en" sz="2600">
                <a:solidFill>
                  <a:srgbClr val="24726A"/>
                </a:solidFill>
                <a:latin typeface="Roboto Mono"/>
                <a:ea typeface="Roboto Mono"/>
                <a:cs typeface="Roboto Mono"/>
                <a:sym typeface="Roboto Mono"/>
              </a:rPr>
              <a:t>18 / 20</a:t>
            </a:r>
            <a:endParaRPr sz="1100"/>
          </a:p>
        </p:txBody>
      </p:sp>
      <p:sp>
        <p:nvSpPr>
          <p:cNvPr id="285" name="Google Shape;285;p22"/>
          <p:cNvSpPr/>
          <p:nvPr/>
        </p:nvSpPr>
        <p:spPr>
          <a:xfrm>
            <a:off x="685800" y="3529013"/>
            <a:ext cx="2085975" cy="30003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44E54"/>
              </a:buClr>
              <a:buSzPts val="1000"/>
              <a:buFont typeface="Arial"/>
              <a:buNone/>
            </a:pPr>
            <a:r>
              <a:rPr b="0" lang="en" sz="1000">
                <a:solidFill>
                  <a:srgbClr val="444E54"/>
                </a:solidFill>
                <a:latin typeface="Arial"/>
                <a:ea typeface="Arial"/>
                <a:cs typeface="Arial"/>
                <a:sym typeface="Arial"/>
              </a:rPr>
              <a:t>labeled defects caught · $0</a:t>
            </a:r>
            <a:endParaRPr sz="1100"/>
          </a:p>
        </p:txBody>
      </p:sp>
      <p:sp>
        <p:nvSpPr>
          <p:cNvPr id="286" name="Google Shape;286;p22"/>
          <p:cNvSpPr/>
          <p:nvPr/>
        </p:nvSpPr>
        <p:spPr>
          <a:xfrm>
            <a:off x="3357563" y="1443038"/>
            <a:ext cx="2428875" cy="2500313"/>
          </a:xfrm>
          <a:prstGeom prst="roundRect">
            <a:avLst>
              <a:gd fmla="val 2353" name="adj"/>
            </a:avLst>
          </a:prstGeom>
          <a:solidFill>
            <a:srgbClr val="F0E7D8"/>
          </a:solidFill>
          <a:ln cap="flat" cmpd="sng" w="11425">
            <a:solidFill>
              <a:srgbClr val="9668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7" name="Google Shape;287;p22"/>
          <p:cNvSpPr/>
          <p:nvPr/>
        </p:nvSpPr>
        <p:spPr>
          <a:xfrm>
            <a:off x="3529013" y="1614488"/>
            <a:ext cx="357188"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6682A"/>
              </a:buClr>
              <a:buSzPts val="800"/>
              <a:buFont typeface="Roboto Mono"/>
              <a:buNone/>
            </a:pPr>
            <a:r>
              <a:rPr b="1" lang="en" sz="800">
                <a:solidFill>
                  <a:srgbClr val="96682A"/>
                </a:solidFill>
                <a:latin typeface="Roboto Mono"/>
                <a:ea typeface="Roboto Mono"/>
                <a:cs typeface="Roboto Mono"/>
                <a:sym typeface="Roboto Mono"/>
              </a:rPr>
              <a:t>02</a:t>
            </a:r>
            <a:endParaRPr sz="1100"/>
          </a:p>
        </p:txBody>
      </p:sp>
      <p:sp>
        <p:nvSpPr>
          <p:cNvPr id="288" name="Google Shape;288;p22"/>
          <p:cNvSpPr/>
          <p:nvPr/>
        </p:nvSpPr>
        <p:spPr>
          <a:xfrm>
            <a:off x="3529013" y="1943100"/>
            <a:ext cx="2085975"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700"/>
              <a:buFont typeface="Arial"/>
              <a:buNone/>
            </a:pPr>
            <a:r>
              <a:rPr b="1" lang="en" sz="1700">
                <a:solidFill>
                  <a:srgbClr val="14181C"/>
                </a:solidFill>
                <a:latin typeface="Arial"/>
                <a:ea typeface="Arial"/>
                <a:cs typeface="Arial"/>
                <a:sym typeface="Arial"/>
              </a:rPr>
              <a:t>LLM judge</a:t>
            </a:r>
            <a:endParaRPr sz="1100"/>
          </a:p>
        </p:txBody>
      </p:sp>
      <p:sp>
        <p:nvSpPr>
          <p:cNvPr id="289" name="Google Shape;289;p22"/>
          <p:cNvSpPr/>
          <p:nvPr/>
        </p:nvSpPr>
        <p:spPr>
          <a:xfrm>
            <a:off x="3529013" y="2328863"/>
            <a:ext cx="2085975" cy="442913"/>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200"/>
              <a:buFont typeface="Arial"/>
              <a:buNone/>
            </a:pPr>
            <a:r>
              <a:rPr b="0" lang="en" sz="1200">
                <a:solidFill>
                  <a:srgbClr val="444E54"/>
                </a:solidFill>
                <a:latin typeface="Arial"/>
                <a:ea typeface="Arial"/>
                <a:cs typeface="Arial"/>
                <a:sym typeface="Arial"/>
              </a:rPr>
              <a:t>Semantic support</a:t>
            </a:r>
            <a:endParaRPr sz="1100"/>
          </a:p>
        </p:txBody>
      </p:sp>
      <p:cxnSp>
        <p:nvCxnSpPr>
          <p:cNvPr id="290" name="Google Shape;290;p22"/>
          <p:cNvCxnSpPr/>
          <p:nvPr/>
        </p:nvCxnSpPr>
        <p:spPr>
          <a:xfrm>
            <a:off x="3529013" y="2886075"/>
            <a:ext cx="2085975" cy="0"/>
          </a:xfrm>
          <a:prstGeom prst="straightConnector1">
            <a:avLst/>
          </a:prstGeom>
          <a:noFill/>
          <a:ln cap="flat" cmpd="sng" w="9525">
            <a:solidFill>
              <a:srgbClr val="96682A"/>
            </a:solidFill>
            <a:prstDash val="solid"/>
            <a:round/>
            <a:headEnd len="sm" w="sm" type="none"/>
            <a:tailEnd len="sm" w="sm" type="none"/>
          </a:ln>
        </p:spPr>
      </p:cxnSp>
      <p:sp>
        <p:nvSpPr>
          <p:cNvPr id="291" name="Google Shape;291;p22"/>
          <p:cNvSpPr/>
          <p:nvPr/>
        </p:nvSpPr>
        <p:spPr>
          <a:xfrm>
            <a:off x="3529013" y="3071813"/>
            <a:ext cx="2085975"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96682A"/>
              </a:buClr>
              <a:buSzPts val="2600"/>
              <a:buFont typeface="Roboto Mono"/>
              <a:buNone/>
            </a:pPr>
            <a:r>
              <a:rPr b="1" lang="en" sz="2600">
                <a:solidFill>
                  <a:srgbClr val="96682A"/>
                </a:solidFill>
                <a:latin typeface="Roboto Mono"/>
                <a:ea typeface="Roboto Mono"/>
                <a:cs typeface="Roboto Mono"/>
                <a:sym typeface="Roboto Mono"/>
              </a:rPr>
              <a:t>2 gaps</a:t>
            </a:r>
            <a:endParaRPr sz="1100"/>
          </a:p>
        </p:txBody>
      </p:sp>
      <p:sp>
        <p:nvSpPr>
          <p:cNvPr id="292" name="Google Shape;292;p22"/>
          <p:cNvSpPr/>
          <p:nvPr/>
        </p:nvSpPr>
        <p:spPr>
          <a:xfrm>
            <a:off x="3529013" y="3529013"/>
            <a:ext cx="2085975" cy="30003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44E54"/>
              </a:buClr>
              <a:buSzPts val="1000"/>
              <a:buFont typeface="Arial"/>
              <a:buNone/>
            </a:pPr>
            <a:r>
              <a:rPr b="0" lang="en" sz="1000">
                <a:solidFill>
                  <a:srgbClr val="444E54"/>
                </a:solidFill>
                <a:latin typeface="Arial"/>
                <a:ea typeface="Arial"/>
                <a:cs typeface="Arial"/>
                <a:sym typeface="Arial"/>
              </a:rPr>
              <a:t>wrong denominator · rounding</a:t>
            </a:r>
            <a:endParaRPr sz="1100"/>
          </a:p>
        </p:txBody>
      </p:sp>
      <p:sp>
        <p:nvSpPr>
          <p:cNvPr id="293" name="Google Shape;293;p22"/>
          <p:cNvSpPr/>
          <p:nvPr/>
        </p:nvSpPr>
        <p:spPr>
          <a:xfrm>
            <a:off x="6200775" y="1443038"/>
            <a:ext cx="2428875" cy="2500313"/>
          </a:xfrm>
          <a:prstGeom prst="roundRect">
            <a:avLst>
              <a:gd fmla="val 2353" name="adj"/>
            </a:avLst>
          </a:prstGeom>
          <a:solidFill>
            <a:srgbClr val="E2ECE4"/>
          </a:solidFill>
          <a:ln cap="flat" cmpd="sng" w="11425">
            <a:solidFill>
              <a:srgbClr val="3570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4" name="Google Shape;294;p22"/>
          <p:cNvSpPr/>
          <p:nvPr/>
        </p:nvSpPr>
        <p:spPr>
          <a:xfrm>
            <a:off x="6372225" y="1614488"/>
            <a:ext cx="357188"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800"/>
              <a:buFont typeface="Roboto Mono"/>
              <a:buNone/>
            </a:pPr>
            <a:r>
              <a:rPr b="1" lang="en" sz="800">
                <a:solidFill>
                  <a:srgbClr val="35704A"/>
                </a:solidFill>
                <a:latin typeface="Roboto Mono"/>
                <a:ea typeface="Roboto Mono"/>
                <a:cs typeface="Roboto Mono"/>
                <a:sym typeface="Roboto Mono"/>
              </a:rPr>
              <a:t>03</a:t>
            </a:r>
            <a:endParaRPr sz="1100"/>
          </a:p>
        </p:txBody>
      </p:sp>
      <p:sp>
        <p:nvSpPr>
          <p:cNvPr id="295" name="Google Shape;295;p22"/>
          <p:cNvSpPr/>
          <p:nvPr/>
        </p:nvSpPr>
        <p:spPr>
          <a:xfrm>
            <a:off x="6372225" y="1943100"/>
            <a:ext cx="2085975"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700"/>
              <a:buFont typeface="Arial"/>
              <a:buNone/>
            </a:pPr>
            <a:r>
              <a:rPr b="1" lang="en" sz="1700">
                <a:solidFill>
                  <a:srgbClr val="14181C"/>
                </a:solidFill>
                <a:latin typeface="Arial"/>
                <a:ea typeface="Arial"/>
                <a:cs typeface="Arial"/>
                <a:sym typeface="Arial"/>
              </a:rPr>
              <a:t>Trajectory</a:t>
            </a:r>
            <a:endParaRPr sz="1100"/>
          </a:p>
        </p:txBody>
      </p:sp>
      <p:sp>
        <p:nvSpPr>
          <p:cNvPr id="296" name="Google Shape;296;p22"/>
          <p:cNvSpPr/>
          <p:nvPr/>
        </p:nvSpPr>
        <p:spPr>
          <a:xfrm>
            <a:off x="6372225" y="2328863"/>
            <a:ext cx="2085975" cy="442913"/>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200"/>
              <a:buFont typeface="Arial"/>
              <a:buNone/>
            </a:pPr>
            <a:r>
              <a:rPr b="0" lang="en" sz="1200">
                <a:solidFill>
                  <a:srgbClr val="444E54"/>
                </a:solidFill>
                <a:latin typeface="Arial"/>
                <a:ea typeface="Arial"/>
                <a:cs typeface="Arial"/>
                <a:sym typeface="Arial"/>
              </a:rPr>
              <a:t>What the agent actually did</a:t>
            </a:r>
            <a:endParaRPr sz="1100"/>
          </a:p>
        </p:txBody>
      </p:sp>
      <p:cxnSp>
        <p:nvCxnSpPr>
          <p:cNvPr id="297" name="Google Shape;297;p22"/>
          <p:cNvCxnSpPr/>
          <p:nvPr/>
        </p:nvCxnSpPr>
        <p:spPr>
          <a:xfrm>
            <a:off x="6372225" y="2886075"/>
            <a:ext cx="2085975" cy="0"/>
          </a:xfrm>
          <a:prstGeom prst="straightConnector1">
            <a:avLst/>
          </a:prstGeom>
          <a:noFill/>
          <a:ln cap="flat" cmpd="sng" w="9525">
            <a:solidFill>
              <a:srgbClr val="35704A"/>
            </a:solidFill>
            <a:prstDash val="solid"/>
            <a:round/>
            <a:headEnd len="sm" w="sm" type="none"/>
            <a:tailEnd len="sm" w="sm" type="none"/>
          </a:ln>
        </p:spPr>
      </p:cxnSp>
      <p:sp>
        <p:nvSpPr>
          <p:cNvPr id="298" name="Google Shape;298;p22"/>
          <p:cNvSpPr/>
          <p:nvPr/>
        </p:nvSpPr>
        <p:spPr>
          <a:xfrm>
            <a:off x="6372225" y="3071813"/>
            <a:ext cx="2085975"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35704A"/>
              </a:buClr>
              <a:buSzPts val="2600"/>
              <a:buFont typeface="Roboto Mono"/>
              <a:buNone/>
            </a:pPr>
            <a:r>
              <a:rPr b="1" lang="en" sz="2600">
                <a:solidFill>
                  <a:srgbClr val="35704A"/>
                </a:solidFill>
                <a:latin typeface="Roboto Mono"/>
                <a:ea typeface="Roboto Mono"/>
                <a:cs typeface="Roboto Mono"/>
                <a:sym typeface="Roboto Mono"/>
              </a:rPr>
              <a:t>required</a:t>
            </a:r>
            <a:endParaRPr sz="1100"/>
          </a:p>
        </p:txBody>
      </p:sp>
      <p:sp>
        <p:nvSpPr>
          <p:cNvPr id="299" name="Google Shape;299;p22"/>
          <p:cNvSpPr/>
          <p:nvPr/>
        </p:nvSpPr>
        <p:spPr>
          <a:xfrm>
            <a:off x="6372225" y="3529013"/>
            <a:ext cx="2085975" cy="30003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44E54"/>
              </a:buClr>
              <a:buSzPts val="1000"/>
              <a:buFont typeface="Arial"/>
              <a:buNone/>
            </a:pPr>
            <a:r>
              <a:rPr b="0" lang="en" sz="1000">
                <a:solidFill>
                  <a:srgbClr val="444E54"/>
                </a:solidFill>
                <a:latin typeface="Arial"/>
                <a:ea typeface="Arial"/>
                <a:cs typeface="Arial"/>
                <a:sym typeface="Arial"/>
              </a:rPr>
              <a:t>tools · approvals · budgets</a:t>
            </a:r>
            <a:endParaRPr sz="1100"/>
          </a:p>
        </p:txBody>
      </p:sp>
      <p:sp>
        <p:nvSpPr>
          <p:cNvPr id="300" name="Google Shape;300;p22"/>
          <p:cNvSpPr/>
          <p:nvPr/>
        </p:nvSpPr>
        <p:spPr>
          <a:xfrm>
            <a:off x="700088" y="4243388"/>
            <a:ext cx="7743825" cy="385763"/>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A right answer reached by an unsafe path is still a failed agent.</a:t>
            </a:r>
            <a:endParaRPr sz="1100"/>
          </a:p>
        </p:txBody>
      </p:sp>
      <p:sp>
        <p:nvSpPr>
          <p:cNvPr id="301" name="Google Shape;301;p22"/>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302" name="Google Shape;302;p22"/>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10</a:t>
            </a:r>
            <a:endParaRPr sz="1100"/>
          </a:p>
        </p:txBody>
      </p:sp>
      <p:sp>
        <p:nvSpPr>
          <p:cNvPr id="9030" name="concept-tag"/>
          <p:cNvSpPr/>
          <p:nvPr/>
        </p:nvSpPr>
        <p:spPr>
          <a:xfrm>
            <a:off x="4059936" y="310896"/>
            <a:ext cx="4572000" cy="173736"/>
          </a:xfrm>
          <a:prstGeom prst="rect">
            <a:avLst/>
          </a:prstGeom>
          <a:noFill/>
          <a:ln>
            <a:noFill/>
          </a:ln>
        </p:spPr>
        <p:txBody>
          <a:bodyPr anchorCtr="0" anchor="t" bIns="0" lIns="0" spcFirstLastPara="1" rIns="0" wrap="none" tIns="0">
            <a:noAutofit/>
          </a:bodyPr>
          <a:lstStyle/>
          <a:p>
            <a:pPr indent="0" lvl="0" marL="0" marR="0" rtl="0" algn="r">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LANGSMITH DATASETS  ·  EXPERIMENTS  ·  CUSTOM EVALUATORS</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307" name="Shape 307"/>
        <p:cNvGrpSpPr/>
        <p:nvPr/>
      </p:nvGrpSpPr>
      <p:grpSpPr>
        <a:xfrm>
          <a:off x="0" y="0"/>
          <a:ext cx="0" cy="0"/>
          <a:chOff x="0" y="0"/>
          <a:chExt cx="0" cy="0"/>
        </a:xfrm>
      </p:grpSpPr>
      <p:sp>
        <p:nvSpPr>
          <p:cNvPr id="308" name="Google Shape;308;p23"/>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EVALUATE THE EVALUATOR</a:t>
            </a:r>
            <a:endParaRPr sz="1100"/>
          </a:p>
        </p:txBody>
      </p:sp>
      <p:sp>
        <p:nvSpPr>
          <p:cNvPr id="309" name="Google Shape;309;p23"/>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An evaluator is an application. Measure it first.</a:t>
            </a:r>
            <a:endParaRPr sz="1100"/>
          </a:p>
        </p:txBody>
      </p:sp>
      <p:cxnSp>
        <p:nvCxnSpPr>
          <p:cNvPr id="310" name="Google Shape;310;p23"/>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311" name="Google Shape;311;p23"/>
          <p:cNvSpPr/>
          <p:nvPr/>
        </p:nvSpPr>
        <p:spPr>
          <a:xfrm>
            <a:off x="657225" y="1328738"/>
            <a:ext cx="214312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lang="en" sz="800">
                <a:solidFill>
                  <a:srgbClr val="6E7A80"/>
                </a:solidFill>
                <a:latin typeface="Roboto Mono"/>
                <a:ea typeface="Roboto Mono"/>
                <a:cs typeface="Roboto Mono"/>
                <a:sym typeface="Roboto Mono"/>
              </a:rPr>
              <a:t>JUDGE PROMPT</a:t>
            </a:r>
            <a:endParaRPr sz="1100"/>
          </a:p>
        </p:txBody>
      </p:sp>
      <p:sp>
        <p:nvSpPr>
          <p:cNvPr id="312" name="Google Shape;312;p23"/>
          <p:cNvSpPr/>
          <p:nvPr/>
        </p:nvSpPr>
        <p:spPr>
          <a:xfrm>
            <a:off x="3857625" y="1328738"/>
            <a:ext cx="1214438" cy="1571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800"/>
              <a:buFont typeface="Roboto Mono"/>
              <a:buNone/>
            </a:pPr>
            <a:r>
              <a:rPr b="1" lang="en" sz="800">
                <a:solidFill>
                  <a:srgbClr val="6E7A80"/>
                </a:solidFill>
                <a:latin typeface="Roboto Mono"/>
                <a:ea typeface="Roboto Mono"/>
                <a:cs typeface="Roboto Mono"/>
                <a:sym typeface="Roboto Mono"/>
              </a:rPr>
              <a:t>AGREEMENT</a:t>
            </a:r>
            <a:endParaRPr sz="1100"/>
          </a:p>
        </p:txBody>
      </p:sp>
      <p:sp>
        <p:nvSpPr>
          <p:cNvPr id="313" name="Google Shape;313;p23"/>
          <p:cNvSpPr/>
          <p:nvPr/>
        </p:nvSpPr>
        <p:spPr>
          <a:xfrm>
            <a:off x="5500688" y="1328738"/>
            <a:ext cx="1214438" cy="1571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E3E36"/>
              </a:buClr>
              <a:buSzPts val="800"/>
              <a:buFont typeface="Roboto Mono"/>
              <a:buNone/>
            </a:pPr>
            <a:r>
              <a:rPr b="1" lang="en" sz="800">
                <a:solidFill>
                  <a:srgbClr val="9E3E36"/>
                </a:solidFill>
                <a:latin typeface="Roboto Mono"/>
                <a:ea typeface="Roboto Mono"/>
                <a:cs typeface="Roboto Mono"/>
                <a:sym typeface="Roboto Mono"/>
              </a:rPr>
              <a:t>BLESSED BAD</a:t>
            </a:r>
            <a:endParaRPr sz="1100"/>
          </a:p>
        </p:txBody>
      </p:sp>
      <p:sp>
        <p:nvSpPr>
          <p:cNvPr id="314" name="Google Shape;314;p23"/>
          <p:cNvSpPr/>
          <p:nvPr/>
        </p:nvSpPr>
        <p:spPr>
          <a:xfrm>
            <a:off x="7179469" y="1328738"/>
            <a:ext cx="1285875" cy="1571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6682A"/>
              </a:buClr>
              <a:buSzPts val="800"/>
              <a:buFont typeface="Roboto Mono"/>
              <a:buNone/>
            </a:pPr>
            <a:r>
              <a:rPr b="1" lang="en" sz="800">
                <a:solidFill>
                  <a:srgbClr val="96682A"/>
                </a:solidFill>
                <a:latin typeface="Roboto Mono"/>
                <a:ea typeface="Roboto Mono"/>
                <a:cs typeface="Roboto Mono"/>
                <a:sym typeface="Roboto Mono"/>
              </a:rPr>
              <a:t>FLAGGED GOOD</a:t>
            </a:r>
            <a:endParaRPr sz="1100"/>
          </a:p>
        </p:txBody>
      </p:sp>
      <p:sp>
        <p:nvSpPr>
          <p:cNvPr id="315" name="Google Shape;315;p23"/>
          <p:cNvSpPr/>
          <p:nvPr/>
        </p:nvSpPr>
        <p:spPr>
          <a:xfrm>
            <a:off x="514350" y="1643063"/>
            <a:ext cx="8115300" cy="557213"/>
          </a:xfrm>
          <a:prstGeom prst="rect">
            <a:avLst/>
          </a:prstGeom>
          <a:solidFill>
            <a:srgbClr val="FAFBF8"/>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6" name="Google Shape;316;p23"/>
          <p:cNvSpPr/>
          <p:nvPr/>
        </p:nvSpPr>
        <p:spPr>
          <a:xfrm>
            <a:off x="657225" y="1807369"/>
            <a:ext cx="307181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1" lang="en" sz="1300">
                <a:solidFill>
                  <a:srgbClr val="14181C"/>
                </a:solidFill>
                <a:latin typeface="Arial"/>
                <a:ea typeface="Arial"/>
                <a:cs typeface="Arial"/>
                <a:sym typeface="Arial"/>
              </a:rPr>
              <a:t>v1 · reasonable first draft</a:t>
            </a:r>
            <a:endParaRPr sz="1100"/>
          </a:p>
        </p:txBody>
      </p:sp>
      <p:sp>
        <p:nvSpPr>
          <p:cNvPr id="317" name="Google Shape;317;p23"/>
          <p:cNvSpPr/>
          <p:nvPr/>
        </p:nvSpPr>
        <p:spPr>
          <a:xfrm>
            <a:off x="3857625" y="1778794"/>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600"/>
              <a:buFont typeface="Roboto Mono"/>
              <a:buNone/>
            </a:pPr>
            <a:r>
              <a:rPr b="1" lang="en" sz="1600">
                <a:solidFill>
                  <a:srgbClr val="14181C"/>
                </a:solidFill>
                <a:latin typeface="Roboto Mono"/>
                <a:ea typeface="Roboto Mono"/>
                <a:cs typeface="Roboto Mono"/>
                <a:sym typeface="Roboto Mono"/>
              </a:rPr>
              <a:t>85%</a:t>
            </a:r>
            <a:endParaRPr sz="1100"/>
          </a:p>
        </p:txBody>
      </p:sp>
      <p:sp>
        <p:nvSpPr>
          <p:cNvPr id="318" name="Google Shape;318;p23"/>
          <p:cNvSpPr/>
          <p:nvPr/>
        </p:nvSpPr>
        <p:spPr>
          <a:xfrm>
            <a:off x="5500688" y="1778794"/>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E3E36"/>
              </a:buClr>
              <a:buSzPts val="1600"/>
              <a:buFont typeface="Roboto Mono"/>
              <a:buNone/>
            </a:pPr>
            <a:r>
              <a:rPr b="1" lang="en" sz="1600">
                <a:solidFill>
                  <a:srgbClr val="9E3E36"/>
                </a:solidFill>
                <a:latin typeface="Roboto Mono"/>
                <a:ea typeface="Roboto Mono"/>
                <a:cs typeface="Roboto Mono"/>
                <a:sym typeface="Roboto Mono"/>
              </a:rPr>
              <a:t>2</a:t>
            </a:r>
            <a:endParaRPr sz="1100"/>
          </a:p>
        </p:txBody>
      </p:sp>
      <p:sp>
        <p:nvSpPr>
          <p:cNvPr id="319" name="Google Shape;319;p23"/>
          <p:cNvSpPr/>
          <p:nvPr/>
        </p:nvSpPr>
        <p:spPr>
          <a:xfrm>
            <a:off x="7179469" y="1778794"/>
            <a:ext cx="1285875"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600"/>
              <a:buFont typeface="Roboto Mono"/>
              <a:buNone/>
            </a:pPr>
            <a:r>
              <a:rPr b="1" lang="en" sz="1600">
                <a:solidFill>
                  <a:srgbClr val="14181C"/>
                </a:solidFill>
                <a:latin typeface="Roboto Mono"/>
                <a:ea typeface="Roboto Mono"/>
                <a:cs typeface="Roboto Mono"/>
                <a:sym typeface="Roboto Mono"/>
              </a:rPr>
              <a:t>1</a:t>
            </a:r>
            <a:endParaRPr sz="1100"/>
          </a:p>
        </p:txBody>
      </p:sp>
      <p:sp>
        <p:nvSpPr>
          <p:cNvPr id="320" name="Google Shape;320;p23"/>
          <p:cNvSpPr/>
          <p:nvPr/>
        </p:nvSpPr>
        <p:spPr>
          <a:xfrm>
            <a:off x="514350" y="2357438"/>
            <a:ext cx="8115300" cy="557213"/>
          </a:xfrm>
          <a:prstGeom prst="rect">
            <a:avLst/>
          </a:prstGeom>
          <a:solidFill>
            <a:srgbClr val="F0E7D8"/>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1" name="Google Shape;321;p23"/>
          <p:cNvSpPr/>
          <p:nvPr/>
        </p:nvSpPr>
        <p:spPr>
          <a:xfrm>
            <a:off x="657225" y="2521744"/>
            <a:ext cx="307181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1" lang="en" sz="1300">
                <a:solidFill>
                  <a:srgbClr val="14181C"/>
                </a:solidFill>
                <a:latin typeface="Arial"/>
                <a:ea typeface="Arial"/>
                <a:cs typeface="Arial"/>
                <a:sym typeface="Arial"/>
              </a:rPr>
              <a:t>v2 · strict after reading misses</a:t>
            </a:r>
            <a:endParaRPr sz="1100"/>
          </a:p>
        </p:txBody>
      </p:sp>
      <p:sp>
        <p:nvSpPr>
          <p:cNvPr id="322" name="Google Shape;322;p23"/>
          <p:cNvSpPr/>
          <p:nvPr/>
        </p:nvSpPr>
        <p:spPr>
          <a:xfrm>
            <a:off x="3857625" y="2493169"/>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600"/>
              <a:buFont typeface="Roboto Mono"/>
              <a:buNone/>
            </a:pPr>
            <a:r>
              <a:rPr b="1" lang="en" sz="1600">
                <a:solidFill>
                  <a:srgbClr val="14181C"/>
                </a:solidFill>
                <a:latin typeface="Roboto Mono"/>
                <a:ea typeface="Roboto Mono"/>
                <a:cs typeface="Roboto Mono"/>
                <a:sym typeface="Roboto Mono"/>
              </a:rPr>
              <a:t>85%</a:t>
            </a:r>
            <a:endParaRPr sz="1100"/>
          </a:p>
        </p:txBody>
      </p:sp>
      <p:sp>
        <p:nvSpPr>
          <p:cNvPr id="323" name="Google Shape;323;p23"/>
          <p:cNvSpPr/>
          <p:nvPr/>
        </p:nvSpPr>
        <p:spPr>
          <a:xfrm>
            <a:off x="5500688" y="2493169"/>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35704A"/>
              </a:buClr>
              <a:buSzPts val="1600"/>
              <a:buFont typeface="Roboto Mono"/>
              <a:buNone/>
            </a:pPr>
            <a:r>
              <a:rPr b="1" lang="en" sz="1600">
                <a:solidFill>
                  <a:srgbClr val="35704A"/>
                </a:solidFill>
                <a:latin typeface="Roboto Mono"/>
                <a:ea typeface="Roboto Mono"/>
                <a:cs typeface="Roboto Mono"/>
                <a:sym typeface="Roboto Mono"/>
              </a:rPr>
              <a:t>0</a:t>
            </a:r>
            <a:endParaRPr sz="1100"/>
          </a:p>
        </p:txBody>
      </p:sp>
      <p:sp>
        <p:nvSpPr>
          <p:cNvPr id="324" name="Google Shape;324;p23"/>
          <p:cNvSpPr/>
          <p:nvPr/>
        </p:nvSpPr>
        <p:spPr>
          <a:xfrm>
            <a:off x="7179469" y="2493169"/>
            <a:ext cx="1285875"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6682A"/>
              </a:buClr>
              <a:buSzPts val="1600"/>
              <a:buFont typeface="Roboto Mono"/>
              <a:buNone/>
            </a:pPr>
            <a:r>
              <a:rPr b="1" lang="en" sz="1600">
                <a:solidFill>
                  <a:srgbClr val="96682A"/>
                </a:solidFill>
                <a:latin typeface="Roboto Mono"/>
                <a:ea typeface="Roboto Mono"/>
                <a:cs typeface="Roboto Mono"/>
                <a:sym typeface="Roboto Mono"/>
              </a:rPr>
              <a:t>3</a:t>
            </a:r>
            <a:endParaRPr sz="1100"/>
          </a:p>
        </p:txBody>
      </p:sp>
      <p:sp>
        <p:nvSpPr>
          <p:cNvPr id="325" name="Google Shape;325;p23"/>
          <p:cNvSpPr/>
          <p:nvPr/>
        </p:nvSpPr>
        <p:spPr>
          <a:xfrm>
            <a:off x="514350" y="3071813"/>
            <a:ext cx="8115300" cy="557213"/>
          </a:xfrm>
          <a:prstGeom prst="rect">
            <a:avLst/>
          </a:prstGeom>
          <a:solidFill>
            <a:srgbClr val="E2ECE4"/>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6" name="Google Shape;326;p23"/>
          <p:cNvSpPr/>
          <p:nvPr/>
        </p:nvSpPr>
        <p:spPr>
          <a:xfrm>
            <a:off x="657225" y="3236119"/>
            <a:ext cx="307181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1" lang="en" sz="1300">
                <a:solidFill>
                  <a:srgbClr val="14181C"/>
                </a:solidFill>
                <a:latin typeface="Arial"/>
                <a:ea typeface="Arial"/>
                <a:cs typeface="Arial"/>
                <a:sym typeface="Arial"/>
              </a:rPr>
              <a:t>v3 · calibrated</a:t>
            </a:r>
            <a:endParaRPr sz="1100"/>
          </a:p>
        </p:txBody>
      </p:sp>
      <p:sp>
        <p:nvSpPr>
          <p:cNvPr id="327" name="Google Shape;327;p23"/>
          <p:cNvSpPr/>
          <p:nvPr/>
        </p:nvSpPr>
        <p:spPr>
          <a:xfrm>
            <a:off x="3857625" y="3207544"/>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600"/>
              <a:buFont typeface="Roboto Mono"/>
              <a:buNone/>
            </a:pPr>
            <a:r>
              <a:rPr b="1" lang="en" sz="1600">
                <a:solidFill>
                  <a:srgbClr val="14181C"/>
                </a:solidFill>
                <a:latin typeface="Roboto Mono"/>
                <a:ea typeface="Roboto Mono"/>
                <a:cs typeface="Roboto Mono"/>
                <a:sym typeface="Roboto Mono"/>
              </a:rPr>
              <a:t>95%</a:t>
            </a:r>
            <a:endParaRPr sz="1100"/>
          </a:p>
        </p:txBody>
      </p:sp>
      <p:sp>
        <p:nvSpPr>
          <p:cNvPr id="328" name="Google Shape;328;p23"/>
          <p:cNvSpPr/>
          <p:nvPr/>
        </p:nvSpPr>
        <p:spPr>
          <a:xfrm>
            <a:off x="5500688" y="3207544"/>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35704A"/>
              </a:buClr>
              <a:buSzPts val="1600"/>
              <a:buFont typeface="Roboto Mono"/>
              <a:buNone/>
            </a:pPr>
            <a:r>
              <a:rPr b="1" lang="en" sz="1600">
                <a:solidFill>
                  <a:srgbClr val="35704A"/>
                </a:solidFill>
                <a:latin typeface="Roboto Mono"/>
                <a:ea typeface="Roboto Mono"/>
                <a:cs typeface="Roboto Mono"/>
                <a:sym typeface="Roboto Mono"/>
              </a:rPr>
              <a:t>0</a:t>
            </a:r>
            <a:endParaRPr sz="1100"/>
          </a:p>
        </p:txBody>
      </p:sp>
      <p:sp>
        <p:nvSpPr>
          <p:cNvPr id="329" name="Google Shape;329;p23"/>
          <p:cNvSpPr/>
          <p:nvPr/>
        </p:nvSpPr>
        <p:spPr>
          <a:xfrm>
            <a:off x="7179469" y="3207544"/>
            <a:ext cx="1285875"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600"/>
              <a:buFont typeface="Roboto Mono"/>
              <a:buNone/>
            </a:pPr>
            <a:r>
              <a:rPr b="1" lang="en" sz="1600">
                <a:solidFill>
                  <a:srgbClr val="14181C"/>
                </a:solidFill>
                <a:latin typeface="Roboto Mono"/>
                <a:ea typeface="Roboto Mono"/>
                <a:cs typeface="Roboto Mono"/>
                <a:sym typeface="Roboto Mono"/>
              </a:rPr>
              <a:t>1</a:t>
            </a:r>
            <a:endParaRPr sz="1100"/>
          </a:p>
        </p:txBody>
      </p:sp>
      <p:sp>
        <p:nvSpPr>
          <p:cNvPr id="330" name="Google Shape;330;p23"/>
          <p:cNvSpPr/>
          <p:nvPr/>
        </p:nvSpPr>
        <p:spPr>
          <a:xfrm>
            <a:off x="514350" y="3914775"/>
            <a:ext cx="8115300" cy="671513"/>
          </a:xfrm>
          <a:prstGeom prst="rect">
            <a:avLst/>
          </a:prstGeom>
          <a:solidFill>
            <a:srgbClr val="DCE8E5"/>
          </a:solidFill>
          <a:ln cap="flat" cmpd="sng" w="114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1" name="Google Shape;331;p23"/>
          <p:cNvSpPr/>
          <p:nvPr/>
        </p:nvSpPr>
        <p:spPr>
          <a:xfrm>
            <a:off x="700088" y="4043363"/>
            <a:ext cx="3714750"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v1 and v2 have the same headline score.</a:t>
            </a:r>
            <a:endParaRPr sz="1100"/>
          </a:p>
        </p:txBody>
      </p:sp>
      <p:sp>
        <p:nvSpPr>
          <p:cNvPr id="332" name="Google Shape;332;p23"/>
          <p:cNvSpPr/>
          <p:nvPr/>
        </p:nvSpPr>
        <p:spPr>
          <a:xfrm>
            <a:off x="4429125" y="4029075"/>
            <a:ext cx="4000500" cy="40005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4181C"/>
              </a:buClr>
              <a:buSzPts val="1200"/>
              <a:buFont typeface="Arial"/>
              <a:buNone/>
            </a:pPr>
            <a:r>
              <a:rPr b="0" lang="en" sz="1200">
                <a:solidFill>
                  <a:srgbClr val="14181C"/>
                </a:solidFill>
                <a:latin typeface="Arial"/>
                <a:ea typeface="Arial"/>
                <a:cs typeface="Arial"/>
                <a:sym typeface="Arial"/>
              </a:rPr>
              <a:t>Only the error direction shows that v2 eliminated the dangerous false accepts.</a:t>
            </a:r>
            <a:endParaRPr sz="1100"/>
          </a:p>
        </p:txBody>
      </p:sp>
      <p:sp>
        <p:nvSpPr>
          <p:cNvPr id="333" name="Google Shape;333;p23"/>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334" name="Google Shape;334;p23"/>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11</a:t>
            </a:r>
            <a:endParaRPr sz="1100"/>
          </a:p>
        </p:txBody>
      </p:sp>
      <p:sp>
        <p:nvSpPr>
          <p:cNvPr id="9030" name="concept-tag"/>
          <p:cNvSpPr/>
          <p:nvPr/>
        </p:nvSpPr>
        <p:spPr>
          <a:xfrm>
            <a:off x="4059936" y="310896"/>
            <a:ext cx="4572000" cy="173736"/>
          </a:xfrm>
          <a:prstGeom prst="rect">
            <a:avLst/>
          </a:prstGeom>
          <a:noFill/>
          <a:ln>
            <a:noFill/>
          </a:ln>
        </p:spPr>
        <p:txBody>
          <a:bodyPr anchorCtr="0" anchor="t" bIns="0" lIns="0" spcFirstLastPara="1" rIns="0" wrap="none" tIns="0">
            <a:noAutofit/>
          </a:bodyPr>
          <a:lstStyle/>
          <a:p>
            <a:pPr indent="0" lvl="0" marL="0" marR="0" rtl="0" algn="r">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RubricMiddleware  ·  JUDGE ALIGNMENT  ·  LABELED FIXTURES</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339" name="Shape 339"/>
        <p:cNvGrpSpPr/>
        <p:nvPr/>
      </p:nvGrpSpPr>
      <p:grpSpPr>
        <a:xfrm>
          <a:off x="0" y="0"/>
          <a:ext cx="0" cy="0"/>
          <a:chOff x="0" y="0"/>
          <a:chExt cx="0" cy="0"/>
        </a:xfrm>
      </p:grpSpPr>
      <p:sp>
        <p:nvSpPr>
          <p:cNvPr id="340" name="Google Shape;340;p24"/>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ENTERPRISE CONTROLS</a:t>
            </a:r>
            <a:endParaRPr sz="1100"/>
          </a:p>
        </p:txBody>
      </p:sp>
      <p:sp>
        <p:nvSpPr>
          <p:cNvPr id="341" name="Google Shape;341;p24"/>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Two switches: what it sees, what it may do</a:t>
            </a:r>
            <a:endParaRPr sz="1100"/>
          </a:p>
        </p:txBody>
      </p:sp>
      <p:cxnSp>
        <p:nvCxnSpPr>
          <p:cNvPr id="342" name="Google Shape;342;p24"/>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343" name="Google Shape;343;p24"/>
          <p:cNvSpPr/>
          <p:nvPr/>
        </p:nvSpPr>
        <p:spPr>
          <a:xfrm>
            <a:off x="514350" y="1700213"/>
            <a:ext cx="1571625" cy="628650"/>
          </a:xfrm>
          <a:prstGeom prst="roundRect">
            <a:avLst>
              <a:gd fmla="val 7955" name="adj"/>
            </a:avLst>
          </a:prstGeom>
          <a:solidFill>
            <a:srgbClr val="E7EAE4"/>
          </a:solidFill>
          <a:ln cap="flat" cmpd="sng" w="11425">
            <a:solidFill>
              <a:srgbClr val="A9B3A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4" name="Google Shape;344;p24"/>
          <p:cNvSpPr/>
          <p:nvPr/>
        </p:nvSpPr>
        <p:spPr>
          <a:xfrm>
            <a:off x="614363" y="1793081"/>
            <a:ext cx="137160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MCP tools</a:t>
            </a:r>
            <a:endParaRPr sz="1100"/>
          </a:p>
        </p:txBody>
      </p:sp>
      <p:sp>
        <p:nvSpPr>
          <p:cNvPr id="345" name="Google Shape;345;p24"/>
          <p:cNvSpPr/>
          <p:nvPr/>
        </p:nvSpPr>
        <p:spPr>
          <a:xfrm>
            <a:off x="614363" y="2035969"/>
            <a:ext cx="1371600" cy="2428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1000"/>
              <a:buFont typeface="Arial"/>
              <a:buNone/>
            </a:pPr>
            <a:r>
              <a:rPr b="0" lang="en" sz="1000">
                <a:solidFill>
                  <a:srgbClr val="6E7A80"/>
                </a:solidFill>
                <a:latin typeface="Arial"/>
                <a:ea typeface="Arial"/>
                <a:cs typeface="Arial"/>
                <a:sym typeface="Arial"/>
              </a:rPr>
              <a:t>Trading + banking</a:t>
            </a:r>
            <a:endParaRPr sz="1100"/>
          </a:p>
        </p:txBody>
      </p:sp>
      <p:sp>
        <p:nvSpPr>
          <p:cNvPr id="346" name="Google Shape;346;p24"/>
          <p:cNvSpPr/>
          <p:nvPr/>
        </p:nvSpPr>
        <p:spPr>
          <a:xfrm>
            <a:off x="2528888" y="1627632"/>
            <a:ext cx="2000250" cy="749808"/>
          </a:xfrm>
          <a:prstGeom prst="roundRect">
            <a:avLst>
              <a:gd fmla="val 7955" name="adj"/>
            </a:avLst>
          </a:prstGeom>
          <a:solidFill>
            <a:srgbClr val="DCE8E5"/>
          </a:solidFill>
          <a:ln cap="flat" cmpd="sng" w="114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7" name="Google Shape;347;p24"/>
          <p:cNvSpPr/>
          <p:nvPr/>
        </p:nvSpPr>
        <p:spPr>
          <a:xfrm>
            <a:off x="2633472" y="1719072"/>
            <a:ext cx="1801368" cy="38404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400"/>
              <a:buFont typeface="Arial"/>
              <a:buNone/>
            </a:pPr>
            <a:r>
              <a:rPr b="1" lang="en" sz="1300">
                <a:solidFill>
                  <a:srgbClr val="14181C"/>
                </a:solidFill>
                <a:latin typeface="Arial"/>
                <a:ea typeface="Arial"/>
                <a:cs typeface="Arial"/>
                <a:sym typeface="Arial"/>
              </a:rPr>
              <a:t>blast-radius classifier</a:t>
            </a:r>
            <a:endParaRPr sz="1100"/>
          </a:p>
        </p:txBody>
      </p:sp>
      <p:sp>
        <p:nvSpPr>
          <p:cNvPr id="348" name="Google Shape;348;p24"/>
          <p:cNvSpPr/>
          <p:nvPr/>
        </p:nvSpPr>
        <p:spPr>
          <a:xfrm>
            <a:off x="2628900" y="2121408"/>
            <a:ext cx="1800225" cy="2468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1000"/>
              <a:buFont typeface="Arial"/>
              <a:buNone/>
            </a:pPr>
            <a:r>
              <a:rPr b="0" lang="en" sz="1000">
                <a:solidFill>
                  <a:srgbClr val="6E7A80"/>
                </a:solidFill>
                <a:latin typeface="Arial"/>
                <a:ea typeface="Arial"/>
                <a:cs typeface="Arial"/>
                <a:sym typeface="Arial"/>
              </a:rPr>
              <a:t>verb rules · fail closed</a:t>
            </a:r>
            <a:endParaRPr sz="1100"/>
          </a:p>
        </p:txBody>
      </p:sp>
      <p:sp>
        <p:nvSpPr>
          <p:cNvPr id="349" name="Google Shape;349;p24"/>
          <p:cNvSpPr/>
          <p:nvPr/>
        </p:nvSpPr>
        <p:spPr>
          <a:xfrm>
            <a:off x="5314950" y="1357313"/>
            <a:ext cx="1571625" cy="628650"/>
          </a:xfrm>
          <a:prstGeom prst="roundRect">
            <a:avLst>
              <a:gd fmla="val 7955" name="adj"/>
            </a:avLst>
          </a:prstGeom>
          <a:solidFill>
            <a:srgbClr val="E2ECE4"/>
          </a:solidFill>
          <a:ln cap="flat" cmpd="sng" w="11425">
            <a:solidFill>
              <a:srgbClr val="3570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0" name="Google Shape;350;p24"/>
          <p:cNvSpPr/>
          <p:nvPr/>
        </p:nvSpPr>
        <p:spPr>
          <a:xfrm>
            <a:off x="5414963" y="1450181"/>
            <a:ext cx="137160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5704A"/>
              </a:buClr>
              <a:buSzPts val="1600"/>
              <a:buFont typeface="Arial"/>
              <a:buNone/>
            </a:pPr>
            <a:r>
              <a:rPr b="1" lang="en" sz="1600">
                <a:solidFill>
                  <a:srgbClr val="35704A"/>
                </a:solidFill>
                <a:latin typeface="Arial"/>
                <a:ea typeface="Arial"/>
                <a:cs typeface="Arial"/>
                <a:sym typeface="Arial"/>
              </a:rPr>
              <a:t>READ</a:t>
            </a:r>
            <a:endParaRPr sz="1100"/>
          </a:p>
        </p:txBody>
      </p:sp>
      <p:sp>
        <p:nvSpPr>
          <p:cNvPr id="351" name="Google Shape;351;p24"/>
          <p:cNvSpPr/>
          <p:nvPr/>
        </p:nvSpPr>
        <p:spPr>
          <a:xfrm>
            <a:off x="5414963" y="1693069"/>
            <a:ext cx="1371600" cy="2428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1000"/>
              <a:buFont typeface="Arial"/>
              <a:buNone/>
            </a:pPr>
            <a:r>
              <a:rPr b="0" lang="en" sz="1000">
                <a:solidFill>
                  <a:srgbClr val="6E7A80"/>
                </a:solidFill>
                <a:latin typeface="Arial"/>
                <a:ea typeface="Arial"/>
                <a:cs typeface="Arial"/>
                <a:sym typeface="Arial"/>
              </a:rPr>
              <a:t>Visible to the model</a:t>
            </a:r>
            <a:endParaRPr sz="1100"/>
          </a:p>
        </p:txBody>
      </p:sp>
      <p:sp>
        <p:nvSpPr>
          <p:cNvPr id="352" name="Google Shape;352;p24"/>
          <p:cNvSpPr/>
          <p:nvPr/>
        </p:nvSpPr>
        <p:spPr>
          <a:xfrm>
            <a:off x="5314950" y="2185988"/>
            <a:ext cx="2428875" cy="628650"/>
          </a:xfrm>
          <a:prstGeom prst="roundRect">
            <a:avLst>
              <a:gd fmla="val 7955" name="adj"/>
            </a:avLst>
          </a:prstGeom>
          <a:solidFill>
            <a:srgbClr val="F0E7D8"/>
          </a:solidFill>
          <a:ln cap="flat" cmpd="sng" w="11425">
            <a:solidFill>
              <a:srgbClr val="9668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3" name="Google Shape;353;p24"/>
          <p:cNvSpPr/>
          <p:nvPr/>
        </p:nvSpPr>
        <p:spPr>
          <a:xfrm>
            <a:off x="5414963" y="2278856"/>
            <a:ext cx="222885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6682A"/>
              </a:buClr>
              <a:buSzPts val="1600"/>
              <a:buFont typeface="Arial"/>
              <a:buNone/>
            </a:pPr>
            <a:r>
              <a:rPr b="1" lang="en" sz="1600">
                <a:solidFill>
                  <a:srgbClr val="96682A"/>
                </a:solidFill>
                <a:latin typeface="Arial"/>
                <a:ea typeface="Arial"/>
                <a:cs typeface="Arial"/>
                <a:sym typeface="Arial"/>
              </a:rPr>
              <a:t>WRITE</a:t>
            </a:r>
            <a:endParaRPr sz="1100"/>
          </a:p>
        </p:txBody>
      </p:sp>
      <p:sp>
        <p:nvSpPr>
          <p:cNvPr id="354" name="Google Shape;354;p24"/>
          <p:cNvSpPr/>
          <p:nvPr/>
        </p:nvSpPr>
        <p:spPr>
          <a:xfrm>
            <a:off x="5414963" y="2521744"/>
            <a:ext cx="2228850" cy="2428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1000"/>
              <a:buFont typeface="Arial"/>
              <a:buNone/>
            </a:pPr>
            <a:r>
              <a:rPr b="0" lang="en" sz="1000">
                <a:solidFill>
                  <a:srgbClr val="6E7A80"/>
                </a:solidFill>
                <a:latin typeface="Arial"/>
                <a:ea typeface="Arial"/>
                <a:cs typeface="Arial"/>
                <a:sym typeface="Arial"/>
              </a:rPr>
              <a:t>Hidden by default · HITL if enabled</a:t>
            </a:r>
            <a:endParaRPr sz="1100"/>
          </a:p>
        </p:txBody>
      </p:sp>
      <p:sp>
        <p:nvSpPr>
          <p:cNvPr id="355" name="Google Shape;355;p24"/>
          <p:cNvSpPr/>
          <p:nvPr/>
        </p:nvSpPr>
        <p:spPr>
          <a:xfrm>
            <a:off x="5314950" y="3014663"/>
            <a:ext cx="1571625" cy="628650"/>
          </a:xfrm>
          <a:prstGeom prst="roundRect">
            <a:avLst>
              <a:gd fmla="val 7955" name="adj"/>
            </a:avLst>
          </a:prstGeom>
          <a:solidFill>
            <a:srgbClr val="F2E1DF"/>
          </a:solidFill>
          <a:ln cap="flat" cmpd="sng" w="11425">
            <a:solidFill>
              <a:srgbClr val="9E3E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6" name="Google Shape;356;p24"/>
          <p:cNvSpPr/>
          <p:nvPr/>
        </p:nvSpPr>
        <p:spPr>
          <a:xfrm>
            <a:off x="5414963" y="3107531"/>
            <a:ext cx="137160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E3E36"/>
              </a:buClr>
              <a:buSzPts val="1600"/>
              <a:buFont typeface="Arial"/>
              <a:buNone/>
            </a:pPr>
            <a:r>
              <a:rPr b="1" lang="en" sz="1600">
                <a:solidFill>
                  <a:srgbClr val="9E3E36"/>
                </a:solidFill>
                <a:latin typeface="Arial"/>
                <a:ea typeface="Arial"/>
                <a:cs typeface="Arial"/>
                <a:sym typeface="Arial"/>
              </a:rPr>
              <a:t>SECRET</a:t>
            </a:r>
            <a:endParaRPr sz="1100"/>
          </a:p>
        </p:txBody>
      </p:sp>
      <p:sp>
        <p:nvSpPr>
          <p:cNvPr id="357" name="Google Shape;357;p24"/>
          <p:cNvSpPr/>
          <p:nvPr/>
        </p:nvSpPr>
        <p:spPr>
          <a:xfrm>
            <a:off x="5414963" y="3350419"/>
            <a:ext cx="1371600" cy="2428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1000"/>
              <a:buFont typeface="Arial"/>
              <a:buNone/>
            </a:pPr>
            <a:r>
              <a:rPr b="0" lang="en" sz="1000">
                <a:solidFill>
                  <a:srgbClr val="6E7A80"/>
                </a:solidFill>
                <a:latin typeface="Arial"/>
                <a:ea typeface="Arial"/>
                <a:cs typeface="Arial"/>
                <a:sym typeface="Arial"/>
              </a:rPr>
              <a:t>Never exposed</a:t>
            </a:r>
            <a:endParaRPr sz="1100"/>
          </a:p>
        </p:txBody>
      </p:sp>
      <p:cxnSp>
        <p:nvCxnSpPr>
          <p:cNvPr id="358" name="Google Shape;358;p24"/>
          <p:cNvCxnSpPr>
            <a:stCxn id="343" idx="3"/>
            <a:endCxn id="346" idx="1"/>
          </p:cNvCxnSpPr>
          <p:nvPr/>
        </p:nvCxnSpPr>
        <p:spPr>
          <a:xfrm>
            <a:off x="2085975" y="2014538"/>
            <a:ext cx="442800" cy="0"/>
          </a:xfrm>
          <a:prstGeom prst="straightConnector1">
            <a:avLst/>
          </a:prstGeom>
          <a:noFill/>
          <a:ln cap="flat" cmpd="sng" w="15225">
            <a:solidFill>
              <a:srgbClr val="444E54"/>
            </a:solidFill>
            <a:prstDash val="solid"/>
            <a:round/>
            <a:headEnd len="sm" w="sm" type="none"/>
            <a:tailEnd len="sm" w="sm" type="triangle"/>
          </a:ln>
        </p:spPr>
      </p:cxnSp>
      <p:cxnSp>
        <p:nvCxnSpPr>
          <p:cNvPr id="359" name="Google Shape;359;p24"/>
          <p:cNvCxnSpPr>
            <a:stCxn id="346" idx="3"/>
            <a:endCxn id="349" idx="1"/>
          </p:cNvCxnSpPr>
          <p:nvPr/>
        </p:nvCxnSpPr>
        <p:spPr>
          <a:xfrm flipH="1" rot="10800000">
            <a:off x="4529138" y="1671638"/>
            <a:ext cx="785700" cy="342900"/>
          </a:xfrm>
          <a:prstGeom prst="bentConnector3">
            <a:avLst>
              <a:gd fmla="val 49993" name="adj1"/>
            </a:avLst>
          </a:prstGeom>
          <a:noFill/>
          <a:ln cap="flat" cmpd="sng" w="13325">
            <a:solidFill>
              <a:srgbClr val="A9B3AC"/>
            </a:solidFill>
            <a:prstDash val="solid"/>
            <a:round/>
            <a:headEnd len="sm" w="sm" type="none"/>
            <a:tailEnd len="sm" w="sm" type="triangle"/>
          </a:ln>
        </p:spPr>
      </p:cxnSp>
      <p:cxnSp>
        <p:nvCxnSpPr>
          <p:cNvPr id="360" name="Google Shape;360;p24"/>
          <p:cNvCxnSpPr>
            <a:stCxn id="346" idx="3"/>
            <a:endCxn id="352" idx="1"/>
          </p:cNvCxnSpPr>
          <p:nvPr/>
        </p:nvCxnSpPr>
        <p:spPr>
          <a:xfrm>
            <a:off x="4529138" y="2014538"/>
            <a:ext cx="785700" cy="485700"/>
          </a:xfrm>
          <a:prstGeom prst="bentConnector3">
            <a:avLst>
              <a:gd fmla="val 49993" name="adj1"/>
            </a:avLst>
          </a:prstGeom>
          <a:noFill/>
          <a:ln cap="flat" cmpd="sng" w="13325">
            <a:solidFill>
              <a:srgbClr val="A9B3AC"/>
            </a:solidFill>
            <a:prstDash val="solid"/>
            <a:round/>
            <a:headEnd len="sm" w="sm" type="none"/>
            <a:tailEnd len="sm" w="sm" type="triangle"/>
          </a:ln>
        </p:spPr>
      </p:cxnSp>
      <p:cxnSp>
        <p:nvCxnSpPr>
          <p:cNvPr id="361" name="Google Shape;361;p24"/>
          <p:cNvCxnSpPr>
            <a:stCxn id="346" idx="3"/>
            <a:endCxn id="355" idx="1"/>
          </p:cNvCxnSpPr>
          <p:nvPr/>
        </p:nvCxnSpPr>
        <p:spPr>
          <a:xfrm>
            <a:off x="4529138" y="2014538"/>
            <a:ext cx="785700" cy="1314600"/>
          </a:xfrm>
          <a:prstGeom prst="bentConnector3">
            <a:avLst>
              <a:gd fmla="val 49993" name="adj1"/>
            </a:avLst>
          </a:prstGeom>
          <a:noFill/>
          <a:ln cap="flat" cmpd="sng" w="13325">
            <a:solidFill>
              <a:srgbClr val="A9B3AC"/>
            </a:solidFill>
            <a:prstDash val="solid"/>
            <a:round/>
            <a:headEnd len="sm" w="sm" type="none"/>
            <a:tailEnd len="sm" w="sm" type="triangle"/>
          </a:ln>
        </p:spPr>
      </p:cxnSp>
      <p:sp>
        <p:nvSpPr>
          <p:cNvPr id="362" name="Google Shape;362;p24"/>
          <p:cNvSpPr/>
          <p:nvPr/>
        </p:nvSpPr>
        <p:spPr>
          <a:xfrm>
            <a:off x="514350" y="3114675"/>
            <a:ext cx="857250"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DEMO</a:t>
            </a:r>
            <a:endParaRPr sz="1100"/>
          </a:p>
        </p:txBody>
      </p:sp>
      <p:sp>
        <p:nvSpPr>
          <p:cNvPr id="363" name="Google Shape;363;p24"/>
          <p:cNvSpPr/>
          <p:nvPr/>
        </p:nvSpPr>
        <p:spPr>
          <a:xfrm>
            <a:off x="512064" y="3401568"/>
            <a:ext cx="4754880"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Synthetic data · offline replay · InMemorySaver</a:t>
            </a:r>
            <a:endParaRPr sz="1100"/>
          </a:p>
        </p:txBody>
      </p:sp>
      <p:sp>
        <p:nvSpPr>
          <p:cNvPr id="364" name="Google Shape;364;p24"/>
          <p:cNvSpPr/>
          <p:nvPr/>
        </p:nvSpPr>
        <p:spPr>
          <a:xfrm>
            <a:off x="514350" y="3957638"/>
            <a:ext cx="1143000"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800"/>
              <a:buFont typeface="Roboto Mono"/>
              <a:buNone/>
            </a:pPr>
            <a:r>
              <a:rPr b="1" lang="en" sz="800">
                <a:solidFill>
                  <a:srgbClr val="35704A"/>
                </a:solidFill>
                <a:latin typeface="Roboto Mono"/>
                <a:ea typeface="Roboto Mono"/>
                <a:cs typeface="Roboto Mono"/>
                <a:sym typeface="Roboto Mono"/>
              </a:rPr>
              <a:t>PRODUCTION</a:t>
            </a:r>
            <a:endParaRPr sz="1100"/>
          </a:p>
        </p:txBody>
      </p:sp>
      <p:sp>
        <p:nvSpPr>
          <p:cNvPr id="365" name="Google Shape;365;p24"/>
          <p:cNvSpPr/>
          <p:nvPr/>
        </p:nvSpPr>
        <p:spPr>
          <a:xfrm>
            <a:off x="514350" y="4200525"/>
            <a:ext cx="8001000" cy="328613"/>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Durable checkpoint store · idempotency keys · tenant isolation · append-only audit</a:t>
            </a:r>
            <a:endParaRPr sz="1100"/>
          </a:p>
        </p:txBody>
      </p:sp>
      <p:sp>
        <p:nvSpPr>
          <p:cNvPr id="366" name="Google Shape;366;p24"/>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367" name="Google Shape;367;p24"/>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12</a:t>
            </a:r>
            <a:endParaRPr sz="1100"/>
          </a:p>
        </p:txBody>
      </p:sp>
      <p:sp>
        <p:nvSpPr>
          <p:cNvPr id="9031" name="concept-tag"/>
          <p:cNvSpPr/>
          <p:nvPr/>
        </p:nvSpPr>
        <p:spPr>
          <a:xfrm>
            <a:off x="4059936" y="310896"/>
            <a:ext cx="4572000" cy="173736"/>
          </a:xfrm>
          <a:prstGeom prst="rect">
            <a:avLst/>
          </a:prstGeom>
          <a:noFill/>
          <a:ln>
            <a:noFill/>
          </a:ln>
        </p:spPr>
        <p:txBody>
          <a:bodyPr anchorCtr="0" anchor="t" bIns="0" lIns="0" spcFirstLastPara="1" rIns="0" wrap="none" tIns="0">
            <a:noAutofit/>
          </a:bodyPr>
          <a:lstStyle/>
          <a:p>
            <a:pPr indent="0" lvl="0" marL="0" marR="0" rtl="0" algn="r">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interrupt_on  ·  LANGGRAPH INTERRUPTS  ·  checkpointer</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81C"/>
        </a:solidFill>
      </p:bgPr>
    </p:bg>
    <p:spTree>
      <p:nvGrpSpPr>
        <p:cNvPr id="372" name="Shape 372"/>
        <p:cNvGrpSpPr/>
        <p:nvPr/>
      </p:nvGrpSpPr>
      <p:grpSpPr>
        <a:xfrm>
          <a:off x="0" y="0"/>
          <a:ext cx="0" cy="0"/>
          <a:chOff x="0" y="0"/>
          <a:chExt cx="0" cy="0"/>
        </a:xfrm>
      </p:grpSpPr>
      <p:sp>
        <p:nvSpPr>
          <p:cNvPr id="373" name="Google Shape;373;p25"/>
          <p:cNvSpPr/>
          <p:nvPr/>
        </p:nvSpPr>
        <p:spPr>
          <a:xfrm>
            <a:off x="0" y="0"/>
            <a:ext cx="100013" cy="5143500"/>
          </a:xfrm>
          <a:prstGeom prst="rect">
            <a:avLst/>
          </a:prstGeom>
          <a:solidFill>
            <a:srgbClr val="24726A"/>
          </a:solidFill>
          <a:ln cap="flat" cmpd="sng" w="95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4" name="Google Shape;374;p25"/>
          <p:cNvSpPr/>
          <p:nvPr/>
        </p:nvSpPr>
        <p:spPr>
          <a:xfrm>
            <a:off x="600075" y="471488"/>
            <a:ext cx="542925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3B5A8"/>
              </a:buClr>
              <a:buSzPts val="800"/>
              <a:buFont typeface="Roboto Mono"/>
              <a:buNone/>
            </a:pPr>
            <a:r>
              <a:rPr b="1" lang="en" sz="800">
                <a:solidFill>
                  <a:srgbClr val="63B5A8"/>
                </a:solidFill>
                <a:latin typeface="Roboto Mono"/>
                <a:ea typeface="Roboto Mono"/>
                <a:cs typeface="Roboto Mono"/>
                <a:sym typeface="Roboto Mono"/>
              </a:rPr>
              <a:t>TWO PRACTICES SURVIVE EVERY FRAMEWORK CHOICE</a:t>
            </a:r>
            <a:endParaRPr sz="1100"/>
          </a:p>
        </p:txBody>
      </p:sp>
      <p:sp>
        <p:nvSpPr>
          <p:cNvPr id="375" name="Google Shape;375;p25"/>
          <p:cNvSpPr/>
          <p:nvPr/>
        </p:nvSpPr>
        <p:spPr>
          <a:xfrm>
            <a:off x="600075" y="1071563"/>
            <a:ext cx="500063" cy="4429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3B5A8"/>
              </a:buClr>
              <a:buSzPts val="2900"/>
              <a:buFont typeface="Roboto Mono"/>
              <a:buNone/>
            </a:pPr>
            <a:r>
              <a:rPr b="1" lang="en" sz="2900">
                <a:solidFill>
                  <a:srgbClr val="63B5A8"/>
                </a:solidFill>
                <a:latin typeface="Roboto Mono"/>
                <a:ea typeface="Roboto Mono"/>
                <a:cs typeface="Roboto Mono"/>
                <a:sym typeface="Roboto Mono"/>
              </a:rPr>
              <a:t>1</a:t>
            </a:r>
            <a:endParaRPr sz="1100"/>
          </a:p>
        </p:txBody>
      </p:sp>
      <p:sp>
        <p:nvSpPr>
          <p:cNvPr id="376" name="Google Shape;376;p25"/>
          <p:cNvSpPr/>
          <p:nvPr/>
        </p:nvSpPr>
        <p:spPr>
          <a:xfrm>
            <a:off x="1285875" y="1057275"/>
            <a:ext cx="7000875" cy="4429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Arial"/>
              <a:buNone/>
            </a:pPr>
            <a:r>
              <a:rPr b="1" lang="en" sz="2400">
                <a:solidFill>
                  <a:srgbClr val="FFFFFF"/>
                </a:solidFill>
                <a:latin typeface="Arial"/>
                <a:ea typeface="Arial"/>
                <a:cs typeface="Arial"/>
                <a:sym typeface="Arial"/>
              </a:rPr>
              <a:t>Record evidence at the moment it arrives.</a:t>
            </a:r>
            <a:endParaRPr sz="1100"/>
          </a:p>
        </p:txBody>
      </p:sp>
      <p:sp>
        <p:nvSpPr>
          <p:cNvPr id="377" name="Google Shape;377;p25"/>
          <p:cNvSpPr/>
          <p:nvPr/>
        </p:nvSpPr>
        <p:spPr>
          <a:xfrm>
            <a:off x="1285875" y="1571625"/>
            <a:ext cx="6429375" cy="47148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AEB9B7"/>
              </a:buClr>
              <a:buSzPts val="1300"/>
              <a:buFont typeface="Arial"/>
              <a:buNone/>
            </a:pPr>
            <a:r>
              <a:rPr b="0" lang="en" sz="1300">
                <a:solidFill>
                  <a:srgbClr val="AEB9B7"/>
                </a:solidFill>
                <a:latin typeface="Arial"/>
                <a:ea typeface="Arial"/>
                <a:cs typeface="Arial"/>
                <a:sym typeface="Arial"/>
              </a:rPr>
              <a:t>Middleware makes the audit trail the default, not an optional habit in every tool.</a:t>
            </a:r>
            <a:endParaRPr sz="1100"/>
          </a:p>
        </p:txBody>
      </p:sp>
      <p:cxnSp>
        <p:nvCxnSpPr>
          <p:cNvPr id="378" name="Google Shape;378;p25"/>
          <p:cNvCxnSpPr/>
          <p:nvPr/>
        </p:nvCxnSpPr>
        <p:spPr>
          <a:xfrm>
            <a:off x="600075" y="2371725"/>
            <a:ext cx="7929563" cy="0"/>
          </a:xfrm>
          <a:prstGeom prst="straightConnector1">
            <a:avLst/>
          </a:prstGeom>
          <a:noFill/>
          <a:ln cap="flat" cmpd="sng" w="13325">
            <a:solidFill>
              <a:srgbClr val="3D4A50"/>
            </a:solidFill>
            <a:prstDash val="solid"/>
            <a:round/>
            <a:headEnd len="sm" w="sm" type="none"/>
            <a:tailEnd len="sm" w="sm" type="none"/>
          </a:ln>
        </p:spPr>
      </p:cxnSp>
      <p:sp>
        <p:nvSpPr>
          <p:cNvPr id="379" name="Google Shape;379;p25"/>
          <p:cNvSpPr/>
          <p:nvPr/>
        </p:nvSpPr>
        <p:spPr>
          <a:xfrm>
            <a:off x="600075" y="2743200"/>
            <a:ext cx="500063" cy="4429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3B5A8"/>
              </a:buClr>
              <a:buSzPts val="2900"/>
              <a:buFont typeface="Roboto Mono"/>
              <a:buNone/>
            </a:pPr>
            <a:r>
              <a:rPr b="1" lang="en" sz="2900">
                <a:solidFill>
                  <a:srgbClr val="63B5A8"/>
                </a:solidFill>
                <a:latin typeface="Roboto Mono"/>
                <a:ea typeface="Roboto Mono"/>
                <a:cs typeface="Roboto Mono"/>
                <a:sym typeface="Roboto Mono"/>
              </a:rPr>
              <a:t>2</a:t>
            </a:r>
            <a:endParaRPr sz="1100"/>
          </a:p>
        </p:txBody>
      </p:sp>
      <p:sp>
        <p:nvSpPr>
          <p:cNvPr id="380" name="Google Shape;380;p25"/>
          <p:cNvSpPr/>
          <p:nvPr/>
        </p:nvSpPr>
        <p:spPr>
          <a:xfrm>
            <a:off x="1285875" y="2728913"/>
            <a:ext cx="7000875" cy="4429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Arial"/>
              <a:buNone/>
            </a:pPr>
            <a:r>
              <a:rPr b="1" lang="en" sz="2400">
                <a:solidFill>
                  <a:srgbClr val="FFFFFF"/>
                </a:solidFill>
                <a:latin typeface="Arial"/>
                <a:ea typeface="Arial"/>
                <a:cs typeface="Arial"/>
                <a:sym typeface="Arial"/>
              </a:rPr>
              <a:t>Measure the judge before you trust it.</a:t>
            </a:r>
            <a:endParaRPr sz="1100"/>
          </a:p>
        </p:txBody>
      </p:sp>
      <p:sp>
        <p:nvSpPr>
          <p:cNvPr id="381" name="Google Shape;381;p25"/>
          <p:cNvSpPr/>
          <p:nvPr/>
        </p:nvSpPr>
        <p:spPr>
          <a:xfrm>
            <a:off x="1285875" y="3243263"/>
            <a:ext cx="6429375" cy="47148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AEB9B7"/>
              </a:buClr>
              <a:buSzPts val="1300"/>
              <a:buFont typeface="Arial"/>
              <a:buNone/>
            </a:pPr>
            <a:r>
              <a:rPr b="0" lang="en" sz="1300">
                <a:solidFill>
                  <a:srgbClr val="AEB9B7"/>
                </a:solidFill>
                <a:latin typeface="Arial"/>
                <a:ea typeface="Arial"/>
                <a:cs typeface="Arial"/>
                <a:sym typeface="Arial"/>
              </a:rPr>
              <a:t>A score is only useful when you understand the evaluator’s own error distribution.</a:t>
            </a:r>
            <a:endParaRPr sz="1100"/>
          </a:p>
        </p:txBody>
      </p:sp>
      <p:sp>
        <p:nvSpPr>
          <p:cNvPr id="382" name="Google Shape;382;p25"/>
          <p:cNvSpPr/>
          <p:nvPr/>
        </p:nvSpPr>
        <p:spPr>
          <a:xfrm>
            <a:off x="600075" y="4400550"/>
            <a:ext cx="7929563" cy="1714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3B5A8"/>
              </a:buClr>
              <a:buSzPts val="900"/>
              <a:buFont typeface="Roboto Mono"/>
              <a:buNone/>
            </a:pPr>
            <a:r>
              <a:rPr b="1" lang="en" sz="900">
                <a:solidFill>
                  <a:srgbClr val="63B5A8"/>
                </a:solidFill>
                <a:latin typeface="Roboto Mono"/>
                <a:ea typeface="Roboto Mono"/>
                <a:cs typeface="Roboto Mono"/>
                <a:sym typeface="Roboto Mono"/>
              </a:rPr>
              <a:t>AGENT FUNDAMENTALS  →  TRUSTWORTHY AGENTS  →  DEPLOYMENT + ONLINE EVALS</a:t>
            </a:r>
            <a:endParaRPr sz="1100"/>
          </a:p>
        </p:txBody>
      </p:sp>
      <p:sp>
        <p:nvSpPr>
          <p:cNvPr id="383" name="Google Shape;383;p25"/>
          <p:cNvSpPr/>
          <p:nvPr/>
        </p:nvSpPr>
        <p:spPr>
          <a:xfrm>
            <a:off x="8001000" y="471488"/>
            <a:ext cx="528638" cy="17145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Roboto Mono"/>
              <a:buNone/>
            </a:pPr>
            <a:r>
              <a:rPr b="1" lang="en" sz="900">
                <a:solidFill>
                  <a:srgbClr val="FFFFFF"/>
                </a:solidFill>
                <a:latin typeface="Roboto Mono"/>
                <a:ea typeface="Roboto Mono"/>
                <a:cs typeface="Roboto Mono"/>
                <a:sym typeface="Roboto Mono"/>
              </a:rPr>
              <a:t>Q&amp;A</a:t>
            </a:r>
            <a:endParaRPr sz="1100"/>
          </a:p>
        </p:txBody>
      </p:sp>
      <p:sp>
        <p:nvSpPr>
          <p:cNvPr id="9014" name="closing-line"/>
          <p:cNvSpPr/>
          <p:nvPr/>
        </p:nvSpPr>
        <p:spPr>
          <a:xfrm>
            <a:off x="1289304" y="3950208"/>
            <a:ext cx="7004304" cy="2743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AEB9B7"/>
              </a:buClr>
              <a:buSzPts val="1300"/>
              <a:buFont typeface="Arial"/>
              <a:buNone/>
            </a:pPr>
            <a:r>
              <a:rPr b="0" lang="en" sz="1300">
                <a:solidFill>
                  <a:srgbClr val="E4E9E6"/>
                </a:solidFill>
                <a:latin typeface="Arial"/>
                <a:ea typeface="Arial"/>
                <a:cs typeface="Arial"/>
                <a:sym typeface="Arial"/>
              </a:rPr>
              <a:t>Both are why the customer's reviewer checks 2 flagged claims instead of re-deriving 142.</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Trust but Verify">
      <a:dk1>
        <a:srgbClr val="14181C"/>
      </a:dk1>
      <a:lt1>
        <a:srgbClr val="FFFFFF"/>
      </a:lt1>
      <a:dk2>
        <a:srgbClr val="444E54"/>
      </a:dk2>
      <a:lt2>
        <a:srgbClr val="E7EAE4"/>
      </a:lt2>
      <a:accent1>
        <a:srgbClr val="24726A"/>
      </a:accent1>
      <a:accent2>
        <a:srgbClr val="35704A"/>
      </a:accent2>
      <a:accent3>
        <a:srgbClr val="96682A"/>
      </a:accent3>
      <a:accent4>
        <a:srgbClr val="9E3E36"/>
      </a:accent4>
      <a:accent5>
        <a:srgbClr val="444E54"/>
      </a:accent5>
      <a:accent6>
        <a:srgbClr val="A9B3AC"/>
      </a:accent6>
      <a:hlink>
        <a:srgbClr val="24726A"/>
      </a:hlink>
      <a:folHlink>
        <a:srgbClr val="3570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